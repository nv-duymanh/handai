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fonts/font4.dat" ContentType="application/x-fontdata"/>
  <Override PartName="/ppt/fonts/font5.dat" ContentType="application/x-fontdata"/>
  <Override PartName="/ppt/fonts/font6.dat" ContentType="application/x-fontdata"/>
  <Override PartName="/ppt/fonts/font7.dat" ContentType="application/x-fontdata"/>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3d96c0b12f14495d" Type="http://schemas.openxmlformats.org/officeDocument/2006/relationships/extended-properties" Target="docProps/app.xml"/><Relationship Id="R53a613f909474515" Type="http://schemas.openxmlformats.org/package/2006/relationships/metadata/core-properties" Target="docProps/core.xml"/><Relationship Id="R7b3bbae4332d417c" Type="http://schemas.openxmlformats.org/officeDocument/2006/relationships/officeDocument" Target="ppt/presentation.xml"/></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112ef88d5b5844c5"/>
  </p:sldMasterIdLst>
  <p:notesMasterIdLst>
    <p:notesMasterId xmlns:r="http://schemas.openxmlformats.org/officeDocument/2006/relationships" r:id="R162bc624b3754a0a"/>
  </p:notesMasterIdLst>
  <p:sldIdLst>
    <p:sldId xmlns:r="http://schemas.openxmlformats.org/officeDocument/2006/relationships" id="256" r:id="R4d57e15db6204055"/>
    <p:sldId xmlns:r="http://schemas.openxmlformats.org/officeDocument/2006/relationships" id="257" r:id="Rf013dfaed15349fe"/>
    <p:sldId xmlns:r="http://schemas.openxmlformats.org/officeDocument/2006/relationships" id="258" r:id="R97d383099d2a4bca"/>
    <p:sldId xmlns:r="http://schemas.openxmlformats.org/officeDocument/2006/relationships" id="259" r:id="R166386e1757b4104"/>
    <p:sldId xmlns:r="http://schemas.openxmlformats.org/officeDocument/2006/relationships" id="260" r:id="R15efce823a6f4bad"/>
    <p:sldId xmlns:r="http://schemas.openxmlformats.org/officeDocument/2006/relationships" id="262" r:id="Ra32389e92bb5410e"/>
    <p:sldId xmlns:r="http://schemas.openxmlformats.org/officeDocument/2006/relationships" id="263" r:id="R138b3a4fcde34a35"/>
    <p:sldId xmlns:r="http://schemas.openxmlformats.org/officeDocument/2006/relationships" id="264" r:id="R967b4b83c13b44a4"/>
    <p:sldId xmlns:r="http://schemas.openxmlformats.org/officeDocument/2006/relationships" id="266" r:id="R099621e443c54b58"/>
    <p:sldId xmlns:r="http://schemas.openxmlformats.org/officeDocument/2006/relationships" id="267" r:id="R1c0861c96d56444d"/>
    <p:sldId xmlns:r="http://schemas.openxmlformats.org/officeDocument/2006/relationships" id="269" r:id="R28b3ba7f4ce0432e"/>
    <p:sldId xmlns:r="http://schemas.openxmlformats.org/officeDocument/2006/relationships" id="270" r:id="R19b514f9ca274474"/>
    <p:sldId xmlns:r="http://schemas.openxmlformats.org/officeDocument/2006/relationships" id="271" r:id="R9fa8247c6610411f"/>
    <p:sldId xmlns:r="http://schemas.openxmlformats.org/officeDocument/2006/relationships" id="272" r:id="R4f9b214752f245e8"/>
    <p:sldId xmlns:r="http://schemas.openxmlformats.org/officeDocument/2006/relationships" id="273" r:id="Ra8554da32e414056"/>
    <p:sldId xmlns:r="http://schemas.openxmlformats.org/officeDocument/2006/relationships" id="274" r:id="R2cec8023662e401a"/>
    <p:sldId xmlns:r="http://schemas.openxmlformats.org/officeDocument/2006/relationships" id="276" r:id="Ra6cee69e229e480f"/>
    <p:sldId xmlns:r="http://schemas.openxmlformats.org/officeDocument/2006/relationships" id="277" r:id="Rafed746e47f2422a"/>
    <p:sldId xmlns:r="http://schemas.openxmlformats.org/officeDocument/2006/relationships" id="279" r:id="R7e99dcdb4f784335"/>
    <p:sldId xmlns:r="http://schemas.openxmlformats.org/officeDocument/2006/relationships" id="280" r:id="Rdd0c85b956264ef4"/>
  </p:sldIdLst>
  <p:sldSz cx="9902825" cy="6858000"/>
  <p:notesSz cx="6858000" cy="9144000"/>
  <p:embeddedFontLst>
    <p:embeddedFont>
      <p:font typeface="Malgun Gothic"/>
      <p:regular xmlns:r="http://schemas.openxmlformats.org/officeDocument/2006/relationships" r:id="R4b40ef43f77e457a"/>
      <p:bold xmlns:r="http://schemas.openxmlformats.org/officeDocument/2006/relationships" r:id="R683f25d812574845"/>
    </p:embeddedFont>
    <p:embeddedFont>
      <p:font typeface="Malgun Gothic"/>
      <p:regular xmlns:r="http://schemas.openxmlformats.org/officeDocument/2006/relationships" r:id="R24d17e50792c44dd"/>
      <p:bold xmlns:r="http://schemas.openxmlformats.org/officeDocument/2006/relationships" r:id="Radf70d897a5c45f5"/>
    </p:embeddedFont>
    <p:embeddedFont>
      <p:font typeface="Samsung Sharp Sans"/>
      <p:bold xmlns:r="http://schemas.openxmlformats.org/officeDocument/2006/relationships" r:id="R32b597cf50a64c1d"/>
    </p:embeddedFont>
    <p:embeddedFont>
      <p:font typeface="SamsungOne 400"/>
      <p:regular xmlns:r="http://schemas.openxmlformats.org/officeDocument/2006/relationships" r:id="R9f014494ba024b20"/>
    </p:embeddedFont>
    <p:embeddedFont>
      <p:font typeface="SamsungOne 400C"/>
      <p:regular xmlns:r="http://schemas.openxmlformats.org/officeDocument/2006/relationships" r:id="R651d4f73106449c3"/>
    </p:embeddedFont>
  </p:embeddedFontLst>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99621e443c54b58" Type="http://schemas.openxmlformats.org/officeDocument/2006/relationships/slide" Target="slides/slide9.xml"/><Relationship Id="R112ef88d5b5844c5" Type="http://schemas.openxmlformats.org/officeDocument/2006/relationships/slideMaster" Target="slideMasters/slideMaster1.xml"/><Relationship Id="R138b3a4fcde34a35" Type="http://schemas.openxmlformats.org/officeDocument/2006/relationships/slide" Target="slides/slide7.xml"/><Relationship Id="R15efce823a6f4bad" Type="http://schemas.openxmlformats.org/officeDocument/2006/relationships/slide" Target="slides/slide5.xml"/><Relationship Id="R162bc624b3754a0a" Type="http://schemas.openxmlformats.org/officeDocument/2006/relationships/notesMaster" Target="notesMasters/notesMaster1.xml"/><Relationship Id="R166386e1757b4104" Type="http://schemas.openxmlformats.org/officeDocument/2006/relationships/slide" Target="slides/slide4.xml"/><Relationship Id="R19b514f9ca274474" Type="http://schemas.openxmlformats.org/officeDocument/2006/relationships/slide" Target="slides/slide12.xml"/><Relationship Id="R1c0861c96d56444d" Type="http://schemas.openxmlformats.org/officeDocument/2006/relationships/slide" Target="slides/slide10.xml"/><Relationship Id="R24d17e50792c44dd" Type="http://schemas.openxmlformats.org/officeDocument/2006/relationships/font" Target="fonts/font3.dat"/><Relationship Id="R28b3ba7f4ce0432e" Type="http://schemas.openxmlformats.org/officeDocument/2006/relationships/slide" Target="slides/slide11.xml"/><Relationship Id="R2cec8023662e401a" Type="http://schemas.openxmlformats.org/officeDocument/2006/relationships/slide" Target="slides/slide16.xml"/><Relationship Id="R32b597cf50a64c1d" Type="http://schemas.openxmlformats.org/officeDocument/2006/relationships/font" Target="fonts/font5.dat"/><Relationship Id="R4b40ef43f77e457a" Type="http://schemas.openxmlformats.org/officeDocument/2006/relationships/font" Target="fonts/font.dat"/><Relationship Id="R4d57e15db6204055" Type="http://schemas.openxmlformats.org/officeDocument/2006/relationships/slide" Target="slides/slide1.xml"/><Relationship Id="R4f9b214752f245e8" Type="http://schemas.openxmlformats.org/officeDocument/2006/relationships/slide" Target="slides/slide14.xml"/><Relationship Id="R651d4f73106449c3" Type="http://schemas.openxmlformats.org/officeDocument/2006/relationships/font" Target="fonts/font7.dat"/><Relationship Id="R683f25d812574845" Type="http://schemas.openxmlformats.org/officeDocument/2006/relationships/font" Target="fonts/font2.dat"/><Relationship Id="R7e99dcdb4f784335" Type="http://schemas.openxmlformats.org/officeDocument/2006/relationships/slide" Target="slides/slide19.xml"/><Relationship Id="R967b4b83c13b44a4" Type="http://schemas.openxmlformats.org/officeDocument/2006/relationships/slide" Target="slides/slide8.xml"/><Relationship Id="R97d383099d2a4bca" Type="http://schemas.openxmlformats.org/officeDocument/2006/relationships/slide" Target="slides/slide3.xml"/><Relationship Id="R9f014494ba024b20" Type="http://schemas.openxmlformats.org/officeDocument/2006/relationships/font" Target="fonts/font6.dat"/><Relationship Id="R9fa8247c6610411f" Type="http://schemas.openxmlformats.org/officeDocument/2006/relationships/slide" Target="slides/slide13.xml"/><Relationship Id="Ra32389e92bb5410e" Type="http://schemas.openxmlformats.org/officeDocument/2006/relationships/slide" Target="slides/slide6.xml"/><Relationship Id="Ra6cee69e229e480f" Type="http://schemas.openxmlformats.org/officeDocument/2006/relationships/slide" Target="slides/slide17.xml"/><Relationship Id="Ra8554da32e414056" Type="http://schemas.openxmlformats.org/officeDocument/2006/relationships/slide" Target="slides/slide15.xml"/><Relationship Id="Radf70d897a5c45f5" Type="http://schemas.openxmlformats.org/officeDocument/2006/relationships/font" Target="fonts/font4.dat"/><Relationship Id="Rafed746e47f2422a" Type="http://schemas.openxmlformats.org/officeDocument/2006/relationships/slide" Target="slides/slide18.xml"/><Relationship Id="Rbf2f2e5c9d3643db" Type="http://schemas.openxmlformats.org/officeDocument/2006/relationships/theme" Target="theme/theme1.xml"/><Relationship Id="Rcca9456c149643df" Type="http://schemas.openxmlformats.org/officeDocument/2006/relationships/tableStyles" Target="tableStyles.xml"/><Relationship Id="Rdd0c85b956264ef4" Type="http://schemas.openxmlformats.org/officeDocument/2006/relationships/slide" Target="slides/slide20.xml"/><Relationship Id="Re7bce11202b7434e" Type="http://schemas.openxmlformats.org/officeDocument/2006/relationships/viewProps" Target="viewProps.xml"/><Relationship Id="Rf013dfaed15349fe" Type="http://schemas.openxmlformats.org/officeDocument/2006/relationships/slide" Target="slides/slide2.xml"/><Relationship Id="Rfb614a6f5fd94c3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3e42c77876d74fe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6fb1435590e4dc2" Type="http://schemas.openxmlformats.org/officeDocument/2006/relationships/notesMaster" Target="../notesMasters/notesMaster1.xml"/><Relationship Id="R88a376531edd446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f46f966ebb5d4bb1" Type="http://schemas.openxmlformats.org/officeDocument/2006/relationships/slide" Target="../slides/slide2.xml"/><Relationship Id="Rf7300ae44c9c4ef7"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c55fe4b63d58494c" Type="http://schemas.openxmlformats.org/officeDocument/2006/relationships/slide" Target="../slides/slide3.xml"/><Relationship Id="Rf913470e03744a0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3b5ce35182874300" Type="http://schemas.openxmlformats.org/officeDocument/2006/relationships/slide" Target="../slides/slide4.xml"/><Relationship Id="Re04485d1fb134d5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ef50e5edd9441ce" Type="http://schemas.openxmlformats.org/officeDocument/2006/relationships/notesMaster" Target="../notesMasters/notesMaster1.xml"/><Relationship Id="Rc782301adf7f457d"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70ceadf576724a27" Type="http://schemas.openxmlformats.org/officeDocument/2006/relationships/notesMaster" Target="../notesMasters/notesMaster1.xml"/><Relationship Id="Ra65358632c9146a4"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885d77ab28aa42f5" Type="http://schemas.openxmlformats.org/officeDocument/2006/relationships/notesMaster" Target="../notesMasters/notesMaster1.xml"/><Relationship Id="Rdb221ec2e83e4434"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1cd31d70977741b3" Type="http://schemas.openxmlformats.org/officeDocument/2006/relationships/slide" Target="../slides/slide8.xml"/><Relationship Id="R9751ddbea10d42df"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500ad8fd26d4a1d" Type="http://schemas.openxmlformats.org/officeDocument/2006/relationships/slide" Target="../slides/slide9.xml"/><Relationship Id="R157f09c6a9df451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0bfa84ded1a429a" Type="http://schemas.openxmlformats.org/officeDocument/2006/relationships/slide" Target="../slides/slide10.xml"/><Relationship Id="Rc990e0adbd3d483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53be1bb72b8402a" Type="http://schemas.openxmlformats.org/officeDocument/2006/relationships/slide" Target="../slides/slide11.xml"/><Relationship Id="Rf9da70ea62cf40e0"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7d848ade2d74838" Type="http://schemas.openxmlformats.org/officeDocument/2006/relationships/notesMaster" Target="../notesMasters/notesMaster1.xml"/><Relationship Id="R0a0411ad4f7a4cd0"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74e6bd8f66fc44f9" Type="http://schemas.openxmlformats.org/officeDocument/2006/relationships/slide" Target="../slides/slide13.xml"/><Relationship Id="Rd98ff0ebd6ba417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08e48877cd14de7" Type="http://schemas.openxmlformats.org/officeDocument/2006/relationships/slide" Target="../slides/slide14.xml"/><Relationship Id="Rb3307ca635ca4877"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a9ca2a3be5742fd" Type="http://schemas.openxmlformats.org/officeDocument/2006/relationships/slide" Target="../slides/slide15.xml"/><Relationship Id="Rb0a8c7b6d70a42b6"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cdbed4c948945a8" Type="http://schemas.openxmlformats.org/officeDocument/2006/relationships/slide" Target="../slides/slide16.xml"/><Relationship Id="Rd4c226ecee0f4349"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58f60cf4319648be" Type="http://schemas.openxmlformats.org/officeDocument/2006/relationships/slide" Target="../slides/slide17.xml"/><Relationship Id="R81ee22d5aa4d4ad5"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5e01c7794f87423c" Type="http://schemas.openxmlformats.org/officeDocument/2006/relationships/notesMaster" Target="../notesMasters/notesMaster1.xml"/><Relationship Id="R6f64abe695a2415d"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6bfb31b56afa4706" Type="http://schemas.openxmlformats.org/officeDocument/2006/relationships/slide" Target="../slides/slide19.xml"/><Relationship Id="R972bf1c952e44f50"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6c5d8edb43574cf1" Type="http://schemas.openxmlformats.org/officeDocument/2006/relationships/slide" Target="../slides/slide20.xml"/><Relationship Id="R7f2eabb266b249a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quý thầy cô và hội đồng. Chúng em là Nguyễn Văn Duy Mạnh và Trần Hoài Nam. Trong khóa học Big Data của Samsung Innovation Campus, nhóm triển khai HandAI — hệ thống nhận diện chữ viết tay tiếng Việt theo từng dòng. Dự án nối dữ liệu ảnh, quá trình xử lý, lưu trữ và phân tích với một luồng xác minh do người dùng kiểm soát.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của chúng em gồm bốn phần. Thứ nhất là bài toán và đóng góp. Thứ hai là cách hệ thống được hiện thực. Thứ ba là bằng chứng và kết quả có thể truy vết. Cuối cùng là mức sẵn sàng, các giới hạn và bước phát triển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viết tay tiếng Việt khó vì dấu thanh và dấu phụ nhỏ, nét chữ nối nhau, đường kẻ vở và ánh sáng có thể làm sai kết quả. Vì thế, HandAI cho người dùng nhìn lại vùng dòng và văn bản được lưu. Hệ thống giữ riêng ảnh gốc, raw OCR, gợi ý thực tế nếu có và lựa chọn cuối để kiểm tra lại.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của dự án gồm chụp hoặc tải ảnh, xem và điều chỉnh vùng dòng, nhận diện bằng CRNN kết hợp CTC, xem phản hồi advisor, rồi lưu kết quả và lịch sử. Đóng góp là một luồng ứng dụng có nguồn dữ liệu rõ ràng. Nhóm gồm Nguyễn Văn Duy Mạnh và Trần Hoài Nam. Một ảnh demo chỉ là nghiên cứu tình huống, không đủ chứng minh độ chính xác tổng quát.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 hoạch chia 30 ngày từ ngày 1 đến ngày 30 tháng 9 năm 2026. Ngày 1 đến 5 xác định phạm vi và kiểm tra bằng chứng. Ngày 6 đến 12 làm dữ liệu và vùng dòng. Ngày 13 đến 20 tích hợp nhận diện và advisor. Ngày 21 đến 26 nối app, backend, xác minh và lịch sử. Bốn ngày cuối dành cho đánh giá và kiểm tra tài liệu. Đây là lịch kế hoạch được tái lập thống nhất với WBS và Action Plan, không phải chứng cứ nhật ký công việc từng ngày.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trái là ảnh đầu vào thật đã được app lưu trong MinIO, với SHA-256 khớp bản xuất. Bên phải là ảnh chụp giao diện web của app trong lần chạy ngày 2 tháng 10, với đủ 12 vùng dòng. Nhóm chỉ cắt phần quan trọng của màn hình thật, không vẽ lại hộp dòng và không dùng ảnh sinh bởi AI. Đây là bước review của app, nơi người dùng vẫn có thể chỉnh vùng trước khi nhận diện.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nhận ảnh và cho người dùng review dòng. Spring backend quản lý phiên nhận diện và lời gọi advisor. Python service phát hiện dòng rồi nhận diện bằng CRNN kết hợp CTC. PostgreSQL lưu metadata, còn MinIO lưu ảnh và crop. Phần analytics tính từ tham chiếu rõ ràng và giữ nguồn của điểm OCR. Một phản hồi AI chỉ được ghi nhận khi nhà cung cấp thực sự trả về.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Ở dòng đầu tiên, app lưu raw OCR là “Emyêu mua hệ”. Groq thực sự trả về gợi ý “Em yêu mùa hè”, cùng model qwen/qwen3.8-27b và trạng thái SUCCESS. Ảnh chụp giữ nguyên raw OCR, gợi ý và lựa chọn đang dùng OCR. Điểm OCR được lưu là 83,31 phần trăm và giao diện làm tròn thành 83. Điểm đó chưa được hiệu chuẩn thành xác suất cả dòng đúng. Tham chiếu là bản chép từ ảnh, được nhập sau khi nhận diện.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này giữ nguyên tất cả 12 đầu ra raw OCR và 12 gợi ý thật từ Groq trong cùng phiên app. AI sửa đúng các dòng 1, 3, 4 và 9. Tuy nhiên, nó lại làm sai các dòng 6, 7 và 10 vốn đã đúng ở raw OCR. Ví dụ “Trong chiều nắng xế” thành “Trong chiếu nắng xế”, và “Ve ngân ra rả” thành “Ve ngan ra rả”. Nhóm trình bày nguyên cả lỗi và cải thiện, thay vì chỉ chọn những ví dụ tốt.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Manifest mô hình ghi 59.462 mẫu huấn luyện và 500 mẫu validation. Ngoài ra có 510 ứng viên dữ liệu local còn chờ review. Đây là các tập dữ liệu với phạm vi riêng. Ảnh bài thơ 12 dòng được dùng để kiểm tra luồng app và không thay thế bộ đánh giá mô hình. Nhóm trình bày rõ mẫu số để tránh gộp dữ liệu huấn luyện, validation và phiên ứng dụng thành một con số.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Manifest bàn giao ghi CER validation 11,3388 phần trăm trên 500 mẫu, ở checkpoint bước 16.900 với loss 0,4518. Lần tái đánh giá cùng bước ghi CER training subset 8,66182 và validation 11,19701 phần trăm, chênh 2,5352 điểm phần trăm. Mô hình có 5.962.560 tham số, 320 lớp, nhận ảnh RGB 64 nhân 1024 và giải mã greedy CTC. Đây là phép đo lịch sử riêng, không gộp vào phiên app mới. Nhóm không huấn luyện lại trong lần sửa tài liệu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báo cáo trên giao diện thật của app, từ một ảnh, một phiên nhận diện và 12 dòng tham chiếu. Raw OCR đúng 6 trên 12 dòng, tức 50 phần trăm. Sau khi chấm các gợi ý thực tế từ Groq trên cùng 12 dòng, có 7 dòng đúng, tức 58,33 phần trăm. Mức tăng là 8,33 điểm phần trăm. Groq có 12 phản hồi SUCCESS, còn Gemini không sẵn sàng trong lần đo. Đây là ca kiểm tra phát triển trên một ảnh, không phải một benchmark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Quá trình hiện tại bắt đầu bằng raw CRNN và phản hồi advisor thực tế. Người dùng có thể giữ OCR, chọn gợi ý hoặc sửa tay. Lịch sử lưu ảnh, toàn bộ dòng, nguồn của lựa chọn và tham chiếu nếu được cung cấp. Một lần sửa tay không khiến mô hình tự huấn luyện lại. Việc cập nhật mô hình phải đi qua dữ liệu được phép sử dụng và đánh giá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cột dùng cùng 12 bản chép tham chiếu được nhập qua chức năng Reference của app sau khi inference hoàn tất. Cột raw OCR đạt 6 trên 12, còn cột Groq thật đạt 7 trên 12. CER giảm từ 8 lỗi trên 194 ký tự xuống 5 lỗi trên 194 ký tự. WER giảm từ 9 lỗi trên 48 từ xuống 5 lỗi trên 48 từ. AI sửa đúng bốn dòng và làm sai thêm ba dòng, nên mức tăng tổng là 8,33 điểm phần trăm. Cột AI dùng gợi ý thực tế, không dùng kết quả sửa tay hay lựa chọn cuối. Tham chiếu chưa được người thật độc lập xác minh.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Lịch sử nằm ở trang riêng. Người dùng có thể chọn các lần nhận diện để xóa, hoặc xóa toàn bộ sau khi xác nhận. Khi mở một bản ghi, app hiện ảnh đầu vào và toàn bộ 12 dòng đã lưu, gồm raw OCR, phản hồi AI thực tế và kết quả đang được chọn cùng nguồn. Những phần cũ thiếu ảnh hoặc kết quả được dọn theo quy tắc, và dữ liệu thiếu không được dựng lại. Báo cáo tổng cập nhật từ những bản ghi còn lại.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Dòng bốn trong phiên app mới có điểm OCR 97,55 phần trăm, được giao diện làm tròn thành 97,6, nhưng vẫn nhận “rinh” thành “ring”. Groq gợi ý đúng “Rung rinh bướm lượn.” và tự báo điểm 95 phần trăm. Hai điểm này đều chưa được hiệu chuẩn thành xác suất cả dòng đúng. Điểm OCR là trung bình xác suất softmax cao nhất của các ký tự được xuất sau CTC, với nguồn CRNN_CTC_SOFTMAX; điểm AI do provider tự báo. Trên 12 dòng, điểm OCR trung bình là 94,1808 phần trăm, trong khi exact-match accuracy của raw OCR chỉ là 50 phần trăm. Người dùng vẫn cần đối chiếu ảnh và tham chiếu.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Bằng chứng mới được lấy từ một phiên thật tạo qua giao diện app, với ảnh đầu vào và crop được xuất nguyên byte từ MinIO, đối chiếu SHA-256. Có 12 raw OCR, 12 gợi ý Groq thật và 12 tham chiếu được nhập sau inference. Raw đạt 50 phần trăm, Groq đạt 58,33 phần trăm trên cùng dữ liệu. CER lần lượt là 4,12 và 2,58 phần trăm; WER là 18,75 và 10,42 phần trăm. Gói bàn giao có JSON và CSV từng dòng, model và trạng thái provider, cùng quy tắc chuẩn hóa. Đây là một ảnh phát triển, không phải kết quả tổng quát.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 án bàn giao luồng tích hợp từ ứng dụng đến backend và dịch vụ OCR, phần review cho người dùng, và hồ sơ dữ liệu có thể truy vết. Người dùng số hóa ảnh vở và kiểm tra lại văn bản. Với khóa Big Data, dự án minh họa lưu trữ bản ghi, giữ nguồn của kết quả và tính metric có mẫu số rõ ràng. Nhóm chưa đo tác động đến kết quả học tập.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ca app thực tế này, nhóm cần đánh giá trên nhiều người viết và nhiều kiểu ảnh, với tham chiếu được người thật độc lập xác minh. OCR và AI cần chấm trên cùng dữ liệu, giữ riêng sửa tay và xem cả trường hợp AI làm sai thêm. Điểm confidence cần kiểm tra hiệu chuẩn và khoảng bất định. Nhóm cũng tiếp tục hoàn thiện privacy, quyền truy cập và triển khai trước khi pilot. Các giới hạn này không được suy ra chỉ từ một ảnh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trình bày của chúng em xin kết thúc tại đây. Cảm ơn quý thầy cô và hội đồng đã lắng nghe. Chúng em sẵn sàng trả lời các câu hỏi về dữ liệu, mô hình, luồng review, giới hạn bằng chứng và kế hoạch phát triển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afebdbda1144f2a"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6cf511edf0045df" Type="http://schemas.openxmlformats.org/officeDocument/2006/relationships/slideMaster" Target="../slideMasters/slideMaster1.xml"/><Relationship Id="R8bb3e6b2e67d420e" Type="http://schemas.openxmlformats.org/officeDocument/2006/relationships/image" Target="../media/image.jpeg"/><Relationship Id="Rbe22e9775a1e4061" Type="http://schemas.openxmlformats.org/officeDocument/2006/relationships/image" Target="../media/image.png"/></Relationships>
</file>

<file path=ppt/slideLayouts/_rels/slideLayout3.xml.rels><?xml version='1.0' encoding='UTF-8' standalone='yes'?>
<Relationships xmlns="http://schemas.openxmlformats.org/package/2006/relationships"><Relationship Id="R30f9649cd8054870" Type="http://schemas.openxmlformats.org/officeDocument/2006/relationships/image" Target="../media/image2.jpeg"/><Relationship Id="R516b4d8802294b6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c31839ccb8c4762" Type="http://schemas.openxmlformats.org/officeDocument/2006/relationships/slideMaster" Target="../slideMasters/slideMaster1.xml"/><Relationship Id="R9856e816ddbf4539"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3fdeb6493404465e" Type="http://schemas.openxmlformats.org/officeDocument/2006/relationships/image" Target="../media/image3.jpeg"/><Relationship Id="Rd74975e9da0f414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69b8954a6e93485e" Type="http://schemas.openxmlformats.org/officeDocument/2006/relationships/slideMaster" Target="../slideMasters/slideMaster1.xml"/><Relationship Id="Rb85fd14f7b994e1f"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8456e11332424fad" Type="http://schemas.openxmlformats.org/officeDocument/2006/relationships/image" Target="../media/image4.jpeg"/><Relationship Id="Rb98bbbe8ae43494e"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aec76af6747c401b"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2290897c786d476d" Type="http://schemas.openxmlformats.org/officeDocument/2006/relationships/image" Target="../media/image5.jpeg"/><Relationship Id="Rd02c5a3a0aae4c90" Type="http://schemas.openxmlformats.org/officeDocument/2006/relationships/slideMaster" Target="../slideMasters/slideMaster1.xml"/><Relationship Id="Rea7e1503b6304b1a"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84926b461ac24fbb" Type="http://schemas.openxmlformats.org/officeDocument/2006/relationships/image" Target="../media/image6.jpeg"/><Relationship Id="R9845c3f38568433b" Type="http://schemas.openxmlformats.org/officeDocument/2006/relationships/image" Target="../media/image.png"/><Relationship Id="Rd1939a1221b9449e"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able of Contents">
    <p:spTree>
      <p:nvGrpSpPr>
        <p:cNvPr id="1" name=""/>
        <p:cNvGrpSpPr/>
        <p:nvPr/>
      </p:nvGrpSpPr>
      <p:grpSpPr>
        <a:xfrm xmlns:a="http://schemas.openxmlformats.org/drawingml/2006/main"/>
      </p:grpSpPr>
      <p:sp>
        <p:nvSpPr>
          <p:cNvPr id="12" name="직선 연결선 11">
            <a:extLst xmlns:a="http://schemas.openxmlformats.org/drawingml/2006/main">
              <a:ext uri="{FF2B5EF4-FFF2-40B4-BE49-F238E27FC236}">
                <a16:creationId xmlns:a16="http://schemas.microsoft.com/office/drawing/2014/main" id="{73633AA2-40D8-43CD-9925-D52865949C40}"/>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15" name="슬라이드 번호 개체 틀 15">
            <a:extLst xmlns:a="http://schemas.openxmlformats.org/drawingml/2006/main">
              <a:ext uri="{FF2B5EF4-FFF2-40B4-BE49-F238E27FC236}">
                <a16:creationId xmlns:a16="http://schemas.microsoft.com/office/drawing/2014/main" id="{CCEC8F59-794B-4743-A6D7-1BC9720006CB}"/>
              </a:ext>
            </a:extLst>
          </p:cNvPr>
          <p:cNvSpPr>
            <a:spLocks xmlns:a="http://schemas.openxmlformats.org/drawingml/2006/main" noGrp="1"/>
          </p:cNvSpPr>
          <p:nvPr/>
        </p:nvSpPr>
        <p:spPr>
          <a:xfrm xmlns:a="http://schemas.openxmlformats.org/drawingml/2006/main">
            <a:off x="6846858" y="6498001"/>
            <a:ext cx="2349501"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lvl="0" defTabSz="914094">
              <a:buNone/>
            </a:pPr>
            <a:r>
              <a:rPr sz="900">
                <a:solidFill>
                  <a:schemeClr val="bg1">
                    <a:lumMod val="50000"/>
                  </a:schemeClr>
                </a:solidFill>
                <a:latin typeface="Samsung Sharp Sans Medium"/>
                <a:ea typeface="Samsung Sharp Sans Medium"/>
                <a:cs typeface="Samsung Sharp Sans Medium"/>
              </a:rPr>
              <a:t>HandAI</a:t>
            </a:r>
          </a:p>
        </p:txBody>
      </p:sp>
    </p:spTree>
  </p:cSld>
</p:sldLayout>
</file>

<file path=ppt/slideLayouts/slideLayout2.xml><?xml version="1.0" encoding="utf-8"?>
<p:sldLayout xmlns:p="http://schemas.openxmlformats.org/presentationml/2006/main" preserve="1" userDrawn="1">
  <p:cSld name="Front Cover">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pic>
        <p:nvPicPr>
          <p:cNvPr id="15" name="그림 8">
            <a:extLst xmlns:a="http://schemas.openxmlformats.org/drawingml/2006/main">
              <a:ext uri="{FF2B5EF4-FFF2-40B4-BE49-F238E27FC236}">
                <a16:creationId xmlns:a16="http://schemas.microsoft.com/office/drawing/2014/main" id="{892285D2-AB14-4817-AD29-CE38B474BAB4}"/>
              </a:ext>
            </a:extLst>
          </p:cNvPr>
          <p:cNvPicPr>
            <a:picLocks xmlns:a="http://schemas.openxmlformats.org/drawingml/2006/main" noChangeAspect="1"/>
          </p:cNvPicPr>
          <p:nvPr/>
        </p:nvPicPr>
        <p:blipFill>
          <a:blip xmlns:r="http://schemas.openxmlformats.org/officeDocument/2006/relationships" xmlns:a="http://schemas.openxmlformats.org/drawingml/2006/main" r:embed="R8bb3e6b2e67d420e"/>
          <a:stretch xmlns:a="http://schemas.openxmlformats.org/drawingml/2006/main">
            <a:fillRect l="0" t="0" r="0" b="0"/>
          </a:stretch>
        </p:blipFill>
        <p:spPr>
          <a:xfrm xmlns:a="http://schemas.openxmlformats.org/drawingml/2006/main">
            <a:off x="0" y="0"/>
            <a:ext cx="9902825" cy="6858000"/>
          </a:xfrm>
          <a:prstGeom xmlns:a="http://schemas.openxmlformats.org/drawingml/2006/main" prst="rect">
            <a:avLst/>
          </a:prstGeom>
        </p:spPr>
      </p:pic>
      <p:sp>
        <p:nvSpPr>
          <p:cNvPr id="6" name="Freeform 5">
            <a:extLst xmlns:a="http://schemas.openxmlformats.org/drawingml/2006/main">
              <a:ext uri="{FF2B5EF4-FFF2-40B4-BE49-F238E27FC236}">
                <a16:creationId xmlns:a16="http://schemas.microsoft.com/office/drawing/2014/main" id="{0D8AEED9-5E8F-4A4F-8427-AE314BEC60F8}"/>
              </a:ext>
            </a:extLst>
          </p:cNvPr>
          <p:cNvSpPr>
            <a:spLocks xmlns:a="http://schemas.openxmlformats.org/drawingml/2006/main" noGrp="1"/>
          </p:cNvSpPr>
          <p:nvPr/>
        </p:nvSpPr>
        <p:spPr>
          <a:xfrm xmlns:a="http://schemas.openxmlformats.org/drawingml/2006/main">
            <a:off x="449468" y="450000"/>
            <a:ext cx="1282022" cy="198000"/>
          </a:xfrm>
          <a:custGeom xmlns:a="http://schemas.openxmlformats.org/drawingml/2006/main">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xmlns:a="http://schemas.openxmlformats.org/drawingml/2006/main">
            <a:srgbClr val="0924A5"/>
          </a:solidFill>
          <a:ln xmlns:a="http://schemas.openxmlformats.org/drawingml/2006/main">
            <a:noFill/>
          </a:ln>
        </p:spPr>
        <p:txBody>
          <a:bodyPr xmlns:a="http://schemas.openxmlformats.org/drawingml/2006/main" vert="horz" wrap="square" lIns="91411" tIns="45705" rIns="91411" bIns="45705" anchor="t"/>
          <a:lstStyle xmlns:a="http://schemas.openxmlformats.org/drawingml/2006/main"/>
          <a:p xmlns:a="http://schemas.openxmlformats.org/drawingml/2006/main">
            <a:pPr marL="0" marR="0" lvl="0" indent="0" algn="l" defTabSz="914126">
              <a:lnSpc>
                <a:spcPct val="100000"/>
              </a:lnSpc>
              <a:spcBef>
                <a:spcPts val="0"/>
              </a:spcBef>
              <a:spcAft>
                <a:spcPts val="0"/>
              </a:spcAft>
              <a:buClrTx/>
              <a:buSzTx/>
              <a:buFontTx/>
              <a:buNone/>
            </a:pPr>
            <a:endParaRPr sz="1959"/>
          </a:p>
        </p:txBody>
      </p:sp>
      <p:pic>
        <p:nvPicPr>
          <p:cNvPr id="17" name="그림 9">
            <a:extLst xmlns:a="http://schemas.openxmlformats.org/drawingml/2006/main">
              <a:ext uri="{FF2B5EF4-FFF2-40B4-BE49-F238E27FC236}">
                <a16:creationId xmlns:a16="http://schemas.microsoft.com/office/drawing/2014/main" id="{B460EA3C-F6A6-4316-8E4C-79FA9EB05656}"/>
              </a:ext>
            </a:extLst>
          </p:cNvPr>
          <p:cNvPicPr>
            <a:picLocks xmlns:a="http://schemas.openxmlformats.org/drawingml/2006/main" noChangeAspect="1"/>
          </p:cNvPicPr>
          <p:nvPr/>
        </p:nvPicPr>
        <p:blipFill>
          <a:blip xmlns:r="http://schemas.openxmlformats.org/officeDocument/2006/relationships" xmlns:a="http://schemas.openxmlformats.org/drawingml/2006/main" r:embed="Rbe22e9775a1e4061"/>
          <a:stretch xmlns:a="http://schemas.openxmlformats.org/drawingml/2006/main">
            <a:fillRect l="0" t="0" r="0" b="0"/>
          </a:stretch>
        </p:blipFill>
        <p:spPr>
          <a:xfrm xmlns:a="http://schemas.openxmlformats.org/drawingml/2006/main">
            <a:off x="4265631" y="6141164"/>
            <a:ext cx="1371564" cy="450000"/>
          </a:xfrm>
          <a:prstGeom xmlns:a="http://schemas.openxmlformats.org/drawingml/2006/main" prst="rect">
            <a:avLst/>
          </a:prstGeom>
        </p:spPr>
      </p:pic>
      <p:sp>
        <p:nvSpPr>
          <p:cNvPr id="7" name="직사각형 133">
            <a:extLst xmlns:a="http://schemas.openxmlformats.org/drawingml/2006/main">
              <a:ext uri="{FF2B5EF4-FFF2-40B4-BE49-F238E27FC236}">
                <a16:creationId xmlns:a16="http://schemas.microsoft.com/office/drawing/2014/main" id="{DE8CAD59-3F29-4FBB-AE0A-697DDFD5E69E}"/>
              </a:ext>
            </a:extLst>
          </p:cNvPr>
          <p:cNvSpPr>
            <a:spLocks xmlns:a="http://schemas.openxmlformats.org/drawingml/2006/main" noGrp="1"/>
          </p:cNvSpPr>
          <p:nvPr/>
        </p:nvSpPr>
        <p:spPr>
          <a:xfrm xmlns:a="http://schemas.openxmlformats.org/drawingml/2006/main">
            <a:off x="990000" y="4320000"/>
            <a:ext cx="5832526" cy="36933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p xmlns:a="http://schemas.openxmlformats.org/drawingml/2006/main">
            <a:pPr defTabSz="914400">
              <a:buNone/>
            </a:pPr>
            <a:r>
              <a:rPr sz="2400" baseline="0">
                <a:solidFill>
                  <a:srgbClr val="1428A0"/>
                </a:solidFill>
                <a:latin typeface="Samsung Sharp Sans"/>
                <a:ea typeface="Samsung Sharp Sans"/>
                <a:cs typeface="Samsung Sharp Sans"/>
              </a:rPr>
              <a:t>Big Data Course</a:t>
            </a:r>
            <a:endParaRPr sz="2400">
              <a:solidFill>
                <a:srgbClr val="1428A0"/>
              </a:solidFill>
              <a:latin typeface="Samsung Sharp Sans"/>
              <a:ea typeface="Samsung Sharp Sans"/>
              <a:cs typeface="Samsung Sharp Sans"/>
            </a:endParaRPr>
          </a:p>
        </p:txBody>
      </p:sp>
      <p:sp>
        <p:nvSpPr>
          <p:cNvPr id="8" name="직사각형 7">
            <a:extLst xmlns:a="http://schemas.openxmlformats.org/drawingml/2006/main">
              <a:ext uri="{FF2B5EF4-FFF2-40B4-BE49-F238E27FC236}">
                <a16:creationId xmlns:a16="http://schemas.microsoft.com/office/drawing/2014/main" id="{86149771-D78D-40D7-8B97-564358008D8D}"/>
              </a:ext>
            </a:extLst>
          </p:cNvPr>
          <p:cNvSpPr>
            <a:spLocks xmlns:a="http://schemas.openxmlformats.org/drawingml/2006/main" noGrp="1"/>
          </p:cNvSpPr>
          <p:nvPr/>
        </p:nvSpPr>
        <p:spPr>
          <a:xfrm xmlns:a="http://schemas.openxmlformats.org/drawingml/2006/main">
            <a:off x="724689" y="4320000"/>
            <a:ext cx="54000" cy="360000"/>
          </a:xfrm>
          <a:prstGeom xmlns:a="http://schemas.openxmlformats.org/drawingml/2006/main" prst="rect">
            <a:avLst/>
          </a:prstGeom>
          <a:solidFill xmlns:a="http://schemas.openxmlformats.org/drawingml/2006/main">
            <a:srgbClr val="1428A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457200">
              <a:buNone/>
            </a:pPr>
            <a:endParaRPr>
              <a:solidFill>
                <a:prstClr val="white"/>
              </a:solidFill>
              <a:latin typeface="Calibri"/>
              <a:ea typeface="Calibri"/>
              <a:cs typeface="Calibri"/>
            </a:endParaRPr>
          </a:p>
        </p:txBody>
      </p:sp>
      <p:sp>
        <p:nvSpPr>
          <p:cNvPr id="11" name="텍스트 개체 틀 18">
            <a:extLst xmlns:a="http://schemas.openxmlformats.org/drawingml/2006/main">
              <a:ext uri="{FF2B5EF4-FFF2-40B4-BE49-F238E27FC236}">
                <a16:creationId xmlns:a16="http://schemas.microsoft.com/office/drawing/2014/main" id="{02AC410D-7805-4DA9-915F-991D726861C7}"/>
              </a:ext>
            </a:extLst>
          </p:cNvPr>
          <p:cNvSpPr>
            <a:spLocks xmlns:a="http://schemas.openxmlformats.org/drawingml/2006/main" noGrp="1"/>
          </p:cNvSpPr>
          <p:nvPr>
            <p:ph type="body" idx="11" hasCustomPrompt="1"/>
          </p:nvPr>
        </p:nvSpPr>
        <p:spPr>
          <a:xfrm xmlns:a="http://schemas.openxmlformats.org/drawingml/2006/main">
            <a:off x="720000" y="3551768"/>
            <a:ext cx="6837808" cy="2769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marL="0" indent="0">
              <a:lnSpc>
                <a:spcPct val="100000"/>
              </a:lnSpc>
              <a:spcBef>
                <a:spcPts val="0"/>
              </a:spcBef>
              <a:buNone/>
              <a:defRPr sz="1800">
                <a:solidFill>
                  <a:schemeClr val="bg1">
                    <a:lumMod val="50000"/>
                  </a:schemeClr>
                </a:solidFill>
                <a:latin typeface="Samsung Sharp Sans"/>
                <a:ea typeface="Samsung Sharp Sans"/>
                <a:cs typeface="Samsung Sharp Sans"/>
              </a:defRPr>
            </a:lvl1pPr>
          </a:lstStyle>
          <a:p xmlns:a="http://schemas.openxmlformats.org/drawingml/2006/main">
            <a:pPr marL="0" lvl="0" defTabSz="457050">
              <a:buNone/>
            </a:pPr>
            <a:r>
              <a:t>Nguyen Van Duy Manh · Tran Hoai Nam</a:t>
            </a:r>
            <a:endParaRPr/>
          </a:p>
        </p:txBody>
      </p:sp>
      <p:sp>
        <p:nvSpPr>
          <p:cNvPr id="12" name="제목 2">
            <a:extLst xmlns:a="http://schemas.openxmlformats.org/drawingml/2006/main">
              <a:ext uri="{FF2B5EF4-FFF2-40B4-BE49-F238E27FC236}">
                <a16:creationId xmlns:a16="http://schemas.microsoft.com/office/drawing/2014/main" id="{44AF0917-EEBC-44C5-8BA6-F1CA2AFA4B1E}"/>
              </a:ext>
            </a:extLst>
          </p:cNvPr>
          <p:cNvSpPr>
            <a:spLocks xmlns:a="http://schemas.openxmlformats.org/drawingml/2006/main" noGrp="1"/>
          </p:cNvSpPr>
          <p:nvPr>
            <p:ph type="title" idx="0" hasCustomPrompt="1"/>
          </p:nvPr>
        </p:nvSpPr>
        <p:spPr>
          <a:xfrm xmlns:a="http://schemas.openxmlformats.org/drawingml/2006/main">
            <a:off x="720000" y="1710000"/>
            <a:ext cx="5221019" cy="14773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a:lnSpc>
                <a:spcPct val="100000"/>
              </a:lnSpc>
              <a:buNone/>
              <a:defRPr sz="4800">
                <a:solidFill>
                  <a:schemeClr val="tx1"/>
                </a:solidFill>
                <a:latin typeface="Samsung Sharp Sans"/>
                <a:ea typeface="Samsung Sharp Sans"/>
                <a:cs typeface="Samsung Sharp Sans"/>
              </a:defRPr>
            </a:lvl1pPr>
          </a:lstStyle>
          <a:p xmlns:a="http://schemas.openxmlformats.org/drawingml/2006/main">
            <a:pPr marL="0" lvl="0" defTabSz="457200">
              <a:buNone/>
            </a:pPr>
            <a:r>
              <a:t>Project</a:t>
            </a:r>
            <a:r>
              <a:t> </a:t>
            </a:r>
            <a:br/>
            <a:r>
              <a:t>Name</a:t>
            </a:r>
            <a:endParaRPr/>
          </a:p>
        </p:txBody>
      </p:sp>
    </p:spTree>
  </p:cSld>
</p:sldLayout>
</file>

<file path=ppt/slideLayouts/slideLayout3.xml><?xml version="1.0" encoding="utf-8"?>
<p:sldLayout xmlns:p="http://schemas.openxmlformats.org/presentationml/2006/main" preserve="1" userDrawn="1">
  <p:cSld name="2_Table of Contents2">
    <p:spTree>
      <p:nvGrpSpPr>
        <p:cNvPr id="1" name=""/>
        <p:cNvGrpSpPr/>
        <p:nvPr/>
      </p:nvGrpSpPr>
      <p:grpSpPr>
        <a:xfrm xmlns:a="http://schemas.openxmlformats.org/drawingml/2006/main"/>
      </p:grpSpPr>
      <p:pic>
        <p:nvPicPr>
          <p:cNvPr id="19" name="그림 1">
            <a:extLst xmlns:a="http://schemas.openxmlformats.org/drawingml/2006/main">
              <a:ext uri="{FF2B5EF4-FFF2-40B4-BE49-F238E27FC236}">
                <a16:creationId xmlns:a16="http://schemas.microsoft.com/office/drawing/2014/main" id="{3270D7E7-516C-449C-9E9C-2743E20CBA0E}"/>
              </a:ext>
            </a:extLst>
          </p:cNvPr>
          <p:cNvPicPr>
            <a:picLocks xmlns:a="http://schemas.openxmlformats.org/drawingml/2006/main" noChangeAspect="1"/>
          </p:cNvPicPr>
          <p:nvPr/>
        </p:nvPicPr>
        <p:blipFill>
          <a:blip xmlns:r="http://schemas.openxmlformats.org/officeDocument/2006/relationships" xmlns:a="http://schemas.openxmlformats.org/drawingml/2006/main" r:embed="R30f9649cd8054870"/>
          <a:stretch xmlns:a="http://schemas.openxmlformats.org/drawingml/2006/main">
            <a:fillRect l="0" t="0" r="0" b="0"/>
          </a:stretch>
        </p:blipFill>
        <p:spPr>
          <a:xfrm xmlns:a="http://schemas.openxmlformats.org/drawingml/2006/main">
            <a:off x="-1588" y="0"/>
            <a:ext cx="9902825" cy="6858000"/>
          </a:xfrm>
          <a:prstGeom xmlns:a="http://schemas.openxmlformats.org/drawingml/2006/main" prst="rect">
            <a:avLst/>
          </a:prstGeom>
        </p:spPr>
      </p:pic>
      <p:sp>
        <p:nvSpPr>
          <p:cNvPr id="12" name="직선 연결선 11">
            <a:extLst xmlns:a="http://schemas.openxmlformats.org/drawingml/2006/main">
              <a:ext uri="{FF2B5EF4-FFF2-40B4-BE49-F238E27FC236}">
                <a16:creationId xmlns:a16="http://schemas.microsoft.com/office/drawing/2014/main" id="{6F671B10-D699-4E8B-ABA6-7E01D5ECDD6F}"/>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7" name="직사각형 133">
            <a:extLst xmlns:a="http://schemas.openxmlformats.org/drawingml/2006/main">
              <a:ext uri="{FF2B5EF4-FFF2-40B4-BE49-F238E27FC236}">
                <a16:creationId xmlns:a16="http://schemas.microsoft.com/office/drawing/2014/main" id="{7A4BCBFF-5289-45FE-BA09-DFF42AF8A347}"/>
              </a:ext>
            </a:extLst>
          </p:cNvPr>
          <p:cNvSpPr>
            <a:spLocks xmlns:a="http://schemas.openxmlformats.org/drawingml/2006/main" noGrp="1"/>
          </p:cNvSpPr>
          <p:nvPr/>
        </p:nvSpPr>
        <p:spPr>
          <a:xfrm xmlns:a="http://schemas.openxmlformats.org/drawingml/2006/main">
            <a:off x="990000" y="4157757"/>
            <a:ext cx="3563339" cy="323165"/>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p xmlns:a="http://schemas.openxmlformats.org/drawingml/2006/main">
            <a:pPr defTabSz="457200">
              <a:buNone/>
            </a:pPr>
            <a:r>
              <a:rPr sz="2100">
                <a:solidFill>
                  <a:srgbClr val="1428A0"/>
                </a:solidFill>
                <a:latin typeface="Samsung Sharp Sans"/>
                <a:ea typeface="Samsung Sharp Sans"/>
                <a:cs typeface="Samsung Sharp Sans"/>
              </a:rPr>
              <a:t>Big Data Course</a:t>
            </a:r>
            <a:endParaRPr sz="2100">
              <a:solidFill>
                <a:srgbClr val="1428A0"/>
              </a:solidFill>
              <a:latin typeface="Samsung Sharp Sans"/>
              <a:ea typeface="Samsung Sharp Sans"/>
              <a:cs typeface="Samsung Sharp Sans"/>
            </a:endParaRPr>
          </a:p>
        </p:txBody>
      </p:sp>
      <p:sp>
        <p:nvSpPr>
          <p:cNvPr id="9" name="직사각형 8">
            <a:extLst xmlns:a="http://schemas.openxmlformats.org/drawingml/2006/main">
              <a:ext uri="{FF2B5EF4-FFF2-40B4-BE49-F238E27FC236}">
                <a16:creationId xmlns:a16="http://schemas.microsoft.com/office/drawing/2014/main" id="{4AA6CFBD-D9B3-4245-A68B-1D7EC1CB6F07}"/>
              </a:ext>
            </a:extLst>
          </p:cNvPr>
          <p:cNvSpPr>
            <a:spLocks xmlns:a="http://schemas.openxmlformats.org/drawingml/2006/main" noGrp="1"/>
          </p:cNvSpPr>
          <p:nvPr/>
        </p:nvSpPr>
        <p:spPr>
          <a:xfrm xmlns:a="http://schemas.openxmlformats.org/drawingml/2006/main">
            <a:off x="720000" y="2095275"/>
            <a:ext cx="60008" cy="1759369"/>
          </a:xfrm>
          <a:prstGeom xmlns:a="http://schemas.openxmlformats.org/drawingml/2006/main" prst="rect">
            <a:avLst/>
          </a:prstGeom>
          <a:solidFill xmlns:a="http://schemas.openxmlformats.org/drawingml/2006/main">
            <a:srgbClr val="1428A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457200">
              <a:buNone/>
            </a:pPr>
            <a:endParaRPr>
              <a:solidFill>
                <a:prstClr val="white"/>
              </a:solidFill>
              <a:latin typeface="Calibri"/>
              <a:ea typeface="Calibri"/>
              <a:cs typeface="Calibri"/>
            </a:endParaRPr>
          </a:p>
        </p:txBody>
      </p:sp>
      <p:sp>
        <p:nvSpPr>
          <p:cNvPr id="10" name="직사각형 9">
            <a:extLst xmlns:a="http://schemas.openxmlformats.org/drawingml/2006/main">
              <a:ext uri="{FF2B5EF4-FFF2-40B4-BE49-F238E27FC236}">
                <a16:creationId xmlns:a16="http://schemas.microsoft.com/office/drawing/2014/main" id="{1B2EB59A-603F-4715-ABA1-D9DF69D44512}"/>
              </a:ext>
            </a:extLst>
          </p:cNvPr>
          <p:cNvSpPr>
            <a:spLocks xmlns:a="http://schemas.openxmlformats.org/drawingml/2006/main" noGrp="1"/>
          </p:cNvSpPr>
          <p:nvPr/>
        </p:nvSpPr>
        <p:spPr>
          <a:xfrm xmlns:a="http://schemas.openxmlformats.org/drawingml/2006/main">
            <a:off x="720000" y="4157757"/>
            <a:ext cx="60008" cy="323165"/>
          </a:xfrm>
          <a:prstGeom xmlns:a="http://schemas.openxmlformats.org/drawingml/2006/main" prst="rect">
            <a:avLst/>
          </a:prstGeom>
          <a:solidFill xmlns:a="http://schemas.openxmlformats.org/drawingml/2006/main">
            <a:srgbClr val="1428A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457200">
              <a:buNone/>
            </a:pPr>
            <a:endParaRPr>
              <a:solidFill>
                <a:prstClr val="white"/>
              </a:solidFill>
              <a:latin typeface="Calibri"/>
              <a:ea typeface="Calibri"/>
              <a:cs typeface="Calibri"/>
            </a:endParaRPr>
          </a:p>
        </p:txBody>
      </p:sp>
      <p:sp>
        <p:nvSpPr>
          <p:cNvPr id="3" name="제목 2">
            <a:extLst xmlns:a="http://schemas.openxmlformats.org/drawingml/2006/main">
              <a:ext uri="{FF2B5EF4-FFF2-40B4-BE49-F238E27FC236}">
                <a16:creationId xmlns:a16="http://schemas.microsoft.com/office/drawing/2014/main" id="{CF6BC111-C555-4B09-8375-33C4F4C2FBB5}"/>
              </a:ext>
            </a:extLst>
          </p:cNvPr>
          <p:cNvSpPr>
            <a:spLocks xmlns:a="http://schemas.openxmlformats.org/drawingml/2006/main" noGrp="1"/>
          </p:cNvSpPr>
          <p:nvPr>
            <p:ph type="title" idx="0" hasCustomPrompt="1"/>
          </p:nvPr>
        </p:nvSpPr>
        <p:spPr>
          <a:xfrm xmlns:a="http://schemas.openxmlformats.org/drawingml/2006/main">
            <a:off x="990000" y="2095275"/>
            <a:ext cx="5221019" cy="135421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a:lnSpc>
                <a:spcPct val="100000"/>
              </a:lnSpc>
              <a:buNone/>
              <a:defRPr sz="4400">
                <a:solidFill>
                  <a:schemeClr val="tx1"/>
                </a:solidFill>
                <a:latin typeface="Samsung Sharp Sans"/>
                <a:ea typeface="Samsung Sharp Sans"/>
                <a:cs typeface="Samsung Sharp Sans"/>
              </a:defRPr>
            </a:lvl1pPr>
          </a:lstStyle>
          <a:p xmlns:a="http://schemas.openxmlformats.org/drawingml/2006/main">
            <a:pPr marL="0" lvl="0" defTabSz="457200">
              <a:buNone/>
            </a:pPr>
            <a:r>
              <a:t>Project</a:t>
            </a:r>
            <a:r>
              <a:t> </a:t>
            </a:r>
            <a:br/>
            <a:r>
              <a:t>Name</a:t>
            </a:r>
            <a:endParaRPr/>
          </a:p>
        </p:txBody>
      </p:sp>
      <p:sp>
        <p:nvSpPr>
          <p:cNvPr id="17" name="텍스트 개체 틀 18">
            <a:extLst xmlns:a="http://schemas.openxmlformats.org/drawingml/2006/main">
              <a:ext uri="{FF2B5EF4-FFF2-40B4-BE49-F238E27FC236}">
                <a16:creationId xmlns:a16="http://schemas.microsoft.com/office/drawing/2014/main" id="{CBEAE583-0BAA-455B-9555-B00A4FE8B1C9}"/>
              </a:ext>
            </a:extLst>
          </p:cNvPr>
          <p:cNvSpPr>
            <a:spLocks xmlns:a="http://schemas.openxmlformats.org/drawingml/2006/main" noGrp="1"/>
          </p:cNvSpPr>
          <p:nvPr>
            <p:ph type="body" idx="11" hasCustomPrompt="1"/>
          </p:nvPr>
        </p:nvSpPr>
        <p:spPr>
          <a:xfrm xmlns:a="http://schemas.openxmlformats.org/drawingml/2006/main">
            <a:off x="990000" y="3577645"/>
            <a:ext cx="6837808" cy="2769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marL="0" indent="0">
              <a:lnSpc>
                <a:spcPct val="100000"/>
              </a:lnSpc>
              <a:spcBef>
                <a:spcPts val="0"/>
              </a:spcBef>
              <a:buNone/>
              <a:defRPr sz="1800">
                <a:solidFill>
                  <a:schemeClr val="bg1">
                    <a:lumMod val="50000"/>
                  </a:schemeClr>
                </a:solidFill>
                <a:latin typeface="Samsung Sharp Sans"/>
                <a:ea typeface="Samsung Sharp Sans"/>
                <a:cs typeface="Samsung Sharp Sans"/>
              </a:defRPr>
            </a:lvl1pPr>
          </a:lstStyle>
          <a:p xmlns:a="http://schemas.openxmlformats.org/drawingml/2006/main">
            <a:pPr marL="0" lvl="0" defTabSz="457050">
              <a:buNone/>
            </a:pPr>
            <a:r>
              <a:t>Nguyen Van Duy Manh · Tran Hoai Nam</a:t>
            </a:r>
            <a:endParaRPr/>
          </a:p>
        </p:txBody>
      </p:sp>
    </p:spTree>
  </p:cSld>
</p:sldLayout>
</file>

<file path=ppt/slideLayouts/slideLayout4.xml><?xml version="1.0" encoding="utf-8"?>
<p:sldLayout xmlns:p="http://schemas.openxmlformats.org/presentationml/2006/main" preserve="1" userDrawn="1">
  <p:cSld name="2_Table of Contents">
    <p:spTree>
      <p:nvGrpSpPr>
        <p:cNvPr id="1" name=""/>
        <p:cNvGrpSpPr/>
        <p:nvPr/>
      </p:nvGrpSpPr>
      <p:grpSpPr>
        <a:xfrm xmlns:a="http://schemas.openxmlformats.org/drawingml/2006/main"/>
      </p:grpSpPr>
      <p:pic>
        <p:nvPicPr>
          <p:cNvPr id="25" name="그림 4">
            <a:extLst xmlns:a="http://schemas.openxmlformats.org/drawingml/2006/main">
              <a:ext uri="{FF2B5EF4-FFF2-40B4-BE49-F238E27FC236}">
                <a16:creationId xmlns:a16="http://schemas.microsoft.com/office/drawing/2014/main" id="{7FA7D1BC-3CCA-4C85-966C-23A1BF039F95}"/>
              </a:ext>
            </a:extLst>
          </p:cNvPr>
          <p:cNvPicPr>
            <a:picLocks xmlns:a="http://schemas.openxmlformats.org/drawingml/2006/main" noChangeAspect="1"/>
          </p:cNvPicPr>
          <p:nvPr/>
        </p:nvPicPr>
        <p:blipFill>
          <a:blip xmlns:r="http://schemas.openxmlformats.org/officeDocument/2006/relationships" xmlns:a="http://schemas.openxmlformats.org/drawingml/2006/main" r:embed="R9856e816ddbf4539"/>
          <a:stretch xmlns:a="http://schemas.openxmlformats.org/drawingml/2006/main">
            <a:fillRect l="0" t="0" r="0" b="0"/>
          </a:stretch>
        </p:blipFill>
        <p:spPr>
          <a:xfrm xmlns:a="http://schemas.openxmlformats.org/drawingml/2006/main">
            <a:off x="0" y="0"/>
            <a:ext cx="9902825" cy="6858000"/>
          </a:xfrm>
          <a:prstGeom xmlns:a="http://schemas.openxmlformats.org/drawingml/2006/main" prst="rect">
            <a:avLst/>
          </a:prstGeom>
        </p:spPr>
      </p:pic>
      <p:sp>
        <p:nvSpPr>
          <p:cNvPr id="12" name="직선 연결선 11">
            <a:extLst xmlns:a="http://schemas.openxmlformats.org/drawingml/2006/main">
              <a:ext uri="{FF2B5EF4-FFF2-40B4-BE49-F238E27FC236}">
                <a16:creationId xmlns:a16="http://schemas.microsoft.com/office/drawing/2014/main" id="{2C5CB66D-6448-4793-8D69-9D44099B7078}"/>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3" name="제목 2">
            <a:extLst xmlns:a="http://schemas.openxmlformats.org/drawingml/2006/main">
              <a:ext uri="{FF2B5EF4-FFF2-40B4-BE49-F238E27FC236}">
                <a16:creationId xmlns:a16="http://schemas.microsoft.com/office/drawing/2014/main" id="{4625E1FE-2B04-4D8E-A51A-6B9CEC7B3790}"/>
              </a:ext>
            </a:extLst>
          </p:cNvPr>
          <p:cNvSpPr>
            <a:spLocks xmlns:a="http://schemas.openxmlformats.org/drawingml/2006/main" noGrp="1"/>
          </p:cNvSpPr>
          <p:nvPr>
            <p:ph type="title" idx="0" hasCustomPrompt="1"/>
          </p:nvPr>
        </p:nvSpPr>
        <p:spPr>
          <a:xfrm xmlns:a="http://schemas.openxmlformats.org/drawingml/2006/main">
            <a:off x="449468" y="1440000"/>
            <a:ext cx="8541187" cy="492443"/>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a:lnSpc>
                <a:spcPct val="100000"/>
              </a:lnSpc>
              <a:spcBef>
                <a:spcPts val="0"/>
              </a:spcBef>
              <a:buNone/>
              <a:defRPr sz="3200">
                <a:solidFill>
                  <a:schemeClr val="tx1">
                    <a:lumMod val="95000"/>
                    <a:lumOff val="5000"/>
                  </a:schemeClr>
                </a:solidFill>
                <a:latin typeface="Samsung Sharp Sans"/>
                <a:ea typeface="Samsung Sharp Sans"/>
                <a:cs typeface="Samsung Sharp Sans"/>
              </a:defRPr>
            </a:lvl1pPr>
          </a:lstStyle>
          <a:p xmlns:a="http://schemas.openxmlformats.org/drawingml/2006/main">
            <a:pPr marL="0" lvl="0" defTabSz="457050">
              <a:buNone/>
            </a:pPr>
            <a:r>
              <a:t>Slide Title</a:t>
            </a:r>
            <a:endParaRPr/>
          </a:p>
        </p:txBody>
      </p:sp>
      <p:sp>
        <p:nvSpPr>
          <p:cNvPr id="19" name="텍스트 개체 틀 18">
            <a:extLst xmlns:a="http://schemas.openxmlformats.org/drawingml/2006/main">
              <a:ext uri="{FF2B5EF4-FFF2-40B4-BE49-F238E27FC236}">
                <a16:creationId xmlns:a16="http://schemas.microsoft.com/office/drawing/2014/main" id="{DFEC8C6A-D95C-4B3C-9803-6F9071BF0C29}"/>
              </a:ext>
            </a:extLst>
          </p:cNvPr>
          <p:cNvSpPr>
            <a:spLocks xmlns:a="http://schemas.openxmlformats.org/drawingml/2006/main" noGrp="1"/>
          </p:cNvSpPr>
          <p:nvPr>
            <p:ph type="body" idx="10" hasCustomPrompt="1"/>
          </p:nvPr>
        </p:nvSpPr>
        <p:spPr>
          <a:xfrm xmlns:a="http://schemas.openxmlformats.org/drawingml/2006/main">
            <a:off x="449468" y="450000"/>
            <a:ext cx="323896" cy="27720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marL="0" indent="0">
              <a:lnSpc>
                <a:spcPct val="100000"/>
              </a:lnSpc>
              <a:spcBef>
                <a:spcPts val="0"/>
              </a:spcBef>
              <a:buNone/>
              <a:defRPr sz="1799">
                <a:solidFill>
                  <a:schemeClr val="bg1"/>
                </a:solidFill>
                <a:latin typeface="Samsung Sharp Sans Medium"/>
                <a:ea typeface="Samsung Sharp Sans Medium"/>
                <a:cs typeface="Samsung Sharp Sans Medium"/>
              </a:defRPr>
            </a:lvl1pPr>
          </a:lstStyle>
          <a:p xmlns:a="http://schemas.openxmlformats.org/drawingml/2006/main">
            <a:pPr marL="0" lvl="0" defTabSz="457050">
              <a:buNone/>
            </a:pPr>
            <a:r>
              <a:t>No</a:t>
            </a:r>
            <a:endParaRPr/>
          </a:p>
        </p:txBody>
      </p:sp>
      <p:sp>
        <p:nvSpPr>
          <p:cNvPr id="20" name="텍스트 개체 틀 18">
            <a:extLst xmlns:a="http://schemas.openxmlformats.org/drawingml/2006/main">
              <a:ext uri="{FF2B5EF4-FFF2-40B4-BE49-F238E27FC236}">
                <a16:creationId xmlns:a16="http://schemas.microsoft.com/office/drawing/2014/main" id="{6DA22BCA-E7E2-4377-AD8E-AC1336C3DB31}"/>
              </a:ext>
            </a:extLst>
          </p:cNvPr>
          <p:cNvSpPr>
            <a:spLocks xmlns:a="http://schemas.openxmlformats.org/drawingml/2006/main" noGrp="1"/>
          </p:cNvSpPr>
          <p:nvPr>
            <p:ph type="body" idx="11" hasCustomPrompt="1"/>
          </p:nvPr>
        </p:nvSpPr>
        <p:spPr>
          <a:xfrm xmlns:a="http://schemas.openxmlformats.org/drawingml/2006/main">
            <a:off x="790000" y="450001"/>
            <a:ext cx="6837808" cy="2769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marL="0" indent="0">
              <a:lnSpc>
                <a:spcPct val="100000"/>
              </a:lnSpc>
              <a:spcBef>
                <a:spcPts val="0"/>
              </a:spcBef>
              <a:buNone/>
              <a:defRPr sz="1799">
                <a:solidFill>
                  <a:schemeClr val="bg1"/>
                </a:solidFill>
                <a:latin typeface="Samsung Sharp Sans Bold"/>
                <a:ea typeface="Samsung Sharp Sans Bold"/>
                <a:cs typeface="Samsung Sharp Sans Bold"/>
              </a:defRPr>
            </a:lvl1pPr>
          </a:lstStyle>
          <a:p xmlns:a="http://schemas.openxmlformats.org/drawingml/2006/main">
            <a:pPr marL="0" lvl="0" defTabSz="457050">
              <a:buNone/>
            </a:pPr>
            <a:r>
              <a:t>Subtitle</a:t>
            </a:r>
            <a:endParaRPr/>
          </a:p>
        </p:txBody>
      </p:sp>
      <p:sp>
        <p:nvSpPr>
          <p:cNvPr id="21" name="텍스트 개체 틀 18">
            <a:extLst xmlns:a="http://schemas.openxmlformats.org/drawingml/2006/main">
              <a:ext uri="{FF2B5EF4-FFF2-40B4-BE49-F238E27FC236}">
                <a16:creationId xmlns:a16="http://schemas.microsoft.com/office/drawing/2014/main" id="{7647BD6A-5F13-45AE-859C-AF2BA0A739E6}"/>
              </a:ext>
            </a:extLst>
          </p:cNvPr>
          <p:cNvSpPr>
            <a:spLocks xmlns:a="http://schemas.openxmlformats.org/drawingml/2006/main" noGrp="1"/>
          </p:cNvSpPr>
          <p:nvPr>
            <p:ph type="body" idx="12" hasCustomPrompt="1"/>
          </p:nvPr>
        </p:nvSpPr>
        <p:spPr>
          <a:xfrm xmlns:a="http://schemas.openxmlformats.org/drawingml/2006/main">
            <a:off x="9112825" y="480779"/>
            <a:ext cx="340625" cy="2462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lgn="r">
              <a:lnSpc>
                <a:spcPct val="100000"/>
              </a:lnSpc>
              <a:spcBef>
                <a:spcPts val="0"/>
              </a:spcBef>
              <a:buNone/>
              <a:defRPr sz="1600">
                <a:solidFill>
                  <a:schemeClr val="bg1">
                    <a:lumMod val="85000"/>
                  </a:schemeClr>
                </a:solidFill>
                <a:latin typeface="Samsung Sharp Sans Bold"/>
                <a:ea typeface="Samsung Sharp Sans Bold"/>
                <a:cs typeface="Samsung Sharp Sans Bold"/>
              </a:defRPr>
            </a:lvl1pPr>
          </a:lstStyle>
          <a:p xmlns:a="http://schemas.openxmlformats.org/drawingml/2006/main">
            <a:pPr marL="0" lvl="0" algn="r" defTabSz="457063">
              <a:buNone/>
            </a:pPr>
            <a:r>
              <a:t>00</a:t>
            </a:r>
            <a:endParaRPr/>
          </a:p>
        </p:txBody>
      </p:sp>
      <p:sp>
        <p:nvSpPr>
          <p:cNvPr id="23" name="텍스트 개체 틀 18">
            <a:extLst xmlns:a="http://schemas.openxmlformats.org/drawingml/2006/main">
              <a:ext uri="{FF2B5EF4-FFF2-40B4-BE49-F238E27FC236}">
                <a16:creationId xmlns:a16="http://schemas.microsoft.com/office/drawing/2014/main" id="{3A9667F7-80AD-4A7A-8543-285975B06BE3}"/>
              </a:ext>
            </a:extLst>
          </p:cNvPr>
          <p:cNvSpPr>
            <a:spLocks xmlns:a="http://schemas.openxmlformats.org/drawingml/2006/main" noGrp="1"/>
          </p:cNvSpPr>
          <p:nvPr>
            <p:ph type="body" idx="13" hasCustomPrompt="1"/>
          </p:nvPr>
        </p:nvSpPr>
        <p:spPr>
          <a:xfrm xmlns:a="http://schemas.openxmlformats.org/drawingml/2006/main">
            <a:off x="8740667" y="480779"/>
            <a:ext cx="467850" cy="246221"/>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lvl1pPr marL="0" indent="0">
              <a:lnSpc>
                <a:spcPct val="100000"/>
              </a:lnSpc>
              <a:spcBef>
                <a:spcPts val="0"/>
              </a:spcBef>
              <a:buNone/>
              <a:defRPr sz="1600">
                <a:solidFill>
                  <a:schemeClr val="bg1">
                    <a:lumMod val="85000"/>
                  </a:schemeClr>
                </a:solidFill>
                <a:latin typeface="Samsung Sharp Sans Medium"/>
                <a:ea typeface="Samsung Sharp Sans Medium"/>
                <a:cs typeface="Samsung Sharp Sans Medium"/>
              </a:defRPr>
            </a:lvl1pPr>
          </a:lstStyle>
          <a:p xmlns:a="http://schemas.openxmlformats.org/drawingml/2006/main">
            <a:pPr marL="0" lvl="0" defTabSz="457050">
              <a:buNone/>
            </a:pPr>
            <a:r>
              <a:t>UNIT</a:t>
            </a:r>
            <a:endParaRPr/>
          </a:p>
        </p:txBody>
      </p:sp>
      <p:sp>
        <p:nvSpPr>
          <p:cNvPr id="16" name="텍스트 개체 틀 7">
            <a:extLst xmlns:a="http://schemas.openxmlformats.org/drawingml/2006/main">
              <a:ext uri="{FF2B5EF4-FFF2-40B4-BE49-F238E27FC236}">
                <a16:creationId xmlns:a16="http://schemas.microsoft.com/office/drawing/2014/main" id="{B6D584F0-F100-4FB4-B935-0E81DB1D3B51}"/>
              </a:ext>
            </a:extLst>
          </p:cNvPr>
          <p:cNvSpPr>
            <a:spLocks xmlns:a="http://schemas.openxmlformats.org/drawingml/2006/main" noGrp="1"/>
          </p:cNvSpPr>
          <p:nvPr>
            <p:ph type="body" idx="15" hasCustomPrompt="1"/>
          </p:nvPr>
        </p:nvSpPr>
        <p:spPr>
          <a:xfrm xmlns:a="http://schemas.openxmlformats.org/drawingml/2006/main">
            <a:off x="522288" y="2221661"/>
            <a:ext cx="8055439" cy="914400"/>
          </a:xfrm>
          <a:prstGeom xmlns:a="http://schemas.openxmlformats.org/drawingml/2006/main" prst="rect">
            <a:avLst/>
          </a:prstGeom>
        </p:spPr>
        <p:txBody>
          <a:bodyPr xmlns:a="http://schemas.openxmlformats.org/drawingml/2006/main" lIns="0" tIns="0" rIns="0" bIns="0"/>
          <a:lstStyle xmlns:a="http://schemas.openxmlformats.org/drawingml/2006/main">
            <a:lvl1pPr marL="177747" indent="-177747">
              <a:lnSpc>
                <a:spcPts val="1800"/>
              </a:lnSpc>
              <a:buSzPct val="105000"/>
              <a:buFontTx/>
              <a:buNone/>
              <a:defRPr sz="1400" kern="1200">
                <a:solidFill>
                  <a:prstClr val="black">
                    <a:lumMod val="85000"/>
                    <a:lumOff val="15000"/>
                  </a:prstClr>
                </a:solidFill>
                <a:latin typeface="SamsungOne 400"/>
                <a:ea typeface="SamsungOne 400"/>
                <a:cs typeface="SamsungOne 400"/>
              </a:defRPr>
            </a:lvl1pPr>
            <a:lvl2pPr marL="360255" indent="-182508">
              <a:lnSpc>
                <a:spcPts val="1800"/>
              </a:lnSpc>
              <a:buSzPct val="80000"/>
              <a:buFontTx/>
              <a:buNone/>
              <a:tabLst>
                <a:tab pos="447541" algn="l"/>
              </a:tabLst>
              <a:defRPr sz="1300" kern="1200">
                <a:solidFill>
                  <a:prstClr val="black">
                    <a:lumMod val="85000"/>
                    <a:lumOff val="15000"/>
                  </a:prstClr>
                </a:solidFill>
                <a:latin typeface="SamsungOne 400"/>
                <a:ea typeface="SamsungOne 400"/>
                <a:cs typeface="SamsungOne 400"/>
              </a:defRPr>
            </a:lvl2pPr>
          </a:lstStyle>
          <a:p xmlns:a="http://schemas.openxmlformats.org/drawingml/2006/main">
            <a:pPr lvl="0">
              <a:buNone/>
            </a:pPr>
            <a:r>
              <a:t>Level1</a:t>
            </a:r>
          </a:p>
          <a:p xmlns:a="http://schemas.openxmlformats.org/drawingml/2006/main">
            <a:pPr lvl="1">
              <a:buNone/>
            </a:pPr>
            <a:r>
              <a:t>Level2</a:t>
            </a:r>
          </a:p>
          <a:p xmlns:a="http://schemas.openxmlformats.org/drawingml/2006/main">
            <a:pPr lvl="1">
              <a:buNone/>
            </a:pPr>
            <a:endParaRPr/>
          </a:p>
          <a:p xmlns:a="http://schemas.openxmlformats.org/drawingml/2006/main">
            <a:pPr marL="628461" lvl="1" indent="-207901" algn="l" defTabSz="843830">
              <a:lnSpc>
                <a:spcPct val="90000"/>
              </a:lnSpc>
              <a:spcBef>
                <a:spcPts val="462"/>
              </a:spcBef>
              <a:buSzPct val="90000"/>
              <a:buFontTx/>
              <a:buNone/>
            </a:pPr>
            <a:endParaRPr/>
          </a:p>
          <a:p xmlns:a="http://schemas.openxmlformats.org/drawingml/2006/main">
            <a:pPr lvl="1">
              <a:buNone/>
            </a:pPr>
            <a:endParaRPr/>
          </a:p>
        </p:txBody>
      </p:sp>
      <p:sp>
        <p:nvSpPr>
          <p:cNvPr id="17" name="슬라이드 번호 개체 틀 15">
            <a:extLst xmlns:a="http://schemas.openxmlformats.org/drawingml/2006/main">
              <a:ext uri="{FF2B5EF4-FFF2-40B4-BE49-F238E27FC236}">
                <a16:creationId xmlns:a16="http://schemas.microsoft.com/office/drawing/2014/main" id="{D63EAE99-E447-4D3D-BFEE-6F01BCEB93C6}"/>
              </a:ext>
            </a:extLst>
          </p:cNvPr>
          <p:cNvSpPr>
            <a:spLocks xmlns:a="http://schemas.openxmlformats.org/drawingml/2006/main" noGrp="1"/>
          </p:cNvSpPr>
          <p:nvPr/>
        </p:nvSpPr>
        <p:spPr>
          <a:xfrm xmlns:a="http://schemas.openxmlformats.org/drawingml/2006/main">
            <a:off x="6846858" y="6498001"/>
            <a:ext cx="2349501"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lvl="0" defTabSz="914094">
              <a:buNone/>
            </a:pPr>
            <a:r>
              <a:rPr sz="900">
                <a:solidFill>
                  <a:schemeClr val="bg1">
                    <a:lumMod val="50000"/>
                  </a:schemeClr>
                </a:solidFill>
                <a:latin typeface="Samsung Sharp Sans Medium"/>
                <a:ea typeface="Samsung Sharp Sans Medium"/>
                <a:cs typeface="Samsung Sharp Sans Medium"/>
              </a:rPr>
              <a:t>HandAI</a:t>
            </a:r>
          </a:p>
        </p:txBody>
      </p:sp>
    </p:spTree>
  </p:cSld>
</p:sldLayout>
</file>

<file path=ppt/slideLayouts/slideLayout5.xml><?xml version="1.0" encoding="utf-8"?>
<p:sldLayout xmlns:p="http://schemas.openxmlformats.org/presentationml/2006/main" preserve="1" userDrawn="1">
  <p:cSld name="3_Table of Contents">
    <p:spTree>
      <p:nvGrpSpPr>
        <p:cNvPr id="1" name=""/>
        <p:cNvGrpSpPr/>
        <p:nvPr/>
      </p:nvGrpSpPr>
      <p:grpSpPr>
        <a:xfrm xmlns:a="http://schemas.openxmlformats.org/drawingml/2006/main"/>
      </p:grpSpPr>
      <p:pic>
        <p:nvPicPr>
          <p:cNvPr id="19" name="그림 4">
            <a:extLst xmlns:a="http://schemas.openxmlformats.org/drawingml/2006/main">
              <a:ext uri="{FF2B5EF4-FFF2-40B4-BE49-F238E27FC236}">
                <a16:creationId xmlns:a16="http://schemas.microsoft.com/office/drawing/2014/main" id="{241A0E83-8581-4288-8B65-E064F3D69D8A}"/>
              </a:ext>
            </a:extLst>
          </p:cNvPr>
          <p:cNvPicPr>
            <a:picLocks xmlns:a="http://schemas.openxmlformats.org/drawingml/2006/main" noChangeAspect="1"/>
          </p:cNvPicPr>
          <p:nvPr/>
        </p:nvPicPr>
        <p:blipFill>
          <a:blip xmlns:r="http://schemas.openxmlformats.org/officeDocument/2006/relationships" xmlns:a="http://schemas.openxmlformats.org/drawingml/2006/main" r:embed="R3fdeb6493404465e"/>
          <a:stretch xmlns:a="http://schemas.openxmlformats.org/drawingml/2006/main">
            <a:fillRect l="0" t="0" r="0" b="0"/>
          </a:stretch>
        </p:blipFill>
        <p:spPr>
          <a:xfrm xmlns:a="http://schemas.openxmlformats.org/drawingml/2006/main">
            <a:off x="0" y="0"/>
            <a:ext cx="9902825" cy="6858000"/>
          </a:xfrm>
          <a:prstGeom xmlns:a="http://schemas.openxmlformats.org/drawingml/2006/main" prst="rect">
            <a:avLst/>
          </a:prstGeom>
        </p:spPr>
      </p:pic>
      <p:sp>
        <p:nvSpPr>
          <p:cNvPr id="12" name="직선 연결선 11">
            <a:extLst xmlns:a="http://schemas.openxmlformats.org/drawingml/2006/main">
              <a:ext uri="{FF2B5EF4-FFF2-40B4-BE49-F238E27FC236}">
                <a16:creationId xmlns:a16="http://schemas.microsoft.com/office/drawing/2014/main" id="{0DF9527E-F72F-47C4-B2AD-D547C95F5DD2}"/>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17" name="슬라이드 번호 개체 틀 15">
            <a:extLst xmlns:a="http://schemas.openxmlformats.org/drawingml/2006/main">
              <a:ext uri="{FF2B5EF4-FFF2-40B4-BE49-F238E27FC236}">
                <a16:creationId xmlns:a16="http://schemas.microsoft.com/office/drawing/2014/main" id="{D63EAE99-E447-4D3D-BFEE-6F01BCEB93C6}"/>
              </a:ext>
            </a:extLst>
          </p:cNvPr>
          <p:cNvSpPr>
            <a:spLocks xmlns:a="http://schemas.openxmlformats.org/drawingml/2006/main" noGrp="1"/>
          </p:cNvSpPr>
          <p:nvPr/>
        </p:nvSpPr>
        <p:spPr>
          <a:xfrm xmlns:a="http://schemas.openxmlformats.org/drawingml/2006/main">
            <a:off x="6846858" y="6498001"/>
            <a:ext cx="2349501"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lvl="0" defTabSz="914094">
              <a:buNone/>
            </a:pPr>
            <a:r>
              <a:rPr sz="900">
                <a:solidFill>
                  <a:schemeClr val="bg1">
                    <a:lumMod val="50000"/>
                  </a:schemeClr>
                </a:solidFill>
                <a:latin typeface="Samsung Sharp Sans Medium"/>
                <a:ea typeface="Samsung Sharp Sans Medium"/>
                <a:cs typeface="Samsung Sharp Sans Medium"/>
              </a:rPr>
              <a:t>HandAI</a:t>
            </a:r>
          </a:p>
        </p:txBody>
      </p:sp>
    </p:spTree>
  </p:cSld>
</p:sldLayout>
</file>

<file path=ppt/slideLayouts/slideLayout6.xml><?xml version="1.0" encoding="utf-8"?>
<p:sldLayout xmlns:p="http://schemas.openxmlformats.org/presentationml/2006/main" preserve="1" userDrawn="1">
  <p:cSld name="3_Table of Contents2">
    <p:spTree>
      <p:nvGrpSpPr>
        <p:cNvPr id="1" name=""/>
        <p:cNvGrpSpPr/>
        <p:nvPr/>
      </p:nvGrpSpPr>
      <p:grpSpPr>
        <a:xfrm xmlns:a="http://schemas.openxmlformats.org/drawingml/2006/main"/>
      </p:grpSpPr>
      <p:pic>
        <p:nvPicPr>
          <p:cNvPr id="16" name="그림 1">
            <a:extLst xmlns:a="http://schemas.openxmlformats.org/drawingml/2006/main">
              <a:ext uri="{FF2B5EF4-FFF2-40B4-BE49-F238E27FC236}">
                <a16:creationId xmlns:a16="http://schemas.microsoft.com/office/drawing/2014/main" id="{8A05589D-7122-4018-BE44-586D4E75931D}"/>
              </a:ext>
            </a:extLst>
          </p:cNvPr>
          <p:cNvPicPr>
            <a:picLocks xmlns:a="http://schemas.openxmlformats.org/drawingml/2006/main" noChangeAspect="1"/>
          </p:cNvPicPr>
          <p:nvPr/>
        </p:nvPicPr>
        <p:blipFill>
          <a:blip xmlns:r="http://schemas.openxmlformats.org/officeDocument/2006/relationships" xmlns:a="http://schemas.openxmlformats.org/drawingml/2006/main" r:embed="Rb85fd14f7b994e1f"/>
          <a:stretch xmlns:a="http://schemas.openxmlformats.org/drawingml/2006/main">
            <a:fillRect l="0" t="0" r="0" b="0"/>
          </a:stretch>
        </p:blipFill>
        <p:spPr>
          <a:xfrm xmlns:a="http://schemas.openxmlformats.org/drawingml/2006/main">
            <a:off x="-1588" y="0"/>
            <a:ext cx="9902825" cy="6858000"/>
          </a:xfrm>
          <a:prstGeom xmlns:a="http://schemas.openxmlformats.org/drawingml/2006/main" prst="rect">
            <a:avLst/>
          </a:prstGeom>
        </p:spPr>
      </p:pic>
      <p:sp>
        <p:nvSpPr>
          <p:cNvPr id="12" name="직선 연결선 11">
            <a:extLst xmlns:a="http://schemas.openxmlformats.org/drawingml/2006/main">
              <a:ext uri="{FF2B5EF4-FFF2-40B4-BE49-F238E27FC236}">
                <a16:creationId xmlns:a16="http://schemas.microsoft.com/office/drawing/2014/main" id="{6A39A9D2-631E-4089-B61F-39BF751FDA4B}"/>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Tree>
  </p:cSld>
</p:sldLayout>
</file>

<file path=ppt/slideLayouts/slideLayout7.xml><?xml version="1.0" encoding="utf-8"?>
<p:sldLayout xmlns:p="http://schemas.openxmlformats.org/presentationml/2006/main" preserve="1" userDrawn="1">
  <p:cSld name="1_Table of Contents">
    <p:spTree>
      <p:nvGrpSpPr>
        <p:cNvPr id="1" name=""/>
        <p:cNvGrpSpPr/>
        <p:nvPr/>
      </p:nvGrpSpPr>
      <p:grpSpPr>
        <a:xfrm xmlns:a="http://schemas.openxmlformats.org/drawingml/2006/main"/>
      </p:grpSpPr>
      <p:pic>
        <p:nvPicPr>
          <p:cNvPr id="16" name="그림 2">
            <a:extLst xmlns:a="http://schemas.openxmlformats.org/drawingml/2006/main">
              <a:ext uri="{FF2B5EF4-FFF2-40B4-BE49-F238E27FC236}">
                <a16:creationId xmlns:a16="http://schemas.microsoft.com/office/drawing/2014/main" id="{27384C0E-7186-445D-8891-D807FF79CBEC}"/>
              </a:ext>
            </a:extLst>
          </p:cNvPr>
          <p:cNvPicPr>
            <a:picLocks xmlns:a="http://schemas.openxmlformats.org/drawingml/2006/main" noChangeAspect="1"/>
          </p:cNvPicPr>
          <p:nvPr/>
        </p:nvPicPr>
        <p:blipFill>
          <a:blip xmlns:r="http://schemas.openxmlformats.org/officeDocument/2006/relationships" xmlns:a="http://schemas.openxmlformats.org/drawingml/2006/main" r:embed="R8456e11332424fad"/>
          <a:stretch xmlns:a="http://schemas.openxmlformats.org/drawingml/2006/main">
            <a:fillRect l="0" t="0" r="0" b="0"/>
          </a:stretch>
        </p:blipFill>
        <p:spPr>
          <a:xfrm xmlns:a="http://schemas.openxmlformats.org/drawingml/2006/main">
            <a:off x="0" y="0"/>
            <a:ext cx="9902825" cy="6858000"/>
          </a:xfrm>
          <a:prstGeom xmlns:a="http://schemas.openxmlformats.org/drawingml/2006/main" prst="rect">
            <a:avLst/>
          </a:prstGeom>
        </p:spPr>
      </p:pic>
      <p:sp>
        <p:nvSpPr>
          <p:cNvPr id="12" name="직선 연결선 11">
            <a:extLst xmlns:a="http://schemas.openxmlformats.org/drawingml/2006/main">
              <a:ext uri="{FF2B5EF4-FFF2-40B4-BE49-F238E27FC236}">
                <a16:creationId xmlns:a16="http://schemas.microsoft.com/office/drawing/2014/main" id="{BD2872B1-CB5F-4AF2-B4F4-9E633335575F}"/>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3"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4"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7" name="슬라이드 번호 개체 틀 15">
            <a:extLst xmlns:a="http://schemas.openxmlformats.org/drawingml/2006/main">
              <a:ext uri="{FF2B5EF4-FFF2-40B4-BE49-F238E27FC236}">
                <a16:creationId xmlns:a16="http://schemas.microsoft.com/office/drawing/2014/main" id="{E75758B0-2429-4331-898E-5EEED60D4280}"/>
              </a:ext>
            </a:extLst>
          </p:cNvPr>
          <p:cNvSpPr>
            <a:spLocks xmlns:a="http://schemas.openxmlformats.org/drawingml/2006/main" noGrp="1"/>
          </p:cNvSpPr>
          <p:nvPr/>
        </p:nvSpPr>
        <p:spPr>
          <a:xfrm xmlns:a="http://schemas.openxmlformats.org/drawingml/2006/main">
            <a:off x="6846858" y="6498001"/>
            <a:ext cx="2349501"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lvl="0" defTabSz="914094">
              <a:buNone/>
            </a:pPr>
            <a:r>
              <a:rPr sz="900">
                <a:solidFill>
                  <a:schemeClr val="bg1">
                    <a:lumMod val="50000"/>
                  </a:schemeClr>
                </a:solidFill>
                <a:latin typeface="Samsung Sharp Sans Medium"/>
                <a:ea typeface="Samsung Sharp Sans Medium"/>
                <a:cs typeface="Samsung Sharp Sans Medium"/>
              </a:rPr>
              <a:t>HandAI</a:t>
            </a:r>
          </a:p>
        </p:txBody>
      </p:sp>
    </p:spTree>
  </p:cSld>
</p:sldLayout>
</file>

<file path=ppt/slideLayouts/slideLayout8.xml><?xml version="1.0" encoding="utf-8"?>
<p:sldLayout xmlns:p="http://schemas.openxmlformats.org/presentationml/2006/main" type="blank" preserve="1">
  <p:cSld name="Body">
    <p:spTree>
      <p:nvGrpSpPr>
        <p:cNvPr id="1" name=""/>
        <p:cNvGrpSpPr/>
        <p:nvPr/>
      </p:nvGrpSpPr>
      <p:grpSpPr>
        <a:xfrm xmlns:a="http://schemas.openxmlformats.org/drawingml/2006/main"/>
      </p:grpSpPr>
      <p:sp>
        <p:nvSpPr>
          <p:cNvPr id="10" name="직선 연결선 9">
            <a:extLst xmlns:a="http://schemas.openxmlformats.org/drawingml/2006/main">
              <a:ext uri="{FF2B5EF4-FFF2-40B4-BE49-F238E27FC236}">
                <a16:creationId xmlns:a16="http://schemas.microsoft.com/office/drawing/2014/main" id="{59FF33E0-12BE-4627-9B52-9B977DABAF38}"/>
              </a:ext>
            </a:extLst>
          </p:cNvPr>
          <p:cNvSpPr>
            <a:spLocks xmlns:a="http://schemas.openxmlformats.org/drawingml/2006/main" noGrp="1"/>
          </p:cNvSpPr>
          <p:nvPr/>
        </p:nvSpPr>
        <p:spPr>
          <a:xfrm xmlns:a="http://schemas.openxmlformats.org/drawingml/2006/main">
            <a:off x="449468" y="6424935"/>
            <a:ext cx="9000714"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16" name="슬라이드 번호 개체 틀 15">
            <a:extLst xmlns:a="http://schemas.openxmlformats.org/drawingml/2006/main">
              <a:ext uri="{FF2B5EF4-FFF2-40B4-BE49-F238E27FC236}">
                <a16:creationId xmlns:a16="http://schemas.microsoft.com/office/drawing/2014/main" id="{DB8B1220-1660-457F-B990-656A8230EA54}"/>
              </a:ext>
            </a:extLst>
          </p:cNvPr>
          <p:cNvSpPr>
            <a:spLocks xmlns:a="http://schemas.openxmlformats.org/drawingml/2006/main" noGrp="1"/>
          </p:cNvSpPr>
          <p:nvPr/>
        </p:nvSpPr>
        <p:spPr>
          <a:xfrm xmlns:a="http://schemas.openxmlformats.org/drawingml/2006/main">
            <a:off x="8836343" y="6498001"/>
            <a:ext cx="613839"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marR="0" lvl="0" indent="0" algn="r" defTabSz="914094">
              <a:lnSpc>
                <a:spcPct val="100000"/>
              </a:lnSpc>
              <a:spcBef>
                <a:spcPts val="0"/>
              </a:spcBef>
              <a:spcAft>
                <a:spcPts val="0"/>
              </a:spcAft>
              <a:buClrTx/>
              <a:buSzTx/>
              <a:buFontTx/>
              <a:buNone/>
            </a:pPr>
            <a:fld id="{43977B04-C971-4466-AB79-612C9E649B30}" type="slidenum">
              <a:rPr sz="900">
                <a:solidFill>
                  <a:schemeClr val="bg1">
                    <a:lumMod val="50000"/>
                  </a:schemeClr>
                </a:solidFill>
                <a:latin typeface="SamsungOne 400"/>
                <a:ea typeface="SamsungOne 400"/>
                <a:cs typeface="SamsungOne 400"/>
              </a:rPr>
              <a:t>‹#›</a:t>
            </a:fld>
            <a:endParaRPr sz="900">
              <a:solidFill>
                <a:schemeClr val="bg1">
                  <a:lumMod val="50000"/>
                </a:schemeClr>
              </a:solidFill>
              <a:latin typeface="SamsungOne 400"/>
              <a:ea typeface="SamsungOne 400"/>
              <a:cs typeface="SamsungOne 400"/>
            </a:endParaRPr>
          </a:p>
        </p:txBody>
      </p:sp>
      <p:sp>
        <p:nvSpPr>
          <p:cNvPr id="18" name="직사각형 7">
            <a:extLst xmlns:a="http://schemas.openxmlformats.org/drawingml/2006/main">
              <a:ext uri="{FF2B5EF4-FFF2-40B4-BE49-F238E27FC236}">
                <a16:creationId xmlns:a16="http://schemas.microsoft.com/office/drawing/2014/main" id="{AA07D337-B9C3-4E5E-811E-AEFBB17ADEF5}"/>
              </a:ext>
            </a:extLst>
          </p:cNvPr>
          <p:cNvSpPr>
            <a:spLocks xmlns:a="http://schemas.openxmlformats.org/drawingml/2006/main" noGrp="1"/>
          </p:cNvSpPr>
          <p:nvPr/>
        </p:nvSpPr>
        <p:spPr>
          <a:xfrm xmlns:a="http://schemas.openxmlformats.org/drawingml/2006/main">
            <a:off x="449468" y="6498001"/>
            <a:ext cx="2888788" cy="169277"/>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0">
                <a:solidFill>
                  <a:schemeClr val="bg1">
                    <a:lumMod val="50000"/>
                  </a:schemeClr>
                </a:solidFill>
                <a:latin typeface="Samsung Sharp Sans Bold"/>
                <a:ea typeface="Samsung Sharp Sans Bold"/>
                <a:cs typeface="Samsung Sharp Sans Bold"/>
              </a:rPr>
              <a:t>Samsung Innovation Campus</a:t>
            </a:r>
          </a:p>
        </p:txBody>
      </p:sp>
      <p:sp>
        <p:nvSpPr>
          <p:cNvPr id="7" name="직선 연결선 6">
            <a:extLst xmlns:a="http://schemas.openxmlformats.org/drawingml/2006/main">
              <a:ext uri="{FF2B5EF4-FFF2-40B4-BE49-F238E27FC236}">
                <a16:creationId xmlns:a16="http://schemas.microsoft.com/office/drawing/2014/main" id="{F4E07DE9-54CE-46DF-9449-979AA34063F1}"/>
              </a:ext>
            </a:extLst>
          </p:cNvPr>
          <p:cNvSpPr>
            <a:spLocks xmlns:a="http://schemas.openxmlformats.org/drawingml/2006/main" noGrp="1"/>
          </p:cNvSpPr>
          <p:nvPr/>
        </p:nvSpPr>
        <p:spPr>
          <a:xfrm xmlns:a="http://schemas.openxmlformats.org/drawingml/2006/main">
            <a:off x="449468" y="900000"/>
            <a:ext cx="9000714" cy="0"/>
          </a:xfrm>
          <a:prstGeom xmlns:a="http://schemas.openxmlformats.org/drawingml/2006/main" prst="line">
            <a:avLst/>
          </a:prstGeom>
          <a:ln xmlns:a="http://schemas.openxmlformats.org/drawingml/2006/main" w="15875">
            <a:solidFill>
              <a:srgbClr val="0924A5"/>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xmlns:a="http://schemas.openxmlformats.org/drawingml/2006/main">
          <a:bodyPr/>
          <a:p/>
        </p:txBody>
      </p:sp>
      <p:sp>
        <p:nvSpPr>
          <p:cNvPr id="9" name="슬라이드 번호 개체 틀 15">
            <a:extLst xmlns:a="http://schemas.openxmlformats.org/drawingml/2006/main">
              <a:ext uri="{FF2B5EF4-FFF2-40B4-BE49-F238E27FC236}">
                <a16:creationId xmlns:a16="http://schemas.microsoft.com/office/drawing/2014/main" id="{C5960DC7-D671-485D-92B0-FEED6CE658A3}"/>
              </a:ext>
            </a:extLst>
          </p:cNvPr>
          <p:cNvSpPr>
            <a:spLocks xmlns:a="http://schemas.openxmlformats.org/drawingml/2006/main" noGrp="1"/>
          </p:cNvSpPr>
          <p:nvPr/>
        </p:nvSpPr>
        <p:spPr>
          <a:xfrm xmlns:a="http://schemas.openxmlformats.org/drawingml/2006/main">
            <a:off x="6846858" y="6498001"/>
            <a:ext cx="2349501" cy="13849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spAutoFit/>
          </a:bodyPr>
          <a:lstStyle xmlns:a="http://schemas.openxmlformats.org/drawingml/2006/main">
            <a:lvl1pPr algn="r">
              <a:buNone/>
              <a:defRPr sz="900">
                <a:solidFill>
                  <a:schemeClr val="tx1">
                    <a:lumMod val="50000"/>
                    <a:lumOff val="50000"/>
                  </a:schemeClr>
                </a:solidFill>
                <a:latin typeface="SamsungOne 300"/>
                <a:ea typeface="SamsungOne 300"/>
                <a:cs typeface="SamsungOne 300"/>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lvl="0" defTabSz="914094">
              <a:buNone/>
            </a:pPr>
            <a:r>
              <a:rPr sz="900">
                <a:solidFill>
                  <a:schemeClr val="bg1">
                    <a:lumMod val="50000"/>
                  </a:schemeClr>
                </a:solidFill>
                <a:latin typeface="Samsung Sharp Sans Medium"/>
                <a:ea typeface="Samsung Sharp Sans Medium"/>
                <a:cs typeface="Samsung Sharp Sans Medium"/>
              </a:rPr>
              <a:t>HandAI</a:t>
            </a:r>
          </a:p>
        </p:txBody>
      </p:sp>
    </p:spTree>
  </p:cSld>
</p:sldLayout>
</file>

<file path=ppt/slideLayouts/slideLayout9.xml><?xml version="1.0" encoding="utf-8"?>
<p:sldLayout xmlns:p="http://schemas.openxmlformats.org/presentationml/2006/main" type="blank" preserve="1">
  <p:cSld name="last">
    <p:spTree>
      <p:nvGrpSpPr>
        <p:cNvPr id="1" name=""/>
        <p:cNvGrpSpPr/>
        <p:nvPr/>
      </p:nvGrpSpPr>
      <p:grpSpPr>
        <a:xfrm xmlns:a="http://schemas.openxmlformats.org/drawingml/2006/main"/>
      </p:grpSpPr>
      <p:pic>
        <p:nvPicPr>
          <p:cNvPr id="12" name="그림 2">
            <a:extLst xmlns:a="http://schemas.openxmlformats.org/drawingml/2006/main">
              <a:ext uri="{FF2B5EF4-FFF2-40B4-BE49-F238E27FC236}">
                <a16:creationId xmlns:a16="http://schemas.microsoft.com/office/drawing/2014/main" id="{E11020E0-37E3-4ECA-92EB-61497D69B807}"/>
              </a:ext>
            </a:extLst>
          </p:cNvPr>
          <p:cNvPicPr>
            <a:picLocks xmlns:a="http://schemas.openxmlformats.org/drawingml/2006/main" noChangeAspect="1"/>
          </p:cNvPicPr>
          <p:nvPr/>
        </p:nvPicPr>
        <p:blipFill>
          <a:blip xmlns:r="http://schemas.openxmlformats.org/officeDocument/2006/relationships" xmlns:a="http://schemas.openxmlformats.org/drawingml/2006/main" r:embed="R2290897c786d476d"/>
          <a:stretch xmlns:a="http://schemas.openxmlformats.org/drawingml/2006/main">
            <a:fillRect l="0" t="0" r="0" b="0"/>
          </a:stretch>
        </p:blipFill>
        <p:spPr>
          <a:xfrm xmlns:a="http://schemas.openxmlformats.org/drawingml/2006/main">
            <a:off x="2" y="4395"/>
            <a:ext cx="9899651" cy="6853605"/>
          </a:xfrm>
          <a:prstGeom xmlns:a="http://schemas.openxmlformats.org/drawingml/2006/main" prst="rect">
            <a:avLst/>
          </a:prstGeom>
        </p:spPr>
      </p:pic>
      <p:sp>
        <p:nvSpPr>
          <p:cNvPr id="2" name="직사각형 1">
            <a:extLst xmlns:a="http://schemas.openxmlformats.org/drawingml/2006/main">
              <a:ext uri="{FF2B5EF4-FFF2-40B4-BE49-F238E27FC236}">
                <a16:creationId xmlns:a16="http://schemas.microsoft.com/office/drawing/2014/main" id="{3A372916-9C17-47CE-84DB-6A3C0C93C38B}"/>
              </a:ext>
            </a:extLst>
          </p:cNvPr>
          <p:cNvSpPr>
            <a:spLocks xmlns:a="http://schemas.openxmlformats.org/drawingml/2006/main" noGrp="1"/>
          </p:cNvSpPr>
          <p:nvPr/>
        </p:nvSpPr>
        <p:spPr>
          <a:xfrm xmlns:a="http://schemas.openxmlformats.org/drawingml/2006/main">
            <a:off x="2" y="0"/>
            <a:ext cx="9899651" cy="6858000"/>
          </a:xfrm>
          <a:prstGeom xmlns:a="http://schemas.openxmlformats.org/drawingml/2006/main" prst="rect">
            <a:avLst/>
          </a:prstGeom>
          <a:solidFill xmlns:a="http://schemas.openxmlformats.org/drawingml/2006/main">
            <a:srgbClr val="1428A0">
              <a:alpha val="89804"/>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959"/>
          </a:p>
        </p:txBody>
      </p:sp>
      <p:sp>
        <p:nvSpPr>
          <p:cNvPr id="7" name="직사각형 6">
            <a:extLst xmlns:a="http://schemas.openxmlformats.org/drawingml/2006/main">
              <a:ext uri="{FF2B5EF4-FFF2-40B4-BE49-F238E27FC236}">
                <a16:creationId xmlns:a16="http://schemas.microsoft.com/office/drawing/2014/main" id="{782B242C-8600-47F0-98D5-6EA512C41BF2}"/>
              </a:ext>
            </a:extLst>
          </p:cNvPr>
          <p:cNvSpPr>
            <a:spLocks xmlns:a="http://schemas.openxmlformats.org/drawingml/2006/main" noGrp="1"/>
          </p:cNvSpPr>
          <p:nvPr/>
        </p:nvSpPr>
        <p:spPr>
          <a:xfrm xmlns:a="http://schemas.openxmlformats.org/drawingml/2006/main">
            <a:off x="449468" y="5677032"/>
            <a:ext cx="9000714" cy="73096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t">
            <a:spAutoFit/>
          </a:bodyPr>
          <a:lstStyle xmlns:a="http://schemas.openxmlformats.org/drawingml/2006/main"/>
          <a:p xmlns:a="http://schemas.openxmlformats.org/drawingml/2006/main">
            <a:pPr marL="0" marR="0" lvl="0" indent="0" algn="l" defTabSz="914126">
              <a:lnSpc>
                <a:spcPct val="100000"/>
              </a:lnSpc>
              <a:spcBef>
                <a:spcPts val="0"/>
              </a:spcBef>
              <a:spcAft>
                <a:spcPts val="0"/>
              </a:spcAft>
              <a:buClrTx/>
              <a:buSzTx/>
              <a:buFontTx/>
              <a:buNone/>
            </a:pPr>
            <a:r>
              <a:rPr sz="1000" b="0" i="0" u="none" strike="noStrike" cap="none" spc="0" baseline="0">
                <a:ln>
                  <a:noFill/>
                </a:ln>
                <a:solidFill>
                  <a:prstClr val="white"/>
                </a:solidFill>
                <a:latin typeface="SamsungOne 400C"/>
                <a:ea typeface="SamsungOne 400C"/>
                <a:cs typeface="SamsungOne 400C"/>
              </a:rPr>
              <a:t>ⓒ</a:t>
            </a:r>
            <a:r>
              <a:rPr sz="1000" b="0" i="0" u="none" strike="noStrike" cap="none" spc="0" baseline="0">
                <a:ln>
                  <a:noFill/>
                </a:ln>
                <a:solidFill>
                  <a:prstClr val="white"/>
                </a:solidFill>
                <a:latin typeface="SamsungOne 400C"/>
                <a:ea typeface="SamsungOne 400C"/>
                <a:cs typeface="SamsungOne 400C"/>
              </a:rPr>
              <a:t>2023 SAMSUNG. All rights reserved.</a:t>
            </a:r>
          </a:p>
          <a:p xmlns:a="http://schemas.openxmlformats.org/drawingml/2006/main">
            <a:pPr marL="0" marR="0" lvl="0" indent="0" algn="l" defTabSz="914126">
              <a:lnSpc>
                <a:spcPct val="100000"/>
              </a:lnSpc>
              <a:spcBef>
                <a:spcPts val="600"/>
              </a:spcBef>
              <a:spcAft>
                <a:spcPts val="0"/>
              </a:spcAft>
              <a:buClrTx/>
              <a:buSzTx/>
              <a:buFontTx/>
              <a:buNone/>
            </a:pPr>
            <a:r>
              <a:rPr sz="1000" b="0" i="0" u="none" strike="noStrike" cap="none" spc="0" baseline="0">
                <a:ln>
                  <a:noFill/>
                </a:ln>
                <a:solidFill>
                  <a:prstClr val="white"/>
                </a:solidFill>
                <a:latin typeface="SamsungOne 400C"/>
                <a:ea typeface="SamsungOne 400C"/>
                <a:cs typeface="SamsungOne 400C"/>
              </a:rPr>
              <a:t>Samsung Electronics Corporate Citizenship Office holds the copyright of book.</a:t>
            </a:r>
          </a:p>
          <a:p xmlns:a="http://schemas.openxmlformats.org/drawingml/2006/main">
            <a:pPr marL="0" marR="0" lvl="0" indent="0" algn="l" defTabSz="914126">
              <a:lnSpc>
                <a:spcPct val="100000"/>
              </a:lnSpc>
              <a:spcBef>
                <a:spcPts val="300"/>
              </a:spcBef>
              <a:spcAft>
                <a:spcPts val="0"/>
              </a:spcAft>
              <a:buClrTx/>
              <a:buSzTx/>
              <a:buFontTx/>
              <a:buNone/>
            </a:pPr>
            <a:r>
              <a:rPr sz="1000" b="0" i="0" u="none" strike="noStrike" cap="none" spc="0" baseline="0">
                <a:ln>
                  <a:noFill/>
                </a:ln>
                <a:solidFill>
                  <a:prstClr val="white"/>
                </a:solidFill>
                <a:latin typeface="SamsungOne 400C"/>
                <a:ea typeface="SamsungOne 400C"/>
                <a:cs typeface="SamsungOne 400C"/>
              </a:rPr>
              <a:t>This book is a literary property protected by copyright law so reprint and reproduction without permission are prohibited. </a:t>
            </a:r>
          </a:p>
          <a:p xmlns:a="http://schemas.openxmlformats.org/drawingml/2006/main">
            <a:pPr marL="0" marR="0" lvl="0" indent="0" algn="l" defTabSz="914126">
              <a:lnSpc>
                <a:spcPct val="100000"/>
              </a:lnSpc>
              <a:spcBef>
                <a:spcPts val="0"/>
              </a:spcBef>
              <a:spcAft>
                <a:spcPts val="0"/>
              </a:spcAft>
              <a:buClrTx/>
              <a:buSzTx/>
              <a:buFontTx/>
              <a:buNone/>
            </a:pPr>
            <a:r>
              <a:rPr sz="1000" b="0" i="0" u="none" strike="noStrike" cap="none" spc="0" baseline="0">
                <a:ln>
                  <a:noFill/>
                </a:ln>
                <a:solidFill>
                  <a:prstClr val="white"/>
                </a:solidFill>
                <a:latin typeface="SamsungOne 400C"/>
                <a:ea typeface="SamsungOne 400C"/>
                <a:cs typeface="SamsungOne 400C"/>
              </a:rPr>
              <a:t>To use this book other than the curriculum of Samsung Innovation Campus or to use the entire or part of this book, you must receive written consent from copyright holder.</a:t>
            </a:r>
          </a:p>
        </p:txBody>
      </p:sp>
      <p:pic>
        <p:nvPicPr>
          <p:cNvPr id="15" name="그림 3">
            <a:extLst xmlns:a="http://schemas.openxmlformats.org/drawingml/2006/main">
              <a:ext uri="{FF2B5EF4-FFF2-40B4-BE49-F238E27FC236}">
                <a16:creationId xmlns:a16="http://schemas.microsoft.com/office/drawing/2014/main" id="{5BAC3F3C-3C62-471C-AEE7-B55B05B27536}"/>
              </a:ext>
            </a:extLst>
          </p:cNvPr>
          <p:cNvPicPr>
            <a:picLocks xmlns:a="http://schemas.openxmlformats.org/drawingml/2006/main" noChangeAspect="1"/>
          </p:cNvPicPr>
          <p:nvPr/>
        </p:nvPicPr>
        <p:blipFill>
          <a:blip xmlns:r="http://schemas.openxmlformats.org/officeDocument/2006/relationships" xmlns:a="http://schemas.openxmlformats.org/drawingml/2006/main" r:embed="Rea7e1503b6304b1a"/>
          <a:stretch xmlns:a="http://schemas.openxmlformats.org/drawingml/2006/main">
            <a:fillRect l="0" t="0" r="0" b="0"/>
          </a:stretch>
        </p:blipFill>
        <p:spPr>
          <a:xfrm xmlns:a="http://schemas.openxmlformats.org/drawingml/2006/main">
            <a:off x="3711822" y="3022951"/>
            <a:ext cx="2476006" cy="812098"/>
          </a:xfrm>
          <a:prstGeom xmlns:a="http://schemas.openxmlformats.org/drawingml/2006/main" prst="rect">
            <a:avLst/>
          </a:prstGeom>
        </p:spPr>
      </p:pic>
      <p:sp>
        <p:nvSpPr>
          <p:cNvPr id="9" name="Freeform 5">
            <a:extLst xmlns:a="http://schemas.openxmlformats.org/drawingml/2006/main">
              <a:ext uri="{FF2B5EF4-FFF2-40B4-BE49-F238E27FC236}">
                <a16:creationId xmlns:a16="http://schemas.microsoft.com/office/drawing/2014/main" id="{0D8AEED9-5E8F-4A4F-8427-AE314BEC60F8}"/>
              </a:ext>
            </a:extLst>
          </p:cNvPr>
          <p:cNvSpPr>
            <a:spLocks xmlns:a="http://schemas.openxmlformats.org/drawingml/2006/main" noGrp="1"/>
          </p:cNvSpPr>
          <p:nvPr/>
        </p:nvSpPr>
        <p:spPr>
          <a:xfrm xmlns:a="http://schemas.openxmlformats.org/drawingml/2006/main">
            <a:off x="449468" y="450000"/>
            <a:ext cx="1290568" cy="198000"/>
          </a:xfrm>
          <a:custGeom xmlns:a="http://schemas.openxmlformats.org/drawingml/2006/main">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xmlns:a="http://schemas.openxmlformats.org/drawingml/2006/main">
            <a:schemeClr val="bg1"/>
          </a:solidFill>
          <a:ln xmlns:a="http://schemas.openxmlformats.org/drawingml/2006/main">
            <a:noFill/>
          </a:ln>
        </p:spPr>
        <p:txBody>
          <a:bodyPr xmlns:a="http://schemas.openxmlformats.org/drawingml/2006/main" vert="horz" wrap="square" lIns="91411" tIns="45705" rIns="91411" bIns="45705" anchor="t"/>
          <a:lstStyle xmlns:a="http://schemas.openxmlformats.org/drawingml/2006/main"/>
          <a:p xmlns:a="http://schemas.openxmlformats.org/drawingml/2006/main">
            <a:pPr marL="0" marR="0" lvl="0" indent="0" algn="l" defTabSz="914126">
              <a:lnSpc>
                <a:spcPct val="100000"/>
              </a:lnSpc>
              <a:spcBef>
                <a:spcPts val="0"/>
              </a:spcBef>
              <a:spcAft>
                <a:spcPts val="0"/>
              </a:spcAft>
              <a:buClrTx/>
              <a:buSzTx/>
              <a:buFontTx/>
              <a:buNone/>
            </a:pPr>
            <a:endParaRPr sz="1959"/>
          </a:p>
        </p:txBody>
      </p:sp>
    </p:spTree>
  </p:cSld>
</p:sldLayout>
</file>

<file path=ppt/slideLayouts/slideLayout10.xml><?xml version="1.0" encoding="utf-8"?>
<p:sldLayout xmlns:p="http://schemas.openxmlformats.org/presentationml/2006/main" type="blank" preserve="1">
  <p:cSld name="1_Body">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pic>
        <p:nvPicPr>
          <p:cNvPr id="8" name="그림 2">
            <a:extLst xmlns:a="http://schemas.openxmlformats.org/drawingml/2006/main">
              <a:ext uri="{FF2B5EF4-FFF2-40B4-BE49-F238E27FC236}">
                <a16:creationId xmlns:a16="http://schemas.microsoft.com/office/drawing/2014/main" id="{BCE1B918-011E-45F5-B1D3-C30BFB3110FA}"/>
              </a:ext>
            </a:extLst>
          </p:cNvPr>
          <p:cNvPicPr>
            <a:picLocks xmlns:a="http://schemas.openxmlformats.org/drawingml/2006/main" noChangeAspect="1"/>
          </p:cNvPicPr>
          <p:nvPr/>
        </p:nvPicPr>
        <p:blipFill>
          <a:blip xmlns:r="http://schemas.openxmlformats.org/officeDocument/2006/relationships" xmlns:a="http://schemas.openxmlformats.org/drawingml/2006/main" r:embed="R84926b461ac24fbb"/>
          <a:stretch xmlns:a="http://schemas.openxmlformats.org/drawingml/2006/main">
            <a:fillRect l="0" t="0" r="0" b="0"/>
          </a:stretch>
        </p:blipFill>
        <p:spPr>
          <a:xfrm xmlns:a="http://schemas.openxmlformats.org/drawingml/2006/main">
            <a:off x="0" y="0"/>
            <a:ext cx="9902825" cy="6858000"/>
          </a:xfrm>
          <a:prstGeom xmlns:a="http://schemas.openxmlformats.org/drawingml/2006/main" prst="rect">
            <a:avLst/>
          </a:prstGeom>
        </p:spPr>
      </p:pic>
      <p:sp>
        <p:nvSpPr>
          <p:cNvPr id="5" name="Freeform 5">
            <a:extLst xmlns:a="http://schemas.openxmlformats.org/drawingml/2006/main">
              <a:ext uri="{FF2B5EF4-FFF2-40B4-BE49-F238E27FC236}">
                <a16:creationId xmlns:a16="http://schemas.microsoft.com/office/drawing/2014/main" id="{0D8AEED9-5E8F-4A4F-8427-AE314BEC60F8}"/>
              </a:ext>
            </a:extLst>
          </p:cNvPr>
          <p:cNvSpPr>
            <a:spLocks xmlns:a="http://schemas.openxmlformats.org/drawingml/2006/main" noGrp="1"/>
          </p:cNvSpPr>
          <p:nvPr/>
        </p:nvSpPr>
        <p:spPr>
          <a:xfrm xmlns:a="http://schemas.openxmlformats.org/drawingml/2006/main">
            <a:off x="449468" y="450000"/>
            <a:ext cx="1282022" cy="198000"/>
          </a:xfrm>
          <a:custGeom xmlns:a="http://schemas.openxmlformats.org/drawingml/2006/main">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xmlns:a="http://schemas.openxmlformats.org/drawingml/2006/main">
            <a:srgbClr val="0924A5"/>
          </a:solidFill>
          <a:ln xmlns:a="http://schemas.openxmlformats.org/drawingml/2006/main">
            <a:noFill/>
          </a:ln>
        </p:spPr>
        <p:txBody>
          <a:bodyPr xmlns:a="http://schemas.openxmlformats.org/drawingml/2006/main" vert="horz" wrap="square" lIns="91411" tIns="45705" rIns="91411" bIns="45705" anchor="t"/>
          <a:lstStyle xmlns:a="http://schemas.openxmlformats.org/drawingml/2006/main"/>
          <a:p xmlns:a="http://schemas.openxmlformats.org/drawingml/2006/main">
            <a:pPr marL="0" marR="0" lvl="0" indent="0" algn="l" defTabSz="914126">
              <a:lnSpc>
                <a:spcPct val="100000"/>
              </a:lnSpc>
              <a:spcBef>
                <a:spcPts val="0"/>
              </a:spcBef>
              <a:spcAft>
                <a:spcPts val="0"/>
              </a:spcAft>
              <a:buClrTx/>
              <a:buSzTx/>
              <a:buFontTx/>
              <a:buNone/>
            </a:pPr>
            <a:endParaRPr sz="1959"/>
          </a:p>
        </p:txBody>
      </p:sp>
      <p:pic>
        <p:nvPicPr>
          <p:cNvPr id="10" name="그림 7">
            <a:extLst xmlns:a="http://schemas.openxmlformats.org/drawingml/2006/main">
              <a:ext uri="{FF2B5EF4-FFF2-40B4-BE49-F238E27FC236}">
                <a16:creationId xmlns:a16="http://schemas.microsoft.com/office/drawing/2014/main" id="{B066D9BD-EA2B-4EF9-AE87-A801B879C6FE}"/>
              </a:ext>
            </a:extLst>
          </p:cNvPr>
          <p:cNvPicPr>
            <a:picLocks xmlns:a="http://schemas.openxmlformats.org/drawingml/2006/main" noChangeAspect="1"/>
          </p:cNvPicPr>
          <p:nvPr/>
        </p:nvPicPr>
        <p:blipFill>
          <a:blip xmlns:r="http://schemas.openxmlformats.org/officeDocument/2006/relationships" xmlns:a="http://schemas.openxmlformats.org/drawingml/2006/main" r:embed="R9845c3f38568433b"/>
          <a:stretch xmlns:a="http://schemas.openxmlformats.org/drawingml/2006/main">
            <a:fillRect l="0" t="0" r="0" b="0"/>
          </a:stretch>
        </p:blipFill>
        <p:spPr>
          <a:xfrm xmlns:a="http://schemas.openxmlformats.org/drawingml/2006/main">
            <a:off x="4265631" y="6141164"/>
            <a:ext cx="1371564" cy="450000"/>
          </a:xfrm>
          <a:prstGeom xmlns:a="http://schemas.openxmlformats.org/drawingml/2006/main" prst="rect">
            <a:avLst/>
          </a:prstGeom>
        </p:spPr>
      </p:pic>
    </p:spTree>
  </p:cSld>
</p:sldLayout>
</file>

<file path=ppt/slideMasters/_rels/slideMaster1.xml.rels><?xml version='1.0' encoding='UTF-8' standalone='yes'?>
<Relationships xmlns="http://schemas.openxmlformats.org/package/2006/relationships"><Relationship Id="R01400c6272bf4b8b" Type="http://schemas.openxmlformats.org/officeDocument/2006/relationships/slideLayout" Target="../slideLayouts/slideLayout7.xml"/><Relationship Id="R0897c9a4b6a64f61" Type="http://schemas.openxmlformats.org/officeDocument/2006/relationships/slideLayout" Target="../slideLayouts/slideLayout9.xml"/><Relationship Id="R106d66bb085a4836" Type="http://schemas.openxmlformats.org/officeDocument/2006/relationships/slideLayout" Target="../slideLayouts/slideLayout3.xml"/><Relationship Id="R112521320d7443be" Type="http://schemas.openxmlformats.org/officeDocument/2006/relationships/slideLayout" Target="../slideLayouts/slideLayout10.xml"/><Relationship Id="R1bdbec0de6414c80" Type="http://schemas.openxmlformats.org/officeDocument/2006/relationships/slideLayout" Target="../slideLayouts/slideLayout2.xml"/><Relationship Id="R72b28faacec34f5b" Type="http://schemas.openxmlformats.org/officeDocument/2006/relationships/slideLayout" Target="../slideLayouts/slideLayout8.xml"/><Relationship Id="R8caa7175bc534dbe" Type="http://schemas.openxmlformats.org/officeDocument/2006/relationships/slideLayout" Target="../slideLayouts/slideLayout6.xml"/><Relationship Id="R8f012bf628c44fa6" Type="http://schemas.openxmlformats.org/officeDocument/2006/relationships/slideLayout" Target="../slideLayouts/slideLayout4.xml"/><Relationship Id="Rb32cac239df34b5d" Type="http://schemas.openxmlformats.org/officeDocument/2006/relationships/theme" Target="theme/theme2.xml"/><Relationship Id="Rc85eb9e97dde4132" Type="http://schemas.openxmlformats.org/officeDocument/2006/relationships/slideLayout" Target="../slideLayouts/slideLayout1.xml"/><Relationship Id="Re07631a20d934064" Type="http://schemas.openxmlformats.org/officeDocument/2006/relationships/slideLayout" Target="../slideLayouts/slideLayout5.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5eb9e97dde4132"/>
    <p:sldLayoutId xmlns:r="http://schemas.openxmlformats.org/officeDocument/2006/relationships" id="2147483650" r:id="R1bdbec0de6414c80"/>
    <p:sldLayoutId xmlns:r="http://schemas.openxmlformats.org/officeDocument/2006/relationships" id="2147483651" r:id="R106d66bb085a4836"/>
    <p:sldLayoutId xmlns:r="http://schemas.openxmlformats.org/officeDocument/2006/relationships" id="2147483652" r:id="R8f012bf628c44fa6"/>
    <p:sldLayoutId xmlns:r="http://schemas.openxmlformats.org/officeDocument/2006/relationships" id="2147483653" r:id="Re07631a20d934064"/>
    <p:sldLayoutId xmlns:r="http://schemas.openxmlformats.org/officeDocument/2006/relationships" id="2147483654" r:id="R8caa7175bc534dbe"/>
    <p:sldLayoutId xmlns:r="http://schemas.openxmlformats.org/officeDocument/2006/relationships" id="2147483655" r:id="R01400c6272bf4b8b"/>
    <p:sldLayoutId xmlns:r="http://schemas.openxmlformats.org/officeDocument/2006/relationships" id="2147483656" r:id="R72b28faacec34f5b"/>
    <p:sldLayoutId xmlns:r="http://schemas.openxmlformats.org/officeDocument/2006/relationships" id="2147483657" r:id="R0897c9a4b6a64f61"/>
    <p:sldLayoutId xmlns:r="http://schemas.openxmlformats.org/officeDocument/2006/relationships" id="2147483658" r:id="R112521320d7443be"/>
  </p:sldLayoutIdLst>
  <p:txStyles>
    <p:titleStyle>
      <a:lvl1pPr xmlns:a="http://schemas.openxmlformats.org/drawingml/2006/main" algn="l" defTabSz="914126">
        <a:lnSpc>
          <a:spcPct val="90000"/>
        </a:lnSpc>
        <a:spcBef>
          <a:spcPct val="0"/>
        </a:spcBef>
        <a:buNone/>
        <a:defRPr sz="4399" kern="1200">
          <a:solidFill>
            <a:schemeClr val="tx1"/>
          </a:solidFill>
          <a:latin typeface="+mj-lt"/>
          <a:ea typeface="+mj-lt"/>
          <a:cs typeface="+mj-lt"/>
        </a:defRPr>
      </a:lvl1pPr>
    </p:titleStyle>
    <p:bodyStyle>
      <a:lvl1pPr xmlns:a="http://schemas.openxmlformats.org/drawingml/2006/main" marL="228531" indent="-228531" algn="l" defTabSz="914126">
        <a:lnSpc>
          <a:spcPct val="90000"/>
        </a:lnSpc>
        <a:spcBef>
          <a:spcPts val="1000"/>
        </a:spcBef>
        <a:buFont typeface="Arial"/>
        <a:buChar char="•"/>
        <a:defRPr sz="2799" kern="1200">
          <a:solidFill>
            <a:schemeClr val="tx1"/>
          </a:solidFill>
          <a:latin typeface="+mn-lt"/>
          <a:ea typeface="+mn-lt"/>
          <a:cs typeface="+mn-lt"/>
        </a:defRPr>
      </a:lvl1pPr>
      <a:lvl2pPr xmlns:a="http://schemas.openxmlformats.org/drawingml/2006/main" marL="685594" indent="-228531" algn="l" defTabSz="914126">
        <a:lnSpc>
          <a:spcPct val="90000"/>
        </a:lnSpc>
        <a:spcBef>
          <a:spcPts val="500"/>
        </a:spcBef>
        <a:buFont typeface="Arial"/>
        <a:buChar char="•"/>
        <a:defRPr sz="2399" kern="1200">
          <a:solidFill>
            <a:schemeClr val="tx1"/>
          </a:solidFill>
          <a:latin typeface="+mn-lt"/>
          <a:ea typeface="+mn-lt"/>
          <a:cs typeface="+mn-lt"/>
        </a:defRPr>
      </a:lvl2pPr>
      <a:lvl3pPr xmlns:a="http://schemas.openxmlformats.org/drawingml/2006/main" marL="1142657" indent="-228531" algn="l" defTabSz="914126">
        <a:lnSpc>
          <a:spcPct val="90000"/>
        </a:lnSpc>
        <a:spcBef>
          <a:spcPts val="500"/>
        </a:spcBef>
        <a:buFont typeface="Arial"/>
        <a:buChar char="•"/>
        <a:defRPr sz="1999" kern="1200">
          <a:solidFill>
            <a:schemeClr val="tx1"/>
          </a:solidFill>
          <a:latin typeface="+mn-lt"/>
          <a:ea typeface="+mn-lt"/>
          <a:cs typeface="+mn-lt"/>
        </a:defRPr>
      </a:lvl3pPr>
      <a:lvl4pPr xmlns:a="http://schemas.openxmlformats.org/drawingml/2006/main" marL="1599720" indent="-228531" algn="l" defTabSz="914126">
        <a:lnSpc>
          <a:spcPct val="90000"/>
        </a:lnSpc>
        <a:spcBef>
          <a:spcPts val="500"/>
        </a:spcBef>
        <a:buFont typeface="Arial"/>
        <a:buChar char="•"/>
        <a:defRPr sz="1799" kern="1200">
          <a:solidFill>
            <a:schemeClr val="tx1"/>
          </a:solidFill>
          <a:latin typeface="+mn-lt"/>
          <a:ea typeface="+mn-lt"/>
          <a:cs typeface="+mn-lt"/>
        </a:defRPr>
      </a:lvl4pPr>
      <a:lvl5pPr xmlns:a="http://schemas.openxmlformats.org/drawingml/2006/main" marL="2056783" indent="-228531" algn="l" defTabSz="914126">
        <a:lnSpc>
          <a:spcPct val="90000"/>
        </a:lnSpc>
        <a:spcBef>
          <a:spcPts val="500"/>
        </a:spcBef>
        <a:buFont typeface="Arial"/>
        <a:buChar char="•"/>
        <a:defRPr sz="1799" kern="1200">
          <a:solidFill>
            <a:schemeClr val="tx1"/>
          </a:solidFill>
          <a:latin typeface="+mn-lt"/>
          <a:ea typeface="+mn-lt"/>
          <a:cs typeface="+mn-lt"/>
        </a:defRPr>
      </a:lvl5pPr>
      <a:lvl6pPr xmlns:a="http://schemas.openxmlformats.org/drawingml/2006/main" marL="2513846" indent="-228531" algn="l" defTabSz="914126">
        <a:lnSpc>
          <a:spcPct val="90000"/>
        </a:lnSpc>
        <a:spcBef>
          <a:spcPts val="500"/>
        </a:spcBef>
        <a:buFont typeface="Arial"/>
        <a:buChar char="•"/>
        <a:defRPr sz="1799" kern="1200">
          <a:solidFill>
            <a:schemeClr val="tx1"/>
          </a:solidFill>
          <a:latin typeface="+mn-lt"/>
          <a:ea typeface="+mn-lt"/>
          <a:cs typeface="+mn-lt"/>
        </a:defRPr>
      </a:lvl6pPr>
      <a:lvl7pPr xmlns:a="http://schemas.openxmlformats.org/drawingml/2006/main" marL="2970908" indent="-228531" algn="l" defTabSz="914126">
        <a:lnSpc>
          <a:spcPct val="90000"/>
        </a:lnSpc>
        <a:spcBef>
          <a:spcPts val="500"/>
        </a:spcBef>
        <a:buFont typeface="Arial"/>
        <a:buChar char="•"/>
        <a:defRPr sz="1799" kern="1200">
          <a:solidFill>
            <a:schemeClr val="tx1"/>
          </a:solidFill>
          <a:latin typeface="+mn-lt"/>
          <a:ea typeface="+mn-lt"/>
          <a:cs typeface="+mn-lt"/>
        </a:defRPr>
      </a:lvl7pPr>
      <a:lvl8pPr xmlns:a="http://schemas.openxmlformats.org/drawingml/2006/main" marL="3427971" indent="-228531" algn="l" defTabSz="914126">
        <a:lnSpc>
          <a:spcPct val="90000"/>
        </a:lnSpc>
        <a:spcBef>
          <a:spcPts val="500"/>
        </a:spcBef>
        <a:buFont typeface="Arial"/>
        <a:buChar char="•"/>
        <a:defRPr sz="1799" kern="1200">
          <a:solidFill>
            <a:schemeClr val="tx1"/>
          </a:solidFill>
          <a:latin typeface="+mn-lt"/>
          <a:ea typeface="+mn-lt"/>
          <a:cs typeface="+mn-lt"/>
        </a:defRPr>
      </a:lvl8pPr>
      <a:lvl9pPr xmlns:a="http://schemas.openxmlformats.org/drawingml/2006/main" marL="3885034" indent="-228531" algn="l" defTabSz="914126">
        <a:lnSpc>
          <a:spcPct val="90000"/>
        </a:lnSpc>
        <a:spcBef>
          <a:spcPts val="500"/>
        </a:spcBef>
        <a:buFont typeface="Arial"/>
        <a:buChar char="•"/>
        <a:defRPr sz="1799" kern="1200">
          <a:solidFill>
            <a:schemeClr val="tx1"/>
          </a:solidFill>
          <a:latin typeface="+mn-lt"/>
          <a:ea typeface="+mn-lt"/>
          <a:cs typeface="+mn-lt"/>
        </a:defRPr>
      </a:lvl9pPr>
    </p:bodyStyle>
    <p:otherStyle>
      <a:lvl1pPr xmlns:a="http://schemas.openxmlformats.org/drawingml/2006/main" marL="0" algn="l" defTabSz="914126">
        <a:buNone/>
        <a:defRPr sz="1799" kern="1200">
          <a:solidFill>
            <a:schemeClr val="tx1"/>
          </a:solidFill>
          <a:latin typeface="+mn-lt"/>
          <a:ea typeface="+mn-lt"/>
          <a:cs typeface="+mn-lt"/>
        </a:defRPr>
      </a:lvl1pPr>
      <a:lvl2pPr xmlns:a="http://schemas.openxmlformats.org/drawingml/2006/main" marL="457063" algn="l" defTabSz="914126">
        <a:buNone/>
        <a:defRPr sz="1799" kern="1200">
          <a:solidFill>
            <a:schemeClr val="tx1"/>
          </a:solidFill>
          <a:latin typeface="+mn-lt"/>
          <a:ea typeface="+mn-lt"/>
          <a:cs typeface="+mn-lt"/>
        </a:defRPr>
      </a:lvl2pPr>
      <a:lvl3pPr xmlns:a="http://schemas.openxmlformats.org/drawingml/2006/main" marL="914126" algn="l" defTabSz="914126">
        <a:buNone/>
        <a:defRPr sz="1799" kern="1200">
          <a:solidFill>
            <a:schemeClr val="tx1"/>
          </a:solidFill>
          <a:latin typeface="+mn-lt"/>
          <a:ea typeface="+mn-lt"/>
          <a:cs typeface="+mn-lt"/>
        </a:defRPr>
      </a:lvl3pPr>
      <a:lvl4pPr xmlns:a="http://schemas.openxmlformats.org/drawingml/2006/main" marL="1371189" algn="l" defTabSz="914126">
        <a:buNone/>
        <a:defRPr sz="1799" kern="1200">
          <a:solidFill>
            <a:schemeClr val="tx1"/>
          </a:solidFill>
          <a:latin typeface="+mn-lt"/>
          <a:ea typeface="+mn-lt"/>
          <a:cs typeface="+mn-lt"/>
        </a:defRPr>
      </a:lvl4pPr>
      <a:lvl5pPr xmlns:a="http://schemas.openxmlformats.org/drawingml/2006/main" marL="1828251" algn="l" defTabSz="914126">
        <a:buNone/>
        <a:defRPr sz="1799" kern="1200">
          <a:solidFill>
            <a:schemeClr val="tx1"/>
          </a:solidFill>
          <a:latin typeface="+mn-lt"/>
          <a:ea typeface="+mn-lt"/>
          <a:cs typeface="+mn-lt"/>
        </a:defRPr>
      </a:lvl5pPr>
      <a:lvl6pPr xmlns:a="http://schemas.openxmlformats.org/drawingml/2006/main" marL="2285314" algn="l" defTabSz="914126">
        <a:buNone/>
        <a:defRPr sz="1799" kern="1200">
          <a:solidFill>
            <a:schemeClr val="tx1"/>
          </a:solidFill>
          <a:latin typeface="+mn-lt"/>
          <a:ea typeface="+mn-lt"/>
          <a:cs typeface="+mn-lt"/>
        </a:defRPr>
      </a:lvl6pPr>
      <a:lvl7pPr xmlns:a="http://schemas.openxmlformats.org/drawingml/2006/main" marL="2742377" algn="l" defTabSz="914126">
        <a:buNone/>
        <a:defRPr sz="1799" kern="1200">
          <a:solidFill>
            <a:schemeClr val="tx1"/>
          </a:solidFill>
          <a:latin typeface="+mn-lt"/>
          <a:ea typeface="+mn-lt"/>
          <a:cs typeface="+mn-lt"/>
        </a:defRPr>
      </a:lvl7pPr>
      <a:lvl8pPr xmlns:a="http://schemas.openxmlformats.org/drawingml/2006/main" marL="3199440" algn="l" defTabSz="914126">
        <a:buNone/>
        <a:defRPr sz="1799" kern="1200">
          <a:solidFill>
            <a:schemeClr val="tx1"/>
          </a:solidFill>
          <a:latin typeface="+mn-lt"/>
          <a:ea typeface="+mn-lt"/>
          <a:cs typeface="+mn-lt"/>
        </a:defRPr>
      </a:lvl8pPr>
      <a:lvl9pPr xmlns:a="http://schemas.openxmlformats.org/drawingml/2006/main" marL="3656503" algn="l" defTabSz="914126">
        <a:buNone/>
        <a:defRPr sz="1799"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c0b6b33c4f14ba7" Type="http://schemas.openxmlformats.org/officeDocument/2006/relationships/notesSlide" Target="../notesSlides/notesSlide1.xml"/><Relationship Id="R121cd0133d82405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48ca56992e99423b" Type="http://schemas.openxmlformats.org/officeDocument/2006/relationships/slideLayout" Target="../slideLayouts/slideLayout6.xml"/><Relationship Id="R8a2e652c8ab94b7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91d4780c9aa6455a" Type="http://schemas.openxmlformats.org/officeDocument/2006/relationships/slideLayout" Target="../slideLayouts/slideLayout4.xml"/><Relationship Id="Rdb41b206d98c436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8e2ee5682a6a4dc0" Type="http://schemas.openxmlformats.org/officeDocument/2006/relationships/slideLayout" Target="../slideLayouts/slideLayout4.xml"/><Relationship Id="Rf28f9f0c46bc4f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bc186097ada4b87" Type="http://schemas.openxmlformats.org/officeDocument/2006/relationships/notesSlide" Target="../notesSlides/notesSlide5.xml"/><Relationship Id="R5f9338b291834405"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b9b8248cbd8b4fb2" Type="http://schemas.openxmlformats.org/officeDocument/2006/relationships/notesSlide" Target="../notesSlides/notesSlide7.xml"/><Relationship Id="Rb9d749bda02d4735" Type="http://schemas.openxmlformats.org/officeDocument/2006/relationships/slideLayout" Target="../slideLayouts/slideLayout4.xml"/><Relationship Id="rId3" Type="http://schemas.openxmlformats.org/officeDocument/2006/relationships/image" Target="../media/image16.jp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02a88634c1ae43e8" Type="http://schemas.openxmlformats.org/officeDocument/2006/relationships/slideLayout" Target="../slideLayouts/slideLayout4.xml"/><Relationship Id="R7d5a3f24be4d4840"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44e8ed573140473a" Type="http://schemas.openxmlformats.org/officeDocument/2006/relationships/notesSlide" Target="../notesSlides/notesSlide9.xml"/><Relationship Id="Rd8430283215b47ca" Type="http://schemas.openxmlformats.org/officeDocument/2006/relationships/slideLayout" Target="../slideLayouts/slideLayout4.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21a532b21f564998" Type="http://schemas.openxmlformats.org/officeDocument/2006/relationships/slideLayout" Target="../slideLayouts/slideLayout4.xml"/><Relationship Id="R8f1f0c00e796417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3275a754084c4159" Type="http://schemas.openxmlformats.org/officeDocument/2006/relationships/notesSlide" Target="../notesSlides/notesSlide12.xml"/><Relationship Id="Rfc411816a9ca4c8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51bc9f8978734746" Type="http://schemas.openxmlformats.org/officeDocument/2006/relationships/notesSlide" Target="../notesSlides/notesSlide14.xml"/><Relationship Id="R82d662b3d30c4d38"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8e687062a5e1401f" Type="http://schemas.openxmlformats.org/officeDocument/2006/relationships/notesSlide" Target="../notesSlides/notesSlide15.xml"/><Relationship Id="Rada1f13d53af4aa3" Type="http://schemas.openxmlformats.org/officeDocument/2006/relationships/slideLayout" Target="../slideLayouts/slideLayout4.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45ab5896b0274002" Type="http://schemas.openxmlformats.org/officeDocument/2006/relationships/slideLayout" Target="../slideLayouts/slideLayout4.xml"/><Relationship Id="Rd6539f0cb6384d99"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b758541e703a4a10" Type="http://schemas.openxmlformats.org/officeDocument/2006/relationships/notesSlide" Target="../notesSlides/notesSlide17.xml"/><Relationship Id="Rfffc1fa7470b4caa"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987ec20e827b4152" Type="http://schemas.openxmlformats.org/officeDocument/2006/relationships/notesSlide" Target="../notesSlides/notesSlide18.xml"/><Relationship Id="Rc2cc73b5d1eb46c6" Type="http://schemas.openxmlformats.org/officeDocument/2006/relationships/slideLayout" Target="../slideLayouts/slideLayout4.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a0d3490ebe674aa6" Type="http://schemas.openxmlformats.org/officeDocument/2006/relationships/slideLayout" Target="../slideLayouts/slideLayout4.xml"/><Relationship Id="Rbfdfd7dffb564110" Type="http://schemas.openxmlformats.org/officeDocument/2006/relationships/notesSlide" Target="../notesSlides/notesSlide19.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c5ab1c6d99ec48a0" Type="http://schemas.openxmlformats.org/officeDocument/2006/relationships/slideLayout" Target="../slideLayouts/slideLayout4.xml"/><Relationship Id="Rfc7118c8829648d9"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cf8efa5b647543d6" Type="http://schemas.openxmlformats.org/officeDocument/2006/relationships/notesSlide" Target="../notesSlides/notesSlide22.xml"/><Relationship Id="Rd63168ed66aa46fa"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30e4ad4693924226" Type="http://schemas.openxmlformats.org/officeDocument/2006/relationships/slideLayout" Target="../slideLayouts/slideLayout4.xml"/><Relationship Id="R7a311dc3b0fa4758"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8d8b9a28a9c1466e" Type="http://schemas.openxmlformats.org/officeDocument/2006/relationships/notesSlide" Target="../notesSlides/notesSlide25.xml"/><Relationship Id="Re3042573bdf548c2" Type="http://schemas.openxmlformats.org/officeDocument/2006/relationships/slideLayout" Target="../slideLayouts/slideLayout9.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텍스트 개체 틀 4">
            <a:extLst xmlns:a="http://schemas.openxmlformats.org/drawingml/2006/main">
              <a:ext uri="{FF2B5EF4-FFF2-40B4-BE49-F238E27FC236}">
                <a16:creationId xmlns:a16="http://schemas.microsoft.com/office/drawing/2014/main" id="{9ABA57D5-7920-4C59-8990-1FDF22441FA6}"/>
              </a:ext>
            </a:extLst>
          </p:cNvPr>
          <p:cNvSpPr>
            <a:spLocks xmlns:a="http://schemas.openxmlformats.org/drawingml/2006/main" noGrp="1"/>
          </p:cNvSpPr>
          <p:nvPr>
            <p:ph type="body" idx="11"/>
          </p:nvPr>
        </p:nvSpPr>
        <p:spPr>
          <a:xfrm xmlns:a="http://schemas.openxmlformats.org/drawingml/2006/main">
            <a:off x="722376" y="3547872"/>
            <a:ext cx="8522208" cy="365760"/>
          </a:xfrm>
        </p:spPr>
        <p:txBody>
          <a:bodyPr xmlns:a="http://schemas.openxmlformats.org/drawingml/2006/main"/>
          <a:lstStyle xmlns:a="http://schemas.openxmlformats.org/drawingml/2006/main"/>
          <a:p xmlns:a="http://schemas.openxmlformats.org/drawingml/2006/main">
            <a:r>
              <a:rPr sz="1600">
                <a:latin typeface="Arial"/>
                <a:ea typeface="+mj-lt"/>
                <a:cs typeface="+mj-lt"/>
              </a:rPr>
              <a:t>NGUYEN VAN DUY MANH  ·  TRAN HOAI NAM</a:t>
            </a:r>
            <a:endParaRPr>
              <a:latin typeface="+mj-lt"/>
              <a:ea typeface="+mj-lt"/>
              <a:cs typeface="+mj-lt"/>
            </a:endParaRPr>
          </a:p>
        </p:txBody>
      </p:sp>
      <p:sp>
        <p:nvSpPr>
          <p:cNvPr id="4" name="제목 3">
            <a:extLst xmlns:a="http://schemas.openxmlformats.org/drawingml/2006/main">
              <a:ext uri="{FF2B5EF4-FFF2-40B4-BE49-F238E27FC236}">
                <a16:creationId xmlns:a16="http://schemas.microsoft.com/office/drawing/2014/main" id="{51786819-9BFB-478D-BAE7-57DB1DEACF78}"/>
              </a:ext>
            </a:extLst>
          </p:cNvPr>
          <p:cNvSpPr>
            <a:spLocks xmlns:a="http://schemas.openxmlformats.org/drawingml/2006/main" noGrp="1"/>
          </p:cNvSpPr>
          <p:nvPr>
            <p:ph type="title" idx="0"/>
          </p:nvPr>
        </p:nvSpPr>
        <p:spPr>
          <a:xfrm xmlns:a="http://schemas.openxmlformats.org/drawingml/2006/main">
            <a:off x="719999" y="1710000"/>
            <a:ext cx="9021159" cy="1477328"/>
          </a:xfrm>
        </p:spPr>
        <p:txBody>
          <a:bodyPr xmlns:a="http://schemas.openxmlformats.org/drawingml/2006/main"/>
          <a:lstStyle xmlns:a="http://schemas.openxmlformats.org/drawingml/2006/main"/>
          <a:p xmlns:a="http://schemas.openxmlformats.org/drawingml/2006/main">
            <a:r>
              <a:rPr sz="3100">
                <a:latin typeface="Arial"/>
                <a:ea typeface="+mj-lt"/>
                <a:cs typeface="+mj-lt"/>
              </a:rPr>
              <a:t>HandAI</a:t>
            </a:r>
            <a:endParaRPr>
              <a:latin typeface="+mj-lt"/>
              <a:ea typeface="+mj-lt"/>
              <a:cs typeface="+mj-lt"/>
            </a:endParaRPr>
          </a:p>
          <a:p xmlns:a="http://schemas.openxmlformats.org/drawingml/2006/main">
            <a:r>
              <a:rPr sz="3100">
                <a:latin typeface="Arial"/>
                <a:ea typeface="+mj-lt"/>
                <a:cs typeface="+mj-lt"/>
              </a:rPr>
              <a:t>Vietnamese Handwriting Recognition</a:t>
            </a:r>
            <a:endParaRPr>
              <a:latin typeface="+mj-lt"/>
              <a:ea typeface="+mj-lt"/>
              <a:cs typeface="+mj-lt"/>
            </a:endParaRPr>
          </a:p>
        </p:txBody>
      </p:sp>
    </p:spTree>
    <p:extLst>
      <p:ext uri="{BB962C8B-B14F-4D97-AF65-F5344CB8AC3E}">
        <p14:creationId xmlns:p14="http://schemas.microsoft.com/office/powerpoint/2010/main" val="40091226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713232" y="356616"/>
            <a:ext cx="8412480"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FFFFFF"/>
                </a:solidFill>
                <a:latin typeface="Arial"/>
              </a:rPr>
              <a:t>HandAI Capstone Defense</a:t>
            </a:r>
          </a:p>
        </p:txBody>
      </p:sp>
      <p:sp xmlns:a="http://schemas.openxmlformats.org/drawingml/2006/main">
        <p:nvSpPr>
          <p:cNvPr id="3" name="Rounded Rectangle 2"/>
          <p:cNvSpPr/>
          <p:nvPr/>
        </p:nvSpPr>
        <p:spPr>
          <a:xfrm>
            <a:off x="713232" y="1883664"/>
            <a:ext cx="3867912" cy="1627632"/>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868680" y="2020824"/>
            <a:ext cx="3557016"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01  Problem and contribution</a:t>
            </a:r>
          </a:p>
        </p:txBody>
      </p:sp>
      <p:sp xmlns:a="http://schemas.openxmlformats.org/drawingml/2006/main">
        <p:nvSpPr>
          <p:cNvPr id="5" name="TextBox 4"/>
          <p:cNvSpPr txBox="1"/>
          <p:nvPr/>
        </p:nvSpPr>
        <p:spPr>
          <a:xfrm>
            <a:off x="868680" y="2386584"/>
            <a:ext cx="3557016" cy="1033271"/>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Vietnamese handwriting</a:t>
            </a:r>
          </a:p>
          <a:p>
            <a:pPr>
              <a:lnSpc>
                <a:spcPct val="100000"/>
              </a:lnSpc>
              <a:spcBef>
                <a:spcPts val="0"/>
              </a:spcBef>
              <a:spcAft>
                <a:spcPts val="0"/>
              </a:spcAft>
            </a:pPr>
            <a:r>
              <a:rPr sz="2000" b="0">
                <a:solidFill>
                  <a:srgbClr val="14233B"/>
                </a:solidFill>
                <a:latin typeface="Arial"/>
              </a:rPr>
              <a:t>Project scope and 30-day plan</a:t>
            </a:r>
          </a:p>
        </p:txBody>
      </p:sp>
      <p:sp xmlns:a="http://schemas.openxmlformats.org/drawingml/2006/main">
        <p:nvSpPr>
          <p:cNvPr id="6" name="Rounded Rectangle 5"/>
          <p:cNvSpPr/>
          <p:nvPr/>
        </p:nvSpPr>
        <p:spPr>
          <a:xfrm>
            <a:off x="4937760" y="1883664"/>
            <a:ext cx="3867912" cy="1627632"/>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TextBox 6"/>
          <p:cNvSpPr txBox="1"/>
          <p:nvPr/>
        </p:nvSpPr>
        <p:spPr>
          <a:xfrm>
            <a:off x="5093208" y="2020824"/>
            <a:ext cx="3557016"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02  System implementation</a:t>
            </a:r>
          </a:p>
        </p:txBody>
      </p:sp>
      <p:sp xmlns:a="http://schemas.openxmlformats.org/drawingml/2006/main">
        <p:nvSpPr>
          <p:cNvPr id="8" name="TextBox 7"/>
          <p:cNvSpPr txBox="1"/>
          <p:nvPr/>
        </p:nvSpPr>
        <p:spPr>
          <a:xfrm>
            <a:off x="5093208" y="2386584"/>
            <a:ext cx="3557016" cy="1033271"/>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Source image and line review</a:t>
            </a:r>
          </a:p>
          <a:p>
            <a:pPr>
              <a:lnSpc>
                <a:spcPct val="100000"/>
              </a:lnSpc>
              <a:spcBef>
                <a:spcPts val="0"/>
              </a:spcBef>
              <a:spcAft>
                <a:spcPts val="0"/>
              </a:spcAft>
            </a:pPr>
            <a:r>
              <a:rPr sz="2000" b="0">
                <a:solidFill>
                  <a:srgbClr val="14233B"/>
                </a:solidFill>
                <a:latin typeface="Arial"/>
              </a:rPr>
              <a:t>Application workflow</a:t>
            </a:r>
          </a:p>
        </p:txBody>
      </p:sp>
      <p:sp xmlns:a="http://schemas.openxmlformats.org/drawingml/2006/main">
        <p:nvSpPr>
          <p:cNvPr id="9" name="Rounded Rectangle 8"/>
          <p:cNvSpPr/>
          <p:nvPr/>
        </p:nvSpPr>
        <p:spPr>
          <a:xfrm>
            <a:off x="713232" y="3950208"/>
            <a:ext cx="3867912" cy="1627632"/>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868680" y="4087368"/>
            <a:ext cx="3557016"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03  Evidence and results</a:t>
            </a:r>
          </a:p>
        </p:txBody>
      </p:sp>
      <p:sp xmlns:a="http://schemas.openxmlformats.org/drawingml/2006/main">
        <p:nvSpPr>
          <p:cNvPr id="11" name="TextBox 10"/>
          <p:cNvSpPr txBox="1"/>
          <p:nvPr/>
        </p:nvSpPr>
        <p:spPr>
          <a:xfrm>
            <a:off x="868680" y="4453128"/>
            <a:ext cx="3557016" cy="1033271"/>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Actual OCR and AI receipts</a:t>
            </a:r>
          </a:p>
          <a:p>
            <a:pPr>
              <a:lnSpc>
                <a:spcPct val="100000"/>
              </a:lnSpc>
              <a:spcBef>
                <a:spcPts val="0"/>
              </a:spcBef>
              <a:spcAft>
                <a:spcPts val="0"/>
              </a:spcAft>
            </a:pPr>
            <a:r>
              <a:rPr sz="2000" b="0">
                <a:solidFill>
                  <a:srgbClr val="14233B"/>
                </a:solidFill>
                <a:latin typeface="Arial"/>
              </a:rPr>
              <a:t>Evaluation scope and confidence</a:t>
            </a:r>
          </a:p>
        </p:txBody>
      </p:sp>
      <p:sp xmlns:a="http://schemas.openxmlformats.org/drawingml/2006/main">
        <p:nvSpPr>
          <p:cNvPr id="12" name="Rounded Rectangle 11"/>
          <p:cNvSpPr/>
          <p:nvPr/>
        </p:nvSpPr>
        <p:spPr>
          <a:xfrm>
            <a:off x="4937760" y="3950208"/>
            <a:ext cx="3867912" cy="1627632"/>
          </a:xfrm>
          <a:prstGeom prst="roundRect">
            <a:avLst>
              <a:gd name="adj" fmla="val 8000"/>
            </a:avLst>
          </a:prstGeom>
          <a:solidFill>
            <a:srgbClr val="F5F7FD"/>
          </a:solidFill>
          <a:ln w="11430">
            <a:solidFill>
              <a:srgbClr val="A552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5093208" y="4087368"/>
            <a:ext cx="3557016"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A5520C"/>
                </a:solidFill>
                <a:latin typeface="Arial"/>
              </a:rPr>
              <a:t>04  Readiness and next steps</a:t>
            </a:r>
          </a:p>
        </p:txBody>
      </p:sp>
      <p:sp xmlns:a="http://schemas.openxmlformats.org/drawingml/2006/main">
        <p:nvSpPr>
          <p:cNvPr id="14" name="TextBox 13"/>
          <p:cNvSpPr txBox="1"/>
          <p:nvPr/>
        </p:nvSpPr>
        <p:spPr>
          <a:xfrm>
            <a:off x="5093208" y="4453128"/>
            <a:ext cx="3557016" cy="1033271"/>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Delivered files</a:t>
            </a:r>
          </a:p>
          <a:p>
            <a:pPr>
              <a:lnSpc>
                <a:spcPct val="100000"/>
              </a:lnSpc>
              <a:spcBef>
                <a:spcPts val="0"/>
              </a:spcBef>
              <a:spcAft>
                <a:spcPts val="0"/>
              </a:spcAft>
            </a:pPr>
            <a:r>
              <a:rPr sz="2000" b="0">
                <a:solidFill>
                  <a:srgbClr val="14233B"/>
                </a:solidFill>
                <a:latin typeface="Arial"/>
              </a:rPr>
              <a:t>Limitations and next evaluation</a:t>
            </a:r>
          </a:p>
        </p:txBody>
      </p:sp>
      <p:sp xmlns:a="http://schemas.openxmlformats.org/drawingml/2006/main">
        <p:nvSpPr>
          <p:cNvPr id="15" name="TextBox 14"/>
          <p:cNvSpPr txBox="1"/>
          <p:nvPr/>
        </p:nvSpPr>
        <p:spPr>
          <a:xfrm>
            <a:off x="713232" y="5989320"/>
            <a:ext cx="8412480" cy="310896"/>
          </a:xfrm>
          <a:prstGeom prst="rect">
            <a:avLst/>
          </a:prstGeom>
          <a:noFill/>
        </p:spPr>
        <p:txBody>
          <a:bodyPr wrap="square" lIns="13716" rIns="13716" tIns="9144" bIns="9144" anchor="t">
            <a:spAutoFit/>
          </a:bodyPr>
          <a:lstStyle/>
          <a:p>
            <a:pPr algn="ctr">
              <a:lnSpc>
                <a:spcPct val="100000"/>
              </a:lnSpc>
              <a:spcBef>
                <a:spcPts val="0"/>
              </a:spcBef>
              <a:spcAft>
                <a:spcPts val="0"/>
              </a:spcAft>
            </a:pPr>
            <a:r>
              <a:rPr sz="1600" b="0">
                <a:solidFill>
                  <a:srgbClr val="596579"/>
                </a:solidFill>
                <a:latin typeface="Arial"/>
              </a:rPr>
              <a:t>Big Data Course   /   20 slides   /   One traceable image</a:t>
            </a:r>
          </a:p>
        </p:txBody>
      </p:sp>
    </p:spTree>
    <p:extLst>
      <p:ext uri="{BB962C8B-B14F-4D97-AF65-F5344CB8AC3E}">
        <p14:creationId xmlns:p14="http://schemas.microsoft.com/office/powerpoint/2010/main" val="21064713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1. Problem &amp; Contribution</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1.1. Vietnamese handwriting needs visible review</a:t>
            </a:r>
          </a:p>
        </p:txBody>
      </p:sp>
      <p:sp xmlns:a="http://schemas.openxmlformats.org/drawingml/2006/main">
        <p:nvSpPr>
          <p:cNvPr id="4" name="TextBox 3"/>
          <p:cNvSpPr txBox="1"/>
          <p:nvPr/>
        </p:nvSpPr>
        <p:spPr>
          <a:xfrm>
            <a:off x="667512" y="2523744"/>
            <a:ext cx="8577072" cy="676656"/>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Small marks, notebook noise and joined strokes can change the text.</a:t>
            </a:r>
          </a:p>
          <a:p>
            <a:pPr>
              <a:lnSpc>
                <a:spcPct val="100000"/>
              </a:lnSpc>
              <a:spcBef>
                <a:spcPts val="0"/>
              </a:spcBef>
              <a:spcAft>
                <a:spcPts val="0"/>
              </a:spcAft>
            </a:pPr>
            <a:r>
              <a:rPr sz="2000" b="0">
                <a:solidFill>
                  <a:srgbClr val="14233B"/>
                </a:solidFill>
                <a:latin typeface="Arial"/>
              </a:rPr>
              <a:t>Users need to inspect the image and correct the saved result.</a:t>
            </a:r>
          </a:p>
        </p:txBody>
      </p:sp>
      <p:sp xmlns:a="http://schemas.openxmlformats.org/drawingml/2006/main">
        <p:nvSpPr>
          <p:cNvPr id="5" name="Rounded Rectangle 4"/>
          <p:cNvSpPr/>
          <p:nvPr/>
        </p:nvSpPr>
        <p:spPr>
          <a:xfrm>
            <a:off x="667512" y="3557016"/>
            <a:ext cx="2715768" cy="1956816"/>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822960" y="369417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Vietnamese marks</a:t>
            </a:r>
          </a:p>
        </p:txBody>
      </p:sp>
      <p:sp xmlns:a="http://schemas.openxmlformats.org/drawingml/2006/main">
        <p:nvSpPr>
          <p:cNvPr id="7" name="TextBox 6"/>
          <p:cNvSpPr txBox="1"/>
          <p:nvPr/>
        </p:nvSpPr>
        <p:spPr>
          <a:xfrm>
            <a:off x="822960" y="4059936"/>
            <a:ext cx="2404872" cy="1362456"/>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Faint tone marks</a:t>
            </a:r>
          </a:p>
          <a:p>
            <a:pPr>
              <a:lnSpc>
                <a:spcPct val="100000"/>
              </a:lnSpc>
              <a:spcBef>
                <a:spcPts val="0"/>
              </a:spcBef>
              <a:spcAft>
                <a:spcPts val="0"/>
              </a:spcAft>
            </a:pPr>
            <a:r>
              <a:rPr sz="1900" b="0">
                <a:solidFill>
                  <a:srgbClr val="14233B"/>
                </a:solidFill>
                <a:latin typeface="Arial"/>
              </a:rPr>
              <a:t>Detached vowel marks</a:t>
            </a:r>
          </a:p>
          <a:p>
            <a:pPr>
              <a:lnSpc>
                <a:spcPct val="100000"/>
              </a:lnSpc>
              <a:spcBef>
                <a:spcPts val="0"/>
              </a:spcBef>
              <a:spcAft>
                <a:spcPts val="0"/>
              </a:spcAft>
            </a:pPr>
            <a:r>
              <a:rPr sz="1900" b="0">
                <a:solidFill>
                  <a:srgbClr val="14233B"/>
                </a:solidFill>
                <a:latin typeface="Arial"/>
              </a:rPr>
              <a:t>Joined pen strokes</a:t>
            </a:r>
          </a:p>
        </p:txBody>
      </p:sp>
      <p:sp xmlns:a="http://schemas.openxmlformats.org/drawingml/2006/main">
        <p:nvSpPr>
          <p:cNvPr id="8" name="Rounded Rectangle 7"/>
          <p:cNvSpPr/>
          <p:nvPr/>
        </p:nvSpPr>
        <p:spPr>
          <a:xfrm>
            <a:off x="3584448" y="3557016"/>
            <a:ext cx="2715768" cy="1956816"/>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3739896" y="369417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Notebook images</a:t>
            </a:r>
          </a:p>
        </p:txBody>
      </p:sp>
      <p:sp xmlns:a="http://schemas.openxmlformats.org/drawingml/2006/main">
        <p:nvSpPr>
          <p:cNvPr id="10" name="TextBox 9"/>
          <p:cNvSpPr txBox="1"/>
          <p:nvPr/>
        </p:nvSpPr>
        <p:spPr>
          <a:xfrm>
            <a:off x="3739896" y="4059936"/>
            <a:ext cx="2404872" cy="1362456"/>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Ruled paper and shadows</a:t>
            </a:r>
          </a:p>
          <a:p>
            <a:pPr>
              <a:lnSpc>
                <a:spcPct val="100000"/>
              </a:lnSpc>
              <a:spcBef>
                <a:spcPts val="0"/>
              </a:spcBef>
              <a:spcAft>
                <a:spcPts val="0"/>
              </a:spcAft>
            </a:pPr>
            <a:r>
              <a:rPr sz="1900" b="0">
                <a:solidFill>
                  <a:srgbClr val="14233B"/>
                </a:solidFill>
                <a:latin typeface="Arial"/>
              </a:rPr>
              <a:t>Uneven lighting</a:t>
            </a:r>
          </a:p>
          <a:p>
            <a:pPr>
              <a:lnSpc>
                <a:spcPct val="100000"/>
              </a:lnSpc>
              <a:spcBef>
                <a:spcPts val="0"/>
              </a:spcBef>
              <a:spcAft>
                <a:spcPts val="0"/>
              </a:spcAft>
            </a:pPr>
            <a:r>
              <a:rPr sz="1900" b="0">
                <a:solidFill>
                  <a:srgbClr val="14233B"/>
                </a:solidFill>
                <a:latin typeface="Arial"/>
              </a:rPr>
              <a:t>Tilted camera views</a:t>
            </a:r>
          </a:p>
        </p:txBody>
      </p:sp>
      <p:sp xmlns:a="http://schemas.openxmlformats.org/drawingml/2006/main">
        <p:nvSpPr>
          <p:cNvPr id="11" name="Rounded Rectangle 10"/>
          <p:cNvSpPr/>
          <p:nvPr/>
        </p:nvSpPr>
        <p:spPr>
          <a:xfrm>
            <a:off x="6501384" y="3557016"/>
            <a:ext cx="2715768" cy="1956816"/>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656832" y="369417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Human review</a:t>
            </a:r>
          </a:p>
        </p:txBody>
      </p:sp>
      <p:sp xmlns:a="http://schemas.openxmlformats.org/drawingml/2006/main">
        <p:nvSpPr>
          <p:cNvPr id="13" name="TextBox 12"/>
          <p:cNvSpPr txBox="1"/>
          <p:nvPr/>
        </p:nvSpPr>
        <p:spPr>
          <a:xfrm>
            <a:off x="6656832" y="4059936"/>
            <a:ext cx="2404872" cy="1362456"/>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Visible line boxes</a:t>
            </a:r>
          </a:p>
          <a:p>
            <a:pPr>
              <a:lnSpc>
                <a:spcPct val="100000"/>
              </a:lnSpc>
              <a:spcBef>
                <a:spcPts val="0"/>
              </a:spcBef>
              <a:spcAft>
                <a:spcPts val="0"/>
              </a:spcAft>
            </a:pPr>
            <a:r>
              <a:rPr sz="1900" b="0">
                <a:solidFill>
                  <a:srgbClr val="14233B"/>
                </a:solidFill>
                <a:latin typeface="Arial"/>
              </a:rPr>
              <a:t>Raw and AI text</a:t>
            </a:r>
          </a:p>
          <a:p>
            <a:pPr>
              <a:lnSpc>
                <a:spcPct val="100000"/>
              </a:lnSpc>
              <a:spcBef>
                <a:spcPts val="0"/>
              </a:spcBef>
              <a:spcAft>
                <a:spcPts val="0"/>
              </a:spcAft>
            </a:pPr>
            <a:r>
              <a:rPr sz="1900" b="0">
                <a:solidFill>
                  <a:srgbClr val="14233B"/>
                </a:solidFill>
                <a:latin typeface="Arial"/>
              </a:rPr>
              <a:t>Editable selection</a:t>
            </a:r>
          </a:p>
        </p:txBody>
      </p:sp>
      <p:sp xmlns:a="http://schemas.openxmlformats.org/drawingml/2006/main">
        <p:nvSpPr>
          <p:cNvPr id="14" name="TextBox 13"/>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HandAI stores the source image and preserves the raw OCR for later review.</a:t>
            </a:r>
          </a:p>
        </p:txBody>
      </p:sp>
    </p:spTree>
    <p:extLst>
      <p:ext uri="{BB962C8B-B14F-4D97-AF65-F5344CB8AC3E}">
        <p14:creationId xmlns:p14="http://schemas.microsoft.com/office/powerpoint/2010/main" val="192919110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1. Problem &amp; Contribution</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1.2. Project scope, contribution and team</a:t>
            </a:r>
          </a:p>
        </p:txBody>
      </p:sp>
      <p:sp xmlns:a="http://schemas.openxmlformats.org/drawingml/2006/main">
        <p:nvSpPr>
          <p:cNvPr id="4" name="Rounded Rectangle 3"/>
          <p:cNvSpPr/>
          <p:nvPr/>
        </p:nvSpPr>
        <p:spPr>
          <a:xfrm>
            <a:off x="667512" y="2651760"/>
            <a:ext cx="4215384" cy="1554480"/>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788920"/>
            <a:ext cx="3904488"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Included workflow</a:t>
            </a:r>
          </a:p>
        </p:txBody>
      </p:sp>
      <p:sp xmlns:a="http://schemas.openxmlformats.org/drawingml/2006/main">
        <p:nvSpPr>
          <p:cNvPr id="6" name="TextBox 5"/>
          <p:cNvSpPr txBox="1"/>
          <p:nvPr/>
        </p:nvSpPr>
        <p:spPr>
          <a:xfrm>
            <a:off x="822960" y="3154680"/>
            <a:ext cx="3904488"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50" b="0">
                <a:solidFill>
                  <a:srgbClr val="14233B"/>
                </a:solidFill>
                <a:latin typeface="Arial"/>
              </a:rPr>
              <a:t>Capture or upload an image</a:t>
            </a:r>
          </a:p>
          <a:p>
            <a:pPr>
              <a:lnSpc>
                <a:spcPct val="100000"/>
              </a:lnSpc>
              <a:spcBef>
                <a:spcPts val="0"/>
              </a:spcBef>
              <a:spcAft>
                <a:spcPts val="0"/>
              </a:spcAft>
            </a:pPr>
            <a:r>
              <a:rPr sz="1850" b="0">
                <a:solidFill>
                  <a:srgbClr val="14233B"/>
                </a:solidFill>
                <a:latin typeface="Arial"/>
              </a:rPr>
              <a:t>Review line boxes and text</a:t>
            </a:r>
          </a:p>
          <a:p>
            <a:pPr>
              <a:lnSpc>
                <a:spcPct val="100000"/>
              </a:lnSpc>
              <a:spcBef>
                <a:spcPts val="0"/>
              </a:spcBef>
              <a:spcAft>
                <a:spcPts val="0"/>
              </a:spcAft>
            </a:pPr>
            <a:r>
              <a:rPr sz="1850" b="0">
                <a:solidFill>
                  <a:srgbClr val="14233B"/>
                </a:solidFill>
                <a:latin typeface="Arial"/>
              </a:rPr>
              <a:t>Save results and inspect history</a:t>
            </a:r>
          </a:p>
        </p:txBody>
      </p:sp>
      <p:sp xmlns:a="http://schemas.openxmlformats.org/drawingml/2006/main">
        <p:nvSpPr>
          <p:cNvPr id="7" name="Rounded Rectangle 6"/>
          <p:cNvSpPr/>
          <p:nvPr/>
        </p:nvSpPr>
        <p:spPr>
          <a:xfrm>
            <a:off x="5020056" y="2651760"/>
            <a:ext cx="4215384" cy="1554480"/>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5175504" y="2788920"/>
            <a:ext cx="3904488"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Project contribution</a:t>
            </a:r>
          </a:p>
        </p:txBody>
      </p:sp>
      <p:sp xmlns:a="http://schemas.openxmlformats.org/drawingml/2006/main">
        <p:nvSpPr>
          <p:cNvPr id="9" name="TextBox 8"/>
          <p:cNvSpPr txBox="1"/>
          <p:nvPr/>
        </p:nvSpPr>
        <p:spPr>
          <a:xfrm>
            <a:off x="5175504" y="3154680"/>
            <a:ext cx="3904488"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50" b="0">
                <a:solidFill>
                  <a:srgbClr val="14233B"/>
                </a:solidFill>
                <a:latin typeface="Arial"/>
              </a:rPr>
              <a:t>One traceable app workflow</a:t>
            </a:r>
          </a:p>
          <a:p>
            <a:pPr>
              <a:lnSpc>
                <a:spcPct val="100000"/>
              </a:lnSpc>
              <a:spcBef>
                <a:spcPts val="0"/>
              </a:spcBef>
              <a:spcAft>
                <a:spcPts val="0"/>
              </a:spcAft>
            </a:pPr>
            <a:r>
              <a:rPr sz="1850" b="0">
                <a:solidFill>
                  <a:srgbClr val="14233B"/>
                </a:solidFill>
                <a:latin typeface="Arial"/>
              </a:rPr>
              <a:t>Raw OCR and actual AI responses</a:t>
            </a:r>
          </a:p>
          <a:p>
            <a:pPr>
              <a:lnSpc>
                <a:spcPct val="100000"/>
              </a:lnSpc>
              <a:spcBef>
                <a:spcPts val="0"/>
              </a:spcBef>
              <a:spcAft>
                <a:spcPts val="0"/>
              </a:spcAft>
            </a:pPr>
            <a:r>
              <a:rPr sz="1850" b="0">
                <a:solidFill>
                  <a:srgbClr val="14233B"/>
                </a:solidFill>
                <a:latin typeface="Arial"/>
              </a:rPr>
              <a:t>Recorded selection sources</a:t>
            </a:r>
          </a:p>
        </p:txBody>
      </p:sp>
      <p:sp xmlns:a="http://schemas.openxmlformats.org/drawingml/2006/main">
        <p:nvSpPr>
          <p:cNvPr id="10" name="Rounded Rectangle 9"/>
          <p:cNvSpPr/>
          <p:nvPr/>
        </p:nvSpPr>
        <p:spPr>
          <a:xfrm>
            <a:off x="667512" y="4443984"/>
            <a:ext cx="4215384" cy="1554480"/>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822960" y="4581144"/>
            <a:ext cx="3904488"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Team</a:t>
            </a:r>
          </a:p>
        </p:txBody>
      </p:sp>
      <p:sp xmlns:a="http://schemas.openxmlformats.org/drawingml/2006/main">
        <p:nvSpPr>
          <p:cNvPr id="12" name="TextBox 11"/>
          <p:cNvSpPr txBox="1"/>
          <p:nvPr/>
        </p:nvSpPr>
        <p:spPr>
          <a:xfrm>
            <a:off x="822960" y="4946904"/>
            <a:ext cx="3904488"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50" b="0">
                <a:solidFill>
                  <a:srgbClr val="14233B"/>
                </a:solidFill>
                <a:latin typeface="Arial"/>
              </a:rPr>
              <a:t>Nguyen Van Duy Manh</a:t>
            </a:r>
          </a:p>
          <a:p>
            <a:pPr>
              <a:lnSpc>
                <a:spcPct val="100000"/>
              </a:lnSpc>
              <a:spcBef>
                <a:spcPts val="0"/>
              </a:spcBef>
              <a:spcAft>
                <a:spcPts val="0"/>
              </a:spcAft>
            </a:pPr>
            <a:r>
              <a:rPr sz="1850" b="0">
                <a:solidFill>
                  <a:srgbClr val="14233B"/>
                </a:solidFill>
                <a:latin typeface="Arial"/>
              </a:rPr>
              <a:t>Tran Hoai Nam</a:t>
            </a:r>
          </a:p>
        </p:txBody>
      </p:sp>
      <p:sp xmlns:a="http://schemas.openxmlformats.org/drawingml/2006/main">
        <p:nvSpPr>
          <p:cNvPr id="13" name="Rounded Rectangle 12"/>
          <p:cNvSpPr/>
          <p:nvPr/>
        </p:nvSpPr>
        <p:spPr>
          <a:xfrm>
            <a:off x="5020056" y="4443984"/>
            <a:ext cx="4215384" cy="1554480"/>
          </a:xfrm>
          <a:prstGeom prst="roundRect">
            <a:avLst>
              <a:gd name="adj" fmla="val 8000"/>
            </a:avLst>
          </a:prstGeom>
          <a:solidFill>
            <a:srgbClr val="F5F7FD"/>
          </a:solidFill>
          <a:ln w="11430">
            <a:solidFill>
              <a:srgbClr val="A552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5175504" y="4581144"/>
            <a:ext cx="3904488"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A5520C"/>
                </a:solidFill>
                <a:latin typeface="Arial"/>
              </a:rPr>
              <a:t>Evaluation boundaries</a:t>
            </a:r>
          </a:p>
        </p:txBody>
      </p:sp>
      <p:sp xmlns:a="http://schemas.openxmlformats.org/drawingml/2006/main">
        <p:nvSpPr>
          <p:cNvPr id="15" name="TextBox 14"/>
          <p:cNvSpPr txBox="1"/>
          <p:nvPr/>
        </p:nvSpPr>
        <p:spPr>
          <a:xfrm>
            <a:off x="5175504" y="4946904"/>
            <a:ext cx="3904488"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50" b="0">
                <a:solidFill>
                  <a:srgbClr val="14233B"/>
                </a:solidFill>
                <a:latin typeface="Arial"/>
              </a:rPr>
              <a:t>One demo image is a case study</a:t>
            </a:r>
          </a:p>
          <a:p>
            <a:pPr>
              <a:lnSpc>
                <a:spcPct val="100000"/>
              </a:lnSpc>
              <a:spcBef>
                <a:spcPts val="0"/>
              </a:spcBef>
              <a:spcAft>
                <a:spcPts val="0"/>
              </a:spcAft>
            </a:pPr>
            <a:r>
              <a:rPr sz="1850" b="0">
                <a:solidFill>
                  <a:srgbClr val="14233B"/>
                </a:solidFill>
                <a:latin typeface="Arial"/>
              </a:rPr>
              <a:t>General accuracy needs a test set</a:t>
            </a:r>
          </a:p>
          <a:p>
            <a:pPr>
              <a:lnSpc>
                <a:spcPct val="100000"/>
              </a:lnSpc>
              <a:spcBef>
                <a:spcPts val="0"/>
              </a:spcBef>
              <a:spcAft>
                <a:spcPts val="0"/>
              </a:spcAft>
            </a:pPr>
            <a:r>
              <a:rPr sz="1850" b="0">
                <a:solidFill>
                  <a:srgbClr val="14233B"/>
                </a:solidFill>
                <a:latin typeface="Arial"/>
              </a:rPr>
              <a:t>Manual edits remain separate</a:t>
            </a:r>
          </a:p>
        </p:txBody>
      </p:sp>
    </p:spTree>
    <p:extLst>
      <p:ext uri="{BB962C8B-B14F-4D97-AF65-F5344CB8AC3E}">
        <p14:creationId xmlns:p14="http://schemas.microsoft.com/office/powerpoint/2010/main" val="250610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1. Problem &amp; Contribution</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1.3. The 30-day plan covers 01–30 Sep 2026</a:t>
            </a:r>
          </a:p>
        </p:txBody>
      </p:sp>
      <p:sp xmlns:a="http://schemas.openxmlformats.org/drawingml/2006/main">
        <p:nvSpPr>
          <p:cNvPr id="4" name="Rounded Rectangle 3"/>
          <p:cNvSpPr/>
          <p:nvPr/>
        </p:nvSpPr>
        <p:spPr>
          <a:xfrm>
            <a:off x="667512" y="2633472"/>
            <a:ext cx="2715768" cy="1554480"/>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7706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D1–D5   Planning</a:t>
            </a:r>
          </a:p>
        </p:txBody>
      </p:sp>
      <p:sp xmlns:a="http://schemas.openxmlformats.org/drawingml/2006/main">
        <p:nvSpPr>
          <p:cNvPr id="6" name="TextBox 5"/>
          <p:cNvSpPr txBox="1"/>
          <p:nvPr/>
        </p:nvSpPr>
        <p:spPr>
          <a:xfrm>
            <a:off x="822960" y="3136391"/>
            <a:ext cx="2404872"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Scope and criteria</a:t>
            </a:r>
          </a:p>
          <a:p>
            <a:pPr>
              <a:lnSpc>
                <a:spcPct val="100000"/>
              </a:lnSpc>
              <a:spcBef>
                <a:spcPts val="0"/>
              </a:spcBef>
              <a:spcAft>
                <a:spcPts val="0"/>
              </a:spcAft>
            </a:pPr>
            <a:r>
              <a:rPr sz="1800" b="0">
                <a:solidFill>
                  <a:srgbClr val="14233B"/>
                </a:solidFill>
                <a:latin typeface="Arial"/>
              </a:rPr>
              <a:t>Evidence inventory</a:t>
            </a:r>
          </a:p>
        </p:txBody>
      </p:sp>
      <p:sp xmlns:a="http://schemas.openxmlformats.org/drawingml/2006/main">
        <p:nvSpPr>
          <p:cNvPr id="7" name="Rounded Rectangle 6"/>
          <p:cNvSpPr/>
          <p:nvPr/>
        </p:nvSpPr>
        <p:spPr>
          <a:xfrm>
            <a:off x="3584448" y="2633472"/>
            <a:ext cx="2715768" cy="1554480"/>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3739896" y="27706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D6–D12   Data pipeline</a:t>
            </a:r>
          </a:p>
        </p:txBody>
      </p:sp>
      <p:sp xmlns:a="http://schemas.openxmlformats.org/drawingml/2006/main">
        <p:nvSpPr>
          <p:cNvPr id="9" name="TextBox 8"/>
          <p:cNvSpPr txBox="1"/>
          <p:nvPr/>
        </p:nvSpPr>
        <p:spPr>
          <a:xfrm>
            <a:off x="3739896" y="3136391"/>
            <a:ext cx="2404872"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Image preparation</a:t>
            </a:r>
          </a:p>
          <a:p>
            <a:pPr>
              <a:lnSpc>
                <a:spcPct val="100000"/>
              </a:lnSpc>
              <a:spcBef>
                <a:spcPts val="0"/>
              </a:spcBef>
              <a:spcAft>
                <a:spcPts val="0"/>
              </a:spcAft>
            </a:pPr>
            <a:r>
              <a:rPr sz="1800" b="0">
                <a:solidFill>
                  <a:srgbClr val="14233B"/>
                </a:solidFill>
                <a:latin typeface="Arial"/>
              </a:rPr>
              <a:t>Crops and line review</a:t>
            </a:r>
          </a:p>
        </p:txBody>
      </p:sp>
      <p:sp xmlns:a="http://schemas.openxmlformats.org/drawingml/2006/main">
        <p:nvSpPr>
          <p:cNvPr id="10" name="Rounded Rectangle 9"/>
          <p:cNvSpPr/>
          <p:nvPr/>
        </p:nvSpPr>
        <p:spPr>
          <a:xfrm>
            <a:off x="6501384" y="2633472"/>
            <a:ext cx="2715768" cy="1554480"/>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656832" y="27706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D13–D20   Recognition</a:t>
            </a:r>
          </a:p>
        </p:txBody>
      </p:sp>
      <p:sp xmlns:a="http://schemas.openxmlformats.org/drawingml/2006/main">
        <p:nvSpPr>
          <p:cNvPr id="12" name="TextBox 11"/>
          <p:cNvSpPr txBox="1"/>
          <p:nvPr/>
        </p:nvSpPr>
        <p:spPr>
          <a:xfrm>
            <a:off x="6656832" y="3136391"/>
            <a:ext cx="2404872"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CRNN and decoding</a:t>
            </a:r>
          </a:p>
          <a:p>
            <a:pPr>
              <a:lnSpc>
                <a:spcPct val="100000"/>
              </a:lnSpc>
              <a:spcBef>
                <a:spcPts val="0"/>
              </a:spcBef>
              <a:spcAft>
                <a:spcPts val="0"/>
              </a:spcAft>
            </a:pPr>
            <a:r>
              <a:rPr sz="1800" b="0">
                <a:solidFill>
                  <a:srgbClr val="14233B"/>
                </a:solidFill>
                <a:latin typeface="Arial"/>
              </a:rPr>
              <a:t>Actual advisor responses</a:t>
            </a:r>
          </a:p>
        </p:txBody>
      </p:sp>
      <p:sp xmlns:a="http://schemas.openxmlformats.org/drawingml/2006/main">
        <p:nvSpPr>
          <p:cNvPr id="13" name="Rounded Rectangle 12"/>
          <p:cNvSpPr/>
          <p:nvPr/>
        </p:nvSpPr>
        <p:spPr>
          <a:xfrm>
            <a:off x="2093976" y="4407408"/>
            <a:ext cx="2715768" cy="1554480"/>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2249424" y="4544568"/>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D21–D26   Integration</a:t>
            </a:r>
          </a:p>
        </p:txBody>
      </p:sp>
      <p:sp xmlns:a="http://schemas.openxmlformats.org/drawingml/2006/main">
        <p:nvSpPr>
          <p:cNvPr id="15" name="TextBox 14"/>
          <p:cNvSpPr txBox="1"/>
          <p:nvPr/>
        </p:nvSpPr>
        <p:spPr>
          <a:xfrm>
            <a:off x="2249424" y="4910328"/>
            <a:ext cx="2404872"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App and backend</a:t>
            </a:r>
          </a:p>
          <a:p>
            <a:pPr>
              <a:lnSpc>
                <a:spcPct val="100000"/>
              </a:lnSpc>
              <a:spcBef>
                <a:spcPts val="0"/>
              </a:spcBef>
              <a:spcAft>
                <a:spcPts val="0"/>
              </a:spcAft>
            </a:pPr>
            <a:r>
              <a:rPr sz="1800" b="0">
                <a:solidFill>
                  <a:srgbClr val="14233B"/>
                </a:solidFill>
                <a:latin typeface="Arial"/>
              </a:rPr>
              <a:t>Verification and history</a:t>
            </a:r>
          </a:p>
        </p:txBody>
      </p:sp>
      <p:sp xmlns:a="http://schemas.openxmlformats.org/drawingml/2006/main">
        <p:nvSpPr>
          <p:cNvPr id="16" name="Rounded Rectangle 15"/>
          <p:cNvSpPr/>
          <p:nvPr/>
        </p:nvSpPr>
        <p:spPr>
          <a:xfrm>
            <a:off x="5193792" y="4407408"/>
            <a:ext cx="2715768" cy="1554480"/>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5349240" y="4544568"/>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D27–D30   Delivery</a:t>
            </a:r>
          </a:p>
        </p:txBody>
      </p:sp>
      <p:sp xmlns:a="http://schemas.openxmlformats.org/drawingml/2006/main">
        <p:nvSpPr>
          <p:cNvPr id="18" name="TextBox 17"/>
          <p:cNvSpPr txBox="1"/>
          <p:nvPr/>
        </p:nvSpPr>
        <p:spPr>
          <a:xfrm>
            <a:off x="5349240" y="4910328"/>
            <a:ext cx="2404872" cy="960119"/>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Evaluation and visual QA</a:t>
            </a:r>
          </a:p>
          <a:p>
            <a:pPr>
              <a:lnSpc>
                <a:spcPct val="100000"/>
              </a:lnSpc>
              <a:spcBef>
                <a:spcPts val="0"/>
              </a:spcBef>
              <a:spcAft>
                <a:spcPts val="0"/>
              </a:spcAft>
            </a:pPr>
            <a:r>
              <a:rPr sz="1800" b="0">
                <a:solidFill>
                  <a:srgbClr val="14233B"/>
                </a:solidFill>
                <a:latin typeface="Arial"/>
              </a:rPr>
              <a:t>Files and spoken script</a:t>
            </a:r>
          </a:p>
        </p:txBody>
      </p:sp>
      <p:sp xmlns:a="http://schemas.openxmlformats.org/drawingml/2006/main">
        <p:nvSpPr>
          <p:cNvPr id="19" name="TextBox 18"/>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Reconstructed planning baseline. WBS and Action Plan use the same 30-day dates.</a:t>
            </a:r>
          </a:p>
        </p:txBody>
      </p:sp>
    </p:spTree>
    <p:extLst>
      <p:ext uri="{BB962C8B-B14F-4D97-AF65-F5344CB8AC3E}">
        <p14:creationId xmlns:p14="http://schemas.microsoft.com/office/powerpoint/2010/main" val="18681330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2. System Implementation</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2.1. The actual app reviews all 12 line boxes</a:t>
            </a:r>
          </a:p>
        </p:txBody>
      </p:sp>
      <p:sp xmlns:a="http://schemas.openxmlformats.org/drawingml/2006/main">
        <p:nvSpPr>
          <p:cNvPr id="4" name="TextBox 3"/>
          <p:cNvSpPr txBox="1"/>
          <p:nvPr/>
        </p:nvSpPr>
        <p:spPr>
          <a:xfrm>
            <a:off x="667512" y="2459736"/>
            <a:ext cx="4096512" cy="301752"/>
          </a:xfrm>
          <a:prstGeom prst="rect">
            <a:avLst/>
          </a:prstGeom>
          <a:noFill/>
        </p:spPr>
        <p:txBody>
          <a:bodyPr wrap="square" lIns="13716" rIns="13716" tIns="9144" bIns="9144" anchor="t">
            <a:spAutoFit/>
          </a:bodyPr>
          <a:lstStyle/>
          <a:p>
            <a:pPr>
              <a:lnSpc>
                <a:spcPct val="100000"/>
              </a:lnSpc>
              <a:spcBef>
                <a:spcPts val="0"/>
              </a:spcBef>
              <a:spcAft>
                <a:spcPts val="0"/>
              </a:spcAft>
            </a:pPr>
            <a:r>
              <a:rPr sz="1500" b="1">
                <a:solidFill>
                  <a:srgbClr val="2454EE"/>
                </a:solidFill>
                <a:latin typeface="Arial"/>
              </a:rPr>
              <a:t>STORED APP SOURCE</a:t>
            </a:r>
          </a:p>
        </p:txBody>
      </p:sp>
      <p:sp xmlns:a="http://schemas.openxmlformats.org/drawingml/2006/main">
        <p:nvSpPr>
          <p:cNvPr id="5" name="TextBox 4"/>
          <p:cNvSpPr txBox="1"/>
          <p:nvPr/>
        </p:nvSpPr>
        <p:spPr>
          <a:xfrm>
            <a:off x="5038344" y="2459736"/>
            <a:ext cx="4206240" cy="301752"/>
          </a:xfrm>
          <a:prstGeom prst="rect">
            <a:avLst/>
          </a:prstGeom>
          <a:noFill/>
        </p:spPr>
        <p:txBody>
          <a:bodyPr wrap="square" lIns="13716" rIns="13716" tIns="9144" bIns="9144" anchor="t">
            <a:spAutoFit/>
          </a:bodyPr>
          <a:lstStyle/>
          <a:p>
            <a:pPr>
              <a:lnSpc>
                <a:spcPct val="100000"/>
              </a:lnSpc>
              <a:spcBef>
                <a:spcPts val="0"/>
              </a:spcBef>
              <a:spcAft>
                <a:spcPts val="0"/>
              </a:spcAft>
            </a:pPr>
            <a:r>
              <a:rPr sz="1500" b="1">
                <a:solidFill>
                  <a:srgbClr val="00846B"/>
                </a:solidFill>
                <a:latin typeface="Arial"/>
              </a:rPr>
              <a:t>ACTUAL APP REVIEW</a:t>
            </a:r>
          </a:p>
        </p:txBody>
      </p:sp>
      <p:pic xmlns:a="http://schemas.openxmlformats.org/drawingml/2006/main" xmlns:r="http://schemas.openxmlformats.org/officeDocument/2006/relationships">
        <p:nvPicPr>
          <p:cNvPr id="6" name="Picture 5" descr="actual_gui_original_page.jpg"/>
          <p:cNvPicPr>
            <a:picLocks noChangeAspect="1"/>
          </p:cNvPicPr>
          <p:nvPr/>
        </p:nvPicPr>
        <p:blipFill>
          <a:blip r:embed="rId3"/>
          <a:stretch>
            <a:fillRect/>
          </a:stretch>
        </p:blipFill>
        <p:spPr>
          <a:xfrm>
            <a:off x="1106703" y="2862072"/>
            <a:ext cx="3163264" cy="3108960"/>
          </a:xfrm>
          <a:prstGeom prst="rect">
            <a:avLst/>
          </a:prstGeom>
        </p:spPr>
      </p:pic>
      <p:pic xmlns:a="http://schemas.openxmlformats.org/drawingml/2006/main" xmlns:r="http://schemas.openxmlformats.org/officeDocument/2006/relationships">
        <p:nvPicPr>
          <p:cNvPr id="7" name="Picture 6" descr="actual_review_detection_crop.png"/>
          <p:cNvPicPr>
            <a:picLocks noChangeAspect="1"/>
          </p:cNvPicPr>
          <p:nvPr/>
        </p:nvPicPr>
        <p:blipFill>
          <a:blip r:embed="rId4"/>
          <a:stretch>
            <a:fillRect/>
          </a:stretch>
        </p:blipFill>
        <p:spPr>
          <a:xfrm>
            <a:off x="5495711" y="2862072"/>
            <a:ext cx="3291504" cy="3108960"/>
          </a:xfrm>
          <a:prstGeom prst="rect">
            <a:avLst/>
          </a:prstGeom>
        </p:spPr>
      </p:pic>
      <p:sp xmlns:a="http://schemas.openxmlformats.org/drawingml/2006/main">
        <p:nvSpPr>
          <p:cNvPr id="8" name="TextBox 7"/>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02 Oct actual web app capture. Same source image and 12 reviewed boxes. No overlay reconstruction.</a:t>
            </a:r>
          </a:p>
        </p:txBody>
      </p:sp>
    </p:spTree>
    <p:extLst>
      <p:ext uri="{BB962C8B-B14F-4D97-AF65-F5344CB8AC3E}">
        <p14:creationId xmlns:p14="http://schemas.microsoft.com/office/powerpoint/2010/main" val="32839727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2. System Implementation</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2.2. Each service keeps its part of the recognition record</a:t>
            </a:r>
          </a:p>
        </p:txBody>
      </p:sp>
      <p:sp xmlns:a="http://schemas.openxmlformats.org/drawingml/2006/main">
        <p:nvSpPr>
          <p:cNvPr id="4" name="Rounded Rectangle 3"/>
          <p:cNvSpPr/>
          <p:nvPr/>
        </p:nvSpPr>
        <p:spPr>
          <a:xfrm>
            <a:off x="667512" y="2670048"/>
            <a:ext cx="2715768" cy="1490472"/>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807208"/>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Mobile app</a:t>
            </a:r>
          </a:p>
        </p:txBody>
      </p:sp>
      <p:sp xmlns:a="http://schemas.openxmlformats.org/drawingml/2006/main">
        <p:nvSpPr>
          <p:cNvPr id="6" name="TextBox 5"/>
          <p:cNvSpPr txBox="1"/>
          <p:nvPr/>
        </p:nvSpPr>
        <p:spPr>
          <a:xfrm>
            <a:off x="822960" y="3172968"/>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Capture and review</a:t>
            </a:r>
          </a:p>
          <a:p>
            <a:pPr>
              <a:lnSpc>
                <a:spcPct val="100000"/>
              </a:lnSpc>
              <a:spcBef>
                <a:spcPts val="0"/>
              </a:spcBef>
              <a:spcAft>
                <a:spcPts val="0"/>
              </a:spcAft>
            </a:pPr>
            <a:r>
              <a:rPr sz="1800" b="0">
                <a:solidFill>
                  <a:srgbClr val="14233B"/>
                </a:solidFill>
                <a:latin typeface="Arial"/>
              </a:rPr>
              <a:t>OCR, AI, selected text</a:t>
            </a:r>
          </a:p>
        </p:txBody>
      </p:sp>
      <p:sp xmlns:a="http://schemas.openxmlformats.org/drawingml/2006/main">
        <p:nvSpPr>
          <p:cNvPr id="7" name="Rounded Rectangle 6"/>
          <p:cNvSpPr/>
          <p:nvPr/>
        </p:nvSpPr>
        <p:spPr>
          <a:xfrm>
            <a:off x="3584448" y="2670048"/>
            <a:ext cx="2715768" cy="1490472"/>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3739896" y="2807208"/>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Spring backend</a:t>
            </a:r>
          </a:p>
        </p:txBody>
      </p:sp>
      <p:sp xmlns:a="http://schemas.openxmlformats.org/drawingml/2006/main">
        <p:nvSpPr>
          <p:cNvPr id="9" name="TextBox 8"/>
          <p:cNvSpPr txBox="1"/>
          <p:nvPr/>
        </p:nvSpPr>
        <p:spPr>
          <a:xfrm>
            <a:off x="3739896" y="3172968"/>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Recognition sessions</a:t>
            </a:r>
          </a:p>
          <a:p>
            <a:pPr>
              <a:lnSpc>
                <a:spcPct val="100000"/>
              </a:lnSpc>
              <a:spcBef>
                <a:spcPts val="0"/>
              </a:spcBef>
              <a:spcAft>
                <a:spcPts val="0"/>
              </a:spcAft>
            </a:pPr>
            <a:r>
              <a:rPr sz="1800" b="0">
                <a:solidFill>
                  <a:srgbClr val="14233B"/>
                </a:solidFill>
                <a:latin typeface="Arial"/>
              </a:rPr>
              <a:t>Advisor requests</a:t>
            </a:r>
          </a:p>
        </p:txBody>
      </p:sp>
      <p:sp xmlns:a="http://schemas.openxmlformats.org/drawingml/2006/main">
        <p:nvSpPr>
          <p:cNvPr id="10" name="Rounded Rectangle 9"/>
          <p:cNvSpPr/>
          <p:nvPr/>
        </p:nvSpPr>
        <p:spPr>
          <a:xfrm>
            <a:off x="6501384" y="2670048"/>
            <a:ext cx="2715768" cy="1490472"/>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656832" y="2807208"/>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Python service</a:t>
            </a:r>
          </a:p>
        </p:txBody>
      </p:sp>
      <p:sp xmlns:a="http://schemas.openxmlformats.org/drawingml/2006/main">
        <p:nvSpPr>
          <p:cNvPr id="12" name="TextBox 11"/>
          <p:cNvSpPr txBox="1"/>
          <p:nvPr/>
        </p:nvSpPr>
        <p:spPr>
          <a:xfrm>
            <a:off x="6656832" y="3172968"/>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Line detection</a:t>
            </a:r>
          </a:p>
          <a:p>
            <a:pPr>
              <a:lnSpc>
                <a:spcPct val="100000"/>
              </a:lnSpc>
              <a:spcBef>
                <a:spcPts val="0"/>
              </a:spcBef>
              <a:spcAft>
                <a:spcPts val="0"/>
              </a:spcAft>
            </a:pPr>
            <a:r>
              <a:rPr sz="1800" b="0">
                <a:solidFill>
                  <a:srgbClr val="14233B"/>
                </a:solidFill>
                <a:latin typeface="Arial"/>
              </a:rPr>
              <a:t>CRNN and CTC</a:t>
            </a:r>
          </a:p>
        </p:txBody>
      </p:sp>
      <p:sp xmlns:a="http://schemas.openxmlformats.org/drawingml/2006/main">
        <p:nvSpPr>
          <p:cNvPr id="13" name="Rounded Rectangle 12"/>
          <p:cNvSpPr/>
          <p:nvPr/>
        </p:nvSpPr>
        <p:spPr>
          <a:xfrm>
            <a:off x="667512" y="4462272"/>
            <a:ext cx="2715768" cy="1490472"/>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822960" y="45994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Analytics</a:t>
            </a:r>
          </a:p>
        </p:txBody>
      </p:sp>
      <p:sp xmlns:a="http://schemas.openxmlformats.org/drawingml/2006/main">
        <p:nvSpPr>
          <p:cNvPr id="15" name="TextBox 14"/>
          <p:cNvSpPr txBox="1"/>
          <p:nvPr/>
        </p:nvSpPr>
        <p:spPr>
          <a:xfrm>
            <a:off x="822960" y="4965192"/>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Explicit references</a:t>
            </a:r>
          </a:p>
          <a:p>
            <a:pPr>
              <a:lnSpc>
                <a:spcPct val="100000"/>
              </a:lnSpc>
              <a:spcBef>
                <a:spcPts val="0"/>
              </a:spcBef>
              <a:spcAft>
                <a:spcPts val="0"/>
              </a:spcAft>
            </a:pPr>
            <a:r>
              <a:rPr sz="1800" b="0">
                <a:solidFill>
                  <a:srgbClr val="14233B"/>
                </a:solidFill>
                <a:latin typeface="Arial"/>
              </a:rPr>
              <a:t>Recorded score sources</a:t>
            </a:r>
          </a:p>
        </p:txBody>
      </p:sp>
      <p:sp xmlns:a="http://schemas.openxmlformats.org/drawingml/2006/main">
        <p:nvSpPr>
          <p:cNvPr id="16" name="Rounded Rectangle 15"/>
          <p:cNvSpPr/>
          <p:nvPr/>
        </p:nvSpPr>
        <p:spPr>
          <a:xfrm>
            <a:off x="3584448" y="4462272"/>
            <a:ext cx="2715768" cy="1490472"/>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3739896" y="45994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Stored evidence</a:t>
            </a:r>
          </a:p>
        </p:txBody>
      </p:sp>
      <p:sp xmlns:a="http://schemas.openxmlformats.org/drawingml/2006/main">
        <p:nvSpPr>
          <p:cNvPr id="18" name="TextBox 17"/>
          <p:cNvSpPr txBox="1"/>
          <p:nvPr/>
        </p:nvSpPr>
        <p:spPr>
          <a:xfrm>
            <a:off x="3739896" y="4965192"/>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PostgreSQL metadata</a:t>
            </a:r>
          </a:p>
          <a:p>
            <a:pPr>
              <a:lnSpc>
                <a:spcPct val="100000"/>
              </a:lnSpc>
              <a:spcBef>
                <a:spcPts val="0"/>
              </a:spcBef>
              <a:spcAft>
                <a:spcPts val="0"/>
              </a:spcAft>
            </a:pPr>
            <a:r>
              <a:rPr sz="1800" b="0">
                <a:solidFill>
                  <a:srgbClr val="14233B"/>
                </a:solidFill>
                <a:latin typeface="Arial"/>
              </a:rPr>
              <a:t>MinIO images and crops</a:t>
            </a:r>
          </a:p>
        </p:txBody>
      </p:sp>
      <p:sp xmlns:a="http://schemas.openxmlformats.org/drawingml/2006/main">
        <p:nvSpPr>
          <p:cNvPr id="19" name="Rounded Rectangle 18"/>
          <p:cNvSpPr/>
          <p:nvPr/>
        </p:nvSpPr>
        <p:spPr>
          <a:xfrm>
            <a:off x="6501384" y="4462272"/>
            <a:ext cx="2715768" cy="1490472"/>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656832" y="459943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AI providers</a:t>
            </a:r>
          </a:p>
        </p:txBody>
      </p:sp>
      <p:sp xmlns:a="http://schemas.openxmlformats.org/drawingml/2006/main">
        <p:nvSpPr>
          <p:cNvPr id="21" name="TextBox 20"/>
          <p:cNvSpPr txBox="1"/>
          <p:nvPr/>
        </p:nvSpPr>
        <p:spPr>
          <a:xfrm>
            <a:off x="6656832" y="4965192"/>
            <a:ext cx="2404872" cy="896111"/>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Provider responses</a:t>
            </a:r>
          </a:p>
          <a:p>
            <a:pPr>
              <a:lnSpc>
                <a:spcPct val="100000"/>
              </a:lnSpc>
              <a:spcBef>
                <a:spcPts val="0"/>
              </a:spcBef>
              <a:spcAft>
                <a:spcPts val="0"/>
              </a:spcAft>
            </a:pPr>
            <a:r>
              <a:rPr sz="1800" b="0">
                <a:solidFill>
                  <a:srgbClr val="14233B"/>
                </a:solidFill>
                <a:latin typeface="Arial"/>
              </a:rPr>
              <a:t>Missing stays unavailable</a:t>
            </a:r>
          </a:p>
        </p:txBody>
      </p:sp>
      <p:sp xmlns:a="http://schemas.openxmlformats.org/drawingml/2006/main">
        <p:nvSpPr>
          <p:cNvPr id="22" name="TextBox 21"/>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The backend runs recognition and preserves source data for later comparison.</a:t>
            </a:r>
          </a:p>
        </p:txBody>
      </p:sp>
    </p:spTree>
    <p:extLst>
      <p:ext uri="{BB962C8B-B14F-4D97-AF65-F5344CB8AC3E}">
        <p14:creationId xmlns:p14="http://schemas.microsoft.com/office/powerpoint/2010/main" val="31422707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3.1.1. Raw OCR, actual AI advice and the reference stay separate</a:t>
            </a:r>
          </a:p>
        </p:txBody>
      </p:sp>
      <p:pic xmlns:a="http://schemas.openxmlformats.org/drawingml/2006/main" xmlns:r="http://schemas.openxmlformats.org/officeDocument/2006/relationships">
        <p:nvPicPr>
          <p:cNvPr id="4" name="Picture 3" descr="actual_review_line1_crop.png"/>
          <p:cNvPicPr>
            <a:picLocks noChangeAspect="1"/>
          </p:cNvPicPr>
          <p:nvPr/>
        </p:nvPicPr>
        <p:blipFill>
          <a:blip r:embed="rId3"/>
          <a:stretch>
            <a:fillRect/>
          </a:stretch>
        </p:blipFill>
        <p:spPr>
          <a:xfrm>
            <a:off x="667512" y="2625811"/>
            <a:ext cx="4617720" cy="3362024"/>
          </a:xfrm>
          <a:prstGeom prst="rect">
            <a:avLst/>
          </a:prstGeom>
        </p:spPr>
      </p:pic>
      <p:graphicFrame xmlns:a="http://schemas.openxmlformats.org/drawingml/2006/main">
        <p:nvGraphicFramePr>
          <p:cNvPr id="5" name="Table 4"/>
          <p:cNvGraphicFramePr>
            <a:graphicFrameLocks noGrp="1"/>
          </p:cNvGraphicFramePr>
          <p:nvPr/>
        </p:nvGraphicFramePr>
        <p:xfrm>
          <a:off x="5522976" y="2578608"/>
          <a:ext cx="3712464" cy="3456432"/>
        </p:xfrm>
        <a:graphic>
          <a:graphicData uri="http://schemas.openxmlformats.org/drawingml/2006/table">
            <a:tbl>
              <a:tblPr firstRow="1" bandRow="1">
                <a:tableStyleId>{5C22544A-7EE6-4342-B048-85BDC9FD1C3A}</a:tableStyleId>
              </a:tblPr>
              <a:tblGrid>
                <a:gridCol w="1380744"/>
                <a:gridCol w="2331720"/>
              </a:tblGrid>
              <a:tr h="576072">
                <a:tc>
                  <a:txBody>
                    <a:bodyPr/>
                    <a:lstStyle/>
                    <a:p>
                      <a:pPr>
                        <a:lnSpc>
                          <a:spcPct val="105000"/>
                        </a:lnSpc>
                        <a:spcBef>
                          <a:spcPts val="0"/>
                        </a:spcBef>
                        <a:spcAft>
                          <a:spcPts val="0"/>
                        </a:spcAft>
                      </a:pPr>
                      <a:r>
                        <a:rPr sz="1700" b="1">
                          <a:solidFill>
                            <a:srgbClr val="FFFFFF"/>
                          </a:solidFill>
                          <a:latin typeface="Arial"/>
                        </a:rPr>
                        <a:t>Saved field</a:t>
                      </a:r>
                    </a:p>
                  </a:txBody>
                  <a:tcPr anchor="ctr" marL="91440" marR="91440" marT="22860" marB="22860">
                    <a:solidFill>
                      <a:srgbClr val="173FAC"/>
                    </a:solidFill>
                  </a:tcPr>
                </a:tc>
                <a:tc>
                  <a:txBody>
                    <a:bodyPr/>
                    <a:lstStyle/>
                    <a:p>
                      <a:pPr>
                        <a:lnSpc>
                          <a:spcPct val="105000"/>
                        </a:lnSpc>
                        <a:spcBef>
                          <a:spcPts val="0"/>
                        </a:spcBef>
                        <a:spcAft>
                          <a:spcPts val="0"/>
                        </a:spcAft>
                      </a:pPr>
                      <a:r>
                        <a:rPr sz="1700" b="1">
                          <a:solidFill>
                            <a:srgbClr val="FFFFFF"/>
                          </a:solidFill>
                          <a:latin typeface="Arial"/>
                        </a:rPr>
                        <a:t>Actual value</a:t>
                      </a:r>
                    </a:p>
                  </a:txBody>
                  <a:tcPr anchor="ctr" marL="91440" marR="91440" marT="22860" marB="22860">
                    <a:solidFill>
                      <a:srgbClr val="173FAC"/>
                    </a:solidFill>
                  </a:tcPr>
                </a:tc>
              </a:tr>
              <a:tr h="576072">
                <a:tc>
                  <a:txBody>
                    <a:bodyPr/>
                    <a:lstStyle/>
                    <a:p>
                      <a:pPr>
                        <a:lnSpc>
                          <a:spcPct val="105000"/>
                        </a:lnSpc>
                        <a:spcBef>
                          <a:spcPts val="0"/>
                        </a:spcBef>
                        <a:spcAft>
                          <a:spcPts val="0"/>
                        </a:spcAft>
                      </a:pPr>
                      <a:r>
                        <a:rPr sz="1700" b="0">
                          <a:solidFill>
                            <a:srgbClr val="14233B"/>
                          </a:solidFill>
                          <a:latin typeface="Arial"/>
                        </a:rPr>
                        <a:t>Raw OCR</a:t>
                      </a:r>
                    </a:p>
                  </a:txBody>
                  <a:tcPr anchor="ctr" marL="91440" marR="91440" marT="22860" marB="22860">
                    <a:solidFill>
                      <a:srgbClr val="F1F5FC"/>
                    </a:solidFill>
                  </a:tcPr>
                </a:tc>
                <a:tc>
                  <a:txBody>
                    <a:bodyPr/>
                    <a:lstStyle/>
                    <a:p>
                      <a:pPr>
                        <a:lnSpc>
                          <a:spcPct val="105000"/>
                        </a:lnSpc>
                        <a:spcBef>
                          <a:spcPts val="0"/>
                        </a:spcBef>
                        <a:spcAft>
                          <a:spcPts val="0"/>
                        </a:spcAft>
                      </a:pPr>
                      <a:r>
                        <a:rPr sz="1700" b="0">
                          <a:solidFill>
                            <a:srgbClr val="14233B"/>
                          </a:solidFill>
                          <a:latin typeface="Arial"/>
                        </a:rPr>
                        <a:t>Emyêu mua hệ</a:t>
                      </a:r>
                    </a:p>
                  </a:txBody>
                  <a:tcPr anchor="ctr" marL="91440" marR="91440" marT="22860" marB="22860">
                    <a:solidFill>
                      <a:srgbClr val="F1F5FC"/>
                    </a:solidFill>
                  </a:tcPr>
                </a:tc>
              </a:tr>
              <a:tr h="576072">
                <a:tc>
                  <a:txBody>
                    <a:bodyPr/>
                    <a:lstStyle/>
                    <a:p>
                      <a:pPr>
                        <a:lnSpc>
                          <a:spcPct val="105000"/>
                        </a:lnSpc>
                        <a:spcBef>
                          <a:spcPts val="0"/>
                        </a:spcBef>
                        <a:spcAft>
                          <a:spcPts val="0"/>
                        </a:spcAft>
                      </a:pPr>
                      <a:r>
                        <a:rPr sz="1700" b="0">
                          <a:solidFill>
                            <a:srgbClr val="14233B"/>
                          </a:solidFill>
                          <a:latin typeface="Arial"/>
                        </a:rPr>
                        <a:t>AI candidate</a:t>
                      </a:r>
                    </a:p>
                  </a:txBody>
                  <a:tcPr anchor="ctr" marL="91440" marR="91440" marT="22860" marB="22860">
                    <a:solidFill>
                      <a:srgbClr val="FFFFFF"/>
                    </a:solidFill>
                  </a:tcPr>
                </a:tc>
                <a:tc>
                  <a:txBody>
                    <a:bodyPr/>
                    <a:lstStyle/>
                    <a:p>
                      <a:pPr>
                        <a:lnSpc>
                          <a:spcPct val="105000"/>
                        </a:lnSpc>
                        <a:spcBef>
                          <a:spcPts val="0"/>
                        </a:spcBef>
                        <a:spcAft>
                          <a:spcPts val="0"/>
                        </a:spcAft>
                      </a:pPr>
                      <a:r>
                        <a:rPr sz="1700" b="0">
                          <a:solidFill>
                            <a:srgbClr val="14233B"/>
                          </a:solidFill>
                          <a:latin typeface="Arial"/>
                        </a:rPr>
                        <a:t>Em yêu mùa hè</a:t>
                      </a:r>
                    </a:p>
                  </a:txBody>
                  <a:tcPr anchor="ctr" marL="91440" marR="91440" marT="22860" marB="22860">
                    <a:solidFill>
                      <a:srgbClr val="FFFFFF"/>
                    </a:solidFill>
                  </a:tcPr>
                </a:tc>
              </a:tr>
              <a:tr h="576072">
                <a:tc>
                  <a:txBody>
                    <a:bodyPr/>
                    <a:lstStyle/>
                    <a:p>
                      <a:pPr>
                        <a:lnSpc>
                          <a:spcPct val="105000"/>
                        </a:lnSpc>
                        <a:spcBef>
                          <a:spcPts val="0"/>
                        </a:spcBef>
                        <a:spcAft>
                          <a:spcPts val="0"/>
                        </a:spcAft>
                      </a:pPr>
                      <a:r>
                        <a:rPr sz="1700" b="0">
                          <a:solidFill>
                            <a:srgbClr val="14233B"/>
                          </a:solidFill>
                          <a:latin typeface="Arial"/>
                        </a:rPr>
                        <a:t>Reference</a:t>
                      </a:r>
                    </a:p>
                  </a:txBody>
                  <a:tcPr anchor="ctr" marL="91440" marR="91440" marT="22860" marB="22860">
                    <a:solidFill>
                      <a:srgbClr val="F1F5FC"/>
                    </a:solidFill>
                  </a:tcPr>
                </a:tc>
                <a:tc>
                  <a:txBody>
                    <a:bodyPr/>
                    <a:lstStyle/>
                    <a:p>
                      <a:pPr>
                        <a:lnSpc>
                          <a:spcPct val="105000"/>
                        </a:lnSpc>
                        <a:spcBef>
                          <a:spcPts val="0"/>
                        </a:spcBef>
                        <a:spcAft>
                          <a:spcPts val="0"/>
                        </a:spcAft>
                      </a:pPr>
                      <a:r>
                        <a:rPr sz="1700" b="0">
                          <a:solidFill>
                            <a:srgbClr val="14233B"/>
                          </a:solidFill>
                          <a:latin typeface="Arial"/>
                        </a:rPr>
                        <a:t>Em yêu mùa hè</a:t>
                      </a:r>
                    </a:p>
                  </a:txBody>
                  <a:tcPr anchor="ctr" marL="91440" marR="91440" marT="22860" marB="22860">
                    <a:solidFill>
                      <a:srgbClr val="F1F5FC"/>
                    </a:solidFill>
                  </a:tcPr>
                </a:tc>
              </a:tr>
              <a:tr h="576072">
                <a:tc>
                  <a:txBody>
                    <a:bodyPr/>
                    <a:lstStyle/>
                    <a:p>
                      <a:pPr>
                        <a:lnSpc>
                          <a:spcPct val="105000"/>
                        </a:lnSpc>
                        <a:spcBef>
                          <a:spcPts val="0"/>
                        </a:spcBef>
                        <a:spcAft>
                          <a:spcPts val="0"/>
                        </a:spcAft>
                      </a:pPr>
                      <a:r>
                        <a:rPr sz="1700" b="0">
                          <a:solidFill>
                            <a:srgbClr val="14233B"/>
                          </a:solidFill>
                          <a:latin typeface="Arial"/>
                        </a:rPr>
                        <a:t>OCR score</a:t>
                      </a:r>
                    </a:p>
                  </a:txBody>
                  <a:tcPr anchor="ctr" marL="91440" marR="91440" marT="22860" marB="22860">
                    <a:solidFill>
                      <a:srgbClr val="FFFFFF"/>
                    </a:solidFill>
                  </a:tcPr>
                </a:tc>
                <a:tc>
                  <a:txBody>
                    <a:bodyPr/>
                    <a:lstStyle/>
                    <a:p>
                      <a:pPr>
                        <a:lnSpc>
                          <a:spcPct val="105000"/>
                        </a:lnSpc>
                        <a:spcBef>
                          <a:spcPts val="0"/>
                        </a:spcBef>
                        <a:spcAft>
                          <a:spcPts val="0"/>
                        </a:spcAft>
                      </a:pPr>
                      <a:r>
                        <a:rPr sz="1700" b="0">
                          <a:solidFill>
                            <a:srgbClr val="14233B"/>
                          </a:solidFill>
                          <a:latin typeface="Arial"/>
                        </a:rPr>
                        <a:t>83.31%</a:t>
                      </a:r>
                    </a:p>
                  </a:txBody>
                  <a:tcPr anchor="ctr" marL="91440" marR="91440" marT="22860" marB="22860">
                    <a:solidFill>
                      <a:srgbClr val="FFFFFF"/>
                    </a:solidFill>
                  </a:tcPr>
                </a:tc>
              </a:tr>
              <a:tr h="576072">
                <a:tc>
                  <a:txBody>
                    <a:bodyPr/>
                    <a:lstStyle/>
                    <a:p>
                      <a:pPr>
                        <a:lnSpc>
                          <a:spcPct val="105000"/>
                        </a:lnSpc>
                        <a:spcBef>
                          <a:spcPts val="0"/>
                        </a:spcBef>
                        <a:spcAft>
                          <a:spcPts val="0"/>
                        </a:spcAft>
                      </a:pPr>
                      <a:r>
                        <a:rPr sz="1700" b="0">
                          <a:solidFill>
                            <a:srgbClr val="14233B"/>
                          </a:solidFill>
                          <a:latin typeface="Arial"/>
                        </a:rPr>
                        <a:t>Provider</a:t>
                      </a:r>
                    </a:p>
                  </a:txBody>
                  <a:tcPr anchor="ctr" marL="91440" marR="91440" marT="22860" marB="22860">
                    <a:solidFill>
                      <a:srgbClr val="F1F5FC"/>
                    </a:solidFill>
                  </a:tcPr>
                </a:tc>
                <a:tc>
                  <a:txBody>
                    <a:bodyPr/>
                    <a:lstStyle/>
                    <a:p>
                      <a:pPr>
                        <a:lnSpc>
                          <a:spcPct val="105000"/>
                        </a:lnSpc>
                        <a:spcBef>
                          <a:spcPts val="0"/>
                        </a:spcBef>
                        <a:spcAft>
                          <a:spcPts val="0"/>
                        </a:spcAft>
                      </a:pPr>
                      <a:r>
                        <a:rPr sz="1700" b="0">
                          <a:solidFill>
                            <a:srgbClr val="14233B"/>
                          </a:solidFill>
                          <a:latin typeface="Arial"/>
                        </a:rPr>
                        <a:t>Groq / SUCCESS</a:t>
                      </a:r>
                    </a:p>
                  </a:txBody>
                  <a:tcPr anchor="ctr" marL="91440" marR="91440" marT="22860" marB="22860">
                    <a:solidFill>
                      <a:srgbClr val="F1F5FC"/>
                    </a:solidFill>
                  </a:tcPr>
                </a:tc>
              </a:tr>
            </a:tbl>
          </a:graphicData>
        </a:graphic>
      </p:graphicFrame>
      <p:sp xmlns:a="http://schemas.openxmlformats.org/drawingml/2006/main">
        <p:nvSpPr>
          <p:cNvPr id="6" name="TextBox 5"/>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Actual app trial. Groq qwen/qwen3.8-27b returned the candidate. The OCR score is uncalibrated.</a:t>
            </a:r>
          </a:p>
        </p:txBody>
      </p:sp>
    </p:spTree>
    <p:extLst>
      <p:ext uri="{BB962C8B-B14F-4D97-AF65-F5344CB8AC3E}">
        <p14:creationId xmlns:p14="http://schemas.microsoft.com/office/powerpoint/2010/main" val="6609707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3.1.2. Saved OCR and actual Groq candidates for all 12 lines</a:t>
            </a:r>
          </a:p>
        </p:txBody>
      </p:sp>
      <p:graphicFrame xmlns:a="http://schemas.openxmlformats.org/drawingml/2006/main">
        <p:nvGraphicFramePr>
          <p:cNvPr id="4" name="Table 3"/>
          <p:cNvGraphicFramePr>
            <a:graphicFrameLocks noGrp="1"/>
          </p:cNvGraphicFramePr>
          <p:nvPr/>
        </p:nvGraphicFramePr>
        <p:xfrm>
          <a:off x="667512" y="2450592"/>
          <a:ext cx="8567927" cy="3639312"/>
        </p:xfrm>
        <a:graphic>
          <a:graphicData uri="http://schemas.openxmlformats.org/drawingml/2006/table">
            <a:tbl>
              <a:tblPr firstRow="1" bandRow="1">
                <a:tableStyleId>{5C22544A-7EE6-4342-B048-85BDC9FD1C3A}</a:tableStyleId>
              </a:tblPr>
              <a:tblGrid>
                <a:gridCol w="493776"/>
                <a:gridCol w="4014215"/>
                <a:gridCol w="4059936"/>
              </a:tblGrid>
              <a:tr h="279947">
                <a:tc>
                  <a:txBody>
                    <a:bodyPr/>
                    <a:lstStyle/>
                    <a:p>
                      <a:pPr>
                        <a:lnSpc>
                          <a:spcPct val="100000"/>
                        </a:lnSpc>
                        <a:spcBef>
                          <a:spcPts val="0"/>
                        </a:spcBef>
                        <a:spcAft>
                          <a:spcPts val="0"/>
                        </a:spcAft>
                      </a:pPr>
                      <a:r>
                        <a:rPr sz="1700" b="1">
                          <a:solidFill>
                            <a:srgbClr val="FFFFFF"/>
                          </a:solidFill>
                          <a:latin typeface="Arial"/>
                        </a:rPr>
                        <a:t>#</a:t>
                      </a:r>
                    </a:p>
                  </a:txBody>
                  <a:tcPr anchor="ctr" marL="91440" marR="91440" marT="9144" marB="9144">
                    <a:solidFill>
                      <a:srgbClr val="173FAC"/>
                    </a:solidFill>
                  </a:tcPr>
                </a:tc>
                <a:tc>
                  <a:txBody>
                    <a:bodyPr/>
                    <a:lstStyle/>
                    <a:p>
                      <a:pPr>
                        <a:lnSpc>
                          <a:spcPct val="100000"/>
                        </a:lnSpc>
                        <a:spcBef>
                          <a:spcPts val="0"/>
                        </a:spcBef>
                        <a:spcAft>
                          <a:spcPts val="0"/>
                        </a:spcAft>
                      </a:pPr>
                      <a:r>
                        <a:rPr sz="1700" b="1">
                          <a:solidFill>
                            <a:srgbClr val="FFFFFF"/>
                          </a:solidFill>
                          <a:latin typeface="Arial"/>
                        </a:rPr>
                        <a:t>Our raw OCR</a:t>
                      </a:r>
                    </a:p>
                  </a:txBody>
                  <a:tcPr anchor="ctr" marL="91440" marR="91440" marT="9144" marB="9144">
                    <a:solidFill>
                      <a:srgbClr val="173FAC"/>
                    </a:solidFill>
                  </a:tcPr>
                </a:tc>
                <a:tc>
                  <a:txBody>
                    <a:bodyPr/>
                    <a:lstStyle/>
                    <a:p>
                      <a:pPr>
                        <a:lnSpc>
                          <a:spcPct val="100000"/>
                        </a:lnSpc>
                        <a:spcBef>
                          <a:spcPts val="0"/>
                        </a:spcBef>
                        <a:spcAft>
                          <a:spcPts val="0"/>
                        </a:spcAft>
                      </a:pPr>
                      <a:r>
                        <a:rPr sz="1700" b="1">
                          <a:solidFill>
                            <a:srgbClr val="FFFFFF"/>
                          </a:solidFill>
                          <a:latin typeface="Arial"/>
                        </a:rPr>
                        <a:t>Actual Groq candidate</a:t>
                      </a:r>
                    </a:p>
                  </a:txBody>
                  <a:tcPr anchor="ctr" marL="91440" marR="91440" marT="9144" marB="9144">
                    <a:solidFill>
                      <a:srgbClr val="173FAC"/>
                    </a:solidFill>
                  </a:tcPr>
                </a:tc>
              </a:tr>
              <a:tr h="279947">
                <a:tc>
                  <a:txBody>
                    <a:bodyPr/>
                    <a:lstStyle/>
                    <a:p>
                      <a:pPr>
                        <a:lnSpc>
                          <a:spcPct val="100000"/>
                        </a:lnSpc>
                        <a:spcBef>
                          <a:spcPts val="0"/>
                        </a:spcBef>
                        <a:spcAft>
                          <a:spcPts val="0"/>
                        </a:spcAft>
                      </a:pPr>
                      <a:r>
                        <a:rPr sz="1700" b="0">
                          <a:solidFill>
                            <a:srgbClr val="14233B"/>
                          </a:solidFill>
                          <a:latin typeface="Arial"/>
                        </a:rPr>
                        <a:t>1</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Emyêu mua hệ</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Em yêu mùa hè</a:t>
                      </a:r>
                    </a:p>
                  </a:txBody>
                  <a:tcPr anchor="ctr" marL="91440" marR="91440" marT="9144" marB="9144">
                    <a:solidFill>
                      <a:srgbClr val="F1F5FC"/>
                    </a:solidFill>
                  </a:tcPr>
                </a:tc>
              </a:tr>
              <a:tr h="279947">
                <a:tc>
                  <a:txBody>
                    <a:bodyPr/>
                    <a:lstStyle/>
                    <a:p>
                      <a:pPr>
                        <a:lnSpc>
                          <a:spcPct val="100000"/>
                        </a:lnSpc>
                        <a:spcBef>
                          <a:spcPts val="0"/>
                        </a:spcBef>
                        <a:spcAft>
                          <a:spcPts val="0"/>
                        </a:spcAft>
                      </a:pPr>
                      <a:r>
                        <a:rPr sz="1700" b="0">
                          <a:solidFill>
                            <a:srgbClr val="14233B"/>
                          </a:solidFill>
                          <a:latin typeface="Arial"/>
                        </a:rPr>
                        <a:t>2</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Có hoa sim tím</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Có hoa sim tím</a:t>
                      </a:r>
                    </a:p>
                  </a:txBody>
                  <a:tcPr anchor="ctr" marL="91440" marR="91440" marT="9144" marB="9144">
                    <a:solidFill>
                      <a:srgbClr val="FFFFFF"/>
                    </a:solidFill>
                  </a:tcPr>
                </a:tc>
              </a:tr>
              <a:tr h="279947">
                <a:tc>
                  <a:txBody>
                    <a:bodyPr/>
                    <a:lstStyle/>
                    <a:p>
                      <a:pPr>
                        <a:lnSpc>
                          <a:spcPct val="100000"/>
                        </a:lnSpc>
                        <a:spcBef>
                          <a:spcPts val="0"/>
                        </a:spcBef>
                        <a:spcAft>
                          <a:spcPts val="0"/>
                        </a:spcAft>
                      </a:pPr>
                      <a:r>
                        <a:rPr sz="1700" b="0">
                          <a:solidFill>
                            <a:srgbClr val="14233B"/>
                          </a:solidFill>
                          <a:latin typeface="Arial"/>
                        </a:rPr>
                        <a:t>3</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Mọc trên đôi quê</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Mọc trên đồi quê</a:t>
                      </a:r>
                    </a:p>
                  </a:txBody>
                  <a:tcPr anchor="ctr" marL="91440" marR="91440" marT="9144" marB="9144">
                    <a:solidFill>
                      <a:srgbClr val="F1F5FC"/>
                    </a:solidFill>
                  </a:tcPr>
                </a:tc>
              </a:tr>
              <a:tr h="279947">
                <a:tc>
                  <a:txBody>
                    <a:bodyPr/>
                    <a:lstStyle/>
                    <a:p>
                      <a:pPr>
                        <a:lnSpc>
                          <a:spcPct val="100000"/>
                        </a:lnSpc>
                        <a:spcBef>
                          <a:spcPts val="0"/>
                        </a:spcBef>
                        <a:spcAft>
                          <a:spcPts val="0"/>
                        </a:spcAft>
                      </a:pPr>
                      <a:r>
                        <a:rPr sz="1700" b="0">
                          <a:solidFill>
                            <a:srgbClr val="14233B"/>
                          </a:solidFill>
                          <a:latin typeface="Arial"/>
                        </a:rPr>
                        <a:t>4</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Rung ring bướm lượn.</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Rung rinh bướm lượn.</a:t>
                      </a:r>
                    </a:p>
                  </a:txBody>
                  <a:tcPr anchor="ctr" marL="91440" marR="91440" marT="9144" marB="9144">
                    <a:solidFill>
                      <a:srgbClr val="FFFFFF"/>
                    </a:solidFill>
                  </a:tcPr>
                </a:tc>
              </a:tr>
              <a:tr h="279947">
                <a:tc>
                  <a:txBody>
                    <a:bodyPr/>
                    <a:lstStyle/>
                    <a:p>
                      <a:pPr>
                        <a:lnSpc>
                          <a:spcPct val="100000"/>
                        </a:lnSpc>
                        <a:spcBef>
                          <a:spcPts val="0"/>
                        </a:spcBef>
                        <a:spcAft>
                          <a:spcPts val="0"/>
                        </a:spcAft>
                      </a:pPr>
                      <a:r>
                        <a:rPr sz="1700" b="0">
                          <a:solidFill>
                            <a:srgbClr val="14233B"/>
                          </a:solidFill>
                          <a:latin typeface="Arial"/>
                        </a:rPr>
                        <a:t>5</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Chong thả dắt trâu</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Chong thả dắt trâu</a:t>
                      </a:r>
                    </a:p>
                  </a:txBody>
                  <a:tcPr anchor="ctr" marL="91440" marR="91440" marT="9144" marB="9144">
                    <a:solidFill>
                      <a:srgbClr val="F1F5FC"/>
                    </a:solidFill>
                  </a:tcPr>
                </a:tc>
              </a:tr>
              <a:tr h="279947">
                <a:tc>
                  <a:txBody>
                    <a:bodyPr/>
                    <a:lstStyle/>
                    <a:p>
                      <a:pPr>
                        <a:lnSpc>
                          <a:spcPct val="100000"/>
                        </a:lnSpc>
                        <a:spcBef>
                          <a:spcPts val="0"/>
                        </a:spcBef>
                        <a:spcAft>
                          <a:spcPts val="0"/>
                        </a:spcAft>
                      </a:pPr>
                      <a:r>
                        <a:rPr sz="1700" b="0">
                          <a:solidFill>
                            <a:srgbClr val="14233B"/>
                          </a:solidFill>
                          <a:latin typeface="Arial"/>
                        </a:rPr>
                        <a:t>6</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Trong chiều nắng xế</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Trong chiếu nắng xế</a:t>
                      </a:r>
                    </a:p>
                  </a:txBody>
                  <a:tcPr anchor="ctr" marL="91440" marR="91440" marT="9144" marB="9144">
                    <a:solidFill>
                      <a:srgbClr val="FFFFFF"/>
                    </a:solidFill>
                  </a:tcPr>
                </a:tc>
              </a:tr>
              <a:tr h="279947">
                <a:tc>
                  <a:txBody>
                    <a:bodyPr/>
                    <a:lstStyle/>
                    <a:p>
                      <a:pPr>
                        <a:lnSpc>
                          <a:spcPct val="100000"/>
                        </a:lnSpc>
                        <a:spcBef>
                          <a:spcPts val="0"/>
                        </a:spcBef>
                        <a:spcAft>
                          <a:spcPts val="0"/>
                        </a:spcAft>
                      </a:pPr>
                      <a:r>
                        <a:rPr sz="1700" b="0">
                          <a:solidFill>
                            <a:srgbClr val="14233B"/>
                          </a:solidFill>
                          <a:latin typeface="Arial"/>
                        </a:rPr>
                        <a:t>7</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Em hái sim ăn</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Em hái sim ần</a:t>
                      </a:r>
                    </a:p>
                  </a:txBody>
                  <a:tcPr anchor="ctr" marL="91440" marR="91440" marT="9144" marB="9144">
                    <a:solidFill>
                      <a:srgbClr val="F1F5FC"/>
                    </a:solidFill>
                  </a:tcPr>
                </a:tc>
              </a:tr>
              <a:tr h="279947">
                <a:tc>
                  <a:txBody>
                    <a:bodyPr/>
                    <a:lstStyle/>
                    <a:p>
                      <a:pPr>
                        <a:lnSpc>
                          <a:spcPct val="100000"/>
                        </a:lnSpc>
                        <a:spcBef>
                          <a:spcPts val="0"/>
                        </a:spcBef>
                        <a:spcAft>
                          <a:spcPts val="0"/>
                        </a:spcAft>
                      </a:pPr>
                      <a:r>
                        <a:rPr sz="1700" b="0">
                          <a:solidFill>
                            <a:srgbClr val="14233B"/>
                          </a:solidFill>
                          <a:latin typeface="Arial"/>
                        </a:rPr>
                        <a:t>8</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Triời, sao ngọt thế!</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Trời, sao ngọt thê!</a:t>
                      </a:r>
                    </a:p>
                  </a:txBody>
                  <a:tcPr anchor="ctr" marL="91440" marR="91440" marT="9144" marB="9144">
                    <a:solidFill>
                      <a:srgbClr val="FFFFFF"/>
                    </a:solidFill>
                  </a:tcPr>
                </a:tc>
              </a:tr>
              <a:tr h="279947">
                <a:tc>
                  <a:txBody>
                    <a:bodyPr/>
                    <a:lstStyle/>
                    <a:p>
                      <a:pPr>
                        <a:lnSpc>
                          <a:spcPct val="100000"/>
                        </a:lnSpc>
                        <a:spcBef>
                          <a:spcPts val="0"/>
                        </a:spcBef>
                        <a:spcAft>
                          <a:spcPts val="0"/>
                        </a:spcAft>
                      </a:pPr>
                      <a:r>
                        <a:rPr sz="1700" b="0">
                          <a:solidFill>
                            <a:srgbClr val="14233B"/>
                          </a:solidFill>
                          <a:latin typeface="Arial"/>
                        </a:rPr>
                        <a:t>9</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Gió mát lưng đôi</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Gió mát lưng đồi</a:t>
                      </a:r>
                    </a:p>
                  </a:txBody>
                  <a:tcPr anchor="ctr" marL="91440" marR="91440" marT="9144" marB="9144">
                    <a:solidFill>
                      <a:srgbClr val="F1F5FC"/>
                    </a:solidFill>
                  </a:tcPr>
                </a:tc>
              </a:tr>
              <a:tr h="279947">
                <a:tc>
                  <a:txBody>
                    <a:bodyPr/>
                    <a:lstStyle/>
                    <a:p>
                      <a:pPr>
                        <a:lnSpc>
                          <a:spcPct val="100000"/>
                        </a:lnSpc>
                        <a:spcBef>
                          <a:spcPts val="0"/>
                        </a:spcBef>
                        <a:spcAft>
                          <a:spcPts val="0"/>
                        </a:spcAft>
                      </a:pPr>
                      <a:r>
                        <a:rPr sz="1700" b="0">
                          <a:solidFill>
                            <a:srgbClr val="14233B"/>
                          </a:solidFill>
                          <a:latin typeface="Arial"/>
                        </a:rPr>
                        <a:t>10</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Ve ngân ra rả</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Ve ngan ra rả</a:t>
                      </a:r>
                    </a:p>
                  </a:txBody>
                  <a:tcPr anchor="ctr" marL="91440" marR="91440" marT="9144" marB="9144">
                    <a:solidFill>
                      <a:srgbClr val="FFFFFF"/>
                    </a:solidFill>
                  </a:tcPr>
                </a:tc>
              </a:tr>
              <a:tr h="279947">
                <a:tc>
                  <a:txBody>
                    <a:bodyPr/>
                    <a:lstStyle/>
                    <a:p>
                      <a:pPr>
                        <a:lnSpc>
                          <a:spcPct val="100000"/>
                        </a:lnSpc>
                        <a:spcBef>
                          <a:spcPts val="0"/>
                        </a:spcBef>
                        <a:spcAft>
                          <a:spcPts val="0"/>
                        </a:spcAft>
                      </a:pPr>
                      <a:r>
                        <a:rPr sz="1700" b="0">
                          <a:solidFill>
                            <a:srgbClr val="14233B"/>
                          </a:solidFill>
                          <a:latin typeface="Arial"/>
                        </a:rPr>
                        <a:t>11</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Trên cao lưng đồi</a:t>
                      </a:r>
                    </a:p>
                  </a:txBody>
                  <a:tcPr anchor="ctr" marL="91440" marR="91440" marT="9144" marB="9144">
                    <a:solidFill>
                      <a:srgbClr val="F1F5FC"/>
                    </a:solidFill>
                  </a:tcPr>
                </a:tc>
                <a:tc>
                  <a:txBody>
                    <a:bodyPr/>
                    <a:lstStyle/>
                    <a:p>
                      <a:pPr>
                        <a:lnSpc>
                          <a:spcPct val="100000"/>
                        </a:lnSpc>
                        <a:spcBef>
                          <a:spcPts val="0"/>
                        </a:spcBef>
                        <a:spcAft>
                          <a:spcPts val="0"/>
                        </a:spcAft>
                      </a:pPr>
                      <a:r>
                        <a:rPr sz="1700" b="0">
                          <a:solidFill>
                            <a:srgbClr val="14233B"/>
                          </a:solidFill>
                          <a:latin typeface="Arial"/>
                        </a:rPr>
                        <a:t>Trên cao lưng đồi</a:t>
                      </a:r>
                    </a:p>
                  </a:txBody>
                  <a:tcPr anchor="ctr" marL="91440" marR="91440" marT="9144" marB="9144">
                    <a:solidFill>
                      <a:srgbClr val="F1F5FC"/>
                    </a:solidFill>
                  </a:tcPr>
                </a:tc>
              </a:tr>
              <a:tr h="279948">
                <a:tc>
                  <a:txBody>
                    <a:bodyPr/>
                    <a:lstStyle/>
                    <a:p>
                      <a:pPr>
                        <a:lnSpc>
                          <a:spcPct val="100000"/>
                        </a:lnSpc>
                        <a:spcBef>
                          <a:spcPts val="0"/>
                        </a:spcBef>
                        <a:spcAft>
                          <a:spcPts val="0"/>
                        </a:spcAft>
                      </a:pPr>
                      <a:r>
                        <a:rPr sz="1700" b="0">
                          <a:solidFill>
                            <a:srgbClr val="14233B"/>
                          </a:solidFill>
                          <a:latin typeface="Arial"/>
                        </a:rPr>
                        <a:t>12</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Diều ai vừa thả.</a:t>
                      </a:r>
                    </a:p>
                  </a:txBody>
                  <a:tcPr anchor="ctr" marL="91440" marR="91440" marT="9144" marB="9144">
                    <a:solidFill>
                      <a:srgbClr val="FFFFFF"/>
                    </a:solidFill>
                  </a:tcPr>
                </a:tc>
                <a:tc>
                  <a:txBody>
                    <a:bodyPr/>
                    <a:lstStyle/>
                    <a:p>
                      <a:pPr>
                        <a:lnSpc>
                          <a:spcPct val="100000"/>
                        </a:lnSpc>
                        <a:spcBef>
                          <a:spcPts val="0"/>
                        </a:spcBef>
                        <a:spcAft>
                          <a:spcPts val="0"/>
                        </a:spcAft>
                      </a:pPr>
                      <a:r>
                        <a:rPr sz="1700" b="0">
                          <a:solidFill>
                            <a:srgbClr val="14233B"/>
                          </a:solidFill>
                          <a:latin typeface="Arial"/>
                        </a:rPr>
                        <a:t>Diều ai vừa thả.</a:t>
                      </a:r>
                    </a:p>
                  </a:txBody>
                  <a:tcPr anchor="ctr" marL="91440" marR="91440" marT="9144" marB="9144">
                    <a:solidFill>
                      <a:srgbClr val="FFFFFF"/>
                    </a:solidFill>
                  </a:tcPr>
                </a:tc>
              </a:tr>
            </a:tbl>
          </a:graphicData>
        </a:graphic>
      </p:graphicFrame>
      <p:sp xmlns:a="http://schemas.openxmlformats.org/drawingml/2006/main">
        <p:nvSpPr>
          <p:cNvPr id="5" name="TextBox 4"/>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12 real Groq responses: 4 raw errors fixed and 3 correct raw lines made wrong. No manual edits.</a:t>
            </a:r>
          </a:p>
        </p:txBody>
      </p:sp>
    </p:spTree>
    <p:extLst>
      <p:ext uri="{BB962C8B-B14F-4D97-AF65-F5344CB8AC3E}">
        <p14:creationId xmlns:p14="http://schemas.microsoft.com/office/powerpoint/2010/main" val="20096643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3.2.1. Model data and the app case study have different scopes</a:t>
            </a:r>
          </a:p>
        </p:txBody>
      </p:sp>
      <p:sp xmlns:a="http://schemas.openxmlformats.org/drawingml/2006/main">
        <p:nvSpPr>
          <p:cNvPr id="4" name="Rounded Rectangle 3"/>
          <p:cNvSpPr/>
          <p:nvPr/>
        </p:nvSpPr>
        <p:spPr>
          <a:xfrm>
            <a:off x="667512" y="2798064"/>
            <a:ext cx="2715768" cy="2295144"/>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3017520"/>
            <a:ext cx="2404872" cy="603504"/>
          </a:xfrm>
          <a:prstGeom prst="rect">
            <a:avLst/>
          </a:prstGeom>
          <a:noFill/>
        </p:spPr>
        <p:txBody>
          <a:bodyPr wrap="square" lIns="13716" rIns="13716" tIns="9144" bIns="9144" anchor="t">
            <a:spAutoFit/>
          </a:bodyPr>
          <a:lstStyle/>
          <a:p>
            <a:pPr>
              <a:lnSpc>
                <a:spcPct val="100000"/>
              </a:lnSpc>
              <a:spcBef>
                <a:spcPts val="0"/>
              </a:spcBef>
              <a:spcAft>
                <a:spcPts val="0"/>
              </a:spcAft>
            </a:pPr>
            <a:r>
              <a:rPr sz="3100" b="1">
                <a:solidFill>
                  <a:srgbClr val="2454EE"/>
                </a:solidFill>
                <a:latin typeface="Arial"/>
              </a:rPr>
              <a:t>59,462</a:t>
            </a:r>
          </a:p>
        </p:txBody>
      </p:sp>
      <p:sp xmlns:a="http://schemas.openxmlformats.org/drawingml/2006/main">
        <p:nvSpPr>
          <p:cNvPr id="6" name="TextBox 5"/>
          <p:cNvSpPr txBox="1"/>
          <p:nvPr/>
        </p:nvSpPr>
        <p:spPr>
          <a:xfrm>
            <a:off x="822960" y="3776472"/>
            <a:ext cx="2404872" cy="384048"/>
          </a:xfrm>
          <a:prstGeom prst="rect">
            <a:avLst/>
          </a:prstGeom>
          <a:noFill/>
        </p:spPr>
        <p:txBody>
          <a:bodyPr wrap="square" lIns="13716" rIns="13716" tIns="9144" bIns="9144" anchor="t">
            <a:spAutoFit/>
          </a:bodyPr>
          <a:lstStyle/>
          <a:p>
            <a:pPr>
              <a:lnSpc>
                <a:spcPct val="100000"/>
              </a:lnSpc>
              <a:spcBef>
                <a:spcPts val="0"/>
              </a:spcBef>
              <a:spcAft>
                <a:spcPts val="0"/>
              </a:spcAft>
            </a:pPr>
            <a:r>
              <a:rPr sz="2000" b="1">
                <a:solidFill>
                  <a:srgbClr val="14233B"/>
                </a:solidFill>
                <a:latin typeface="Arial"/>
              </a:rPr>
              <a:t>Training samples</a:t>
            </a:r>
          </a:p>
        </p:txBody>
      </p:sp>
      <p:sp xmlns:a="http://schemas.openxmlformats.org/drawingml/2006/main">
        <p:nvSpPr>
          <p:cNvPr id="7" name="TextBox 6"/>
          <p:cNvSpPr txBox="1"/>
          <p:nvPr/>
        </p:nvSpPr>
        <p:spPr>
          <a:xfrm>
            <a:off x="822960" y="4297680"/>
            <a:ext cx="2404872" cy="704088"/>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Model manifest</a:t>
            </a:r>
          </a:p>
          <a:p>
            <a:pPr>
              <a:lnSpc>
                <a:spcPct val="100000"/>
              </a:lnSpc>
              <a:spcBef>
                <a:spcPts val="0"/>
              </a:spcBef>
              <a:spcAft>
                <a:spcPts val="0"/>
              </a:spcAft>
            </a:pPr>
            <a:r>
              <a:rPr sz="1800" b="0">
                <a:solidFill>
                  <a:srgbClr val="14233B"/>
                </a:solidFill>
                <a:latin typeface="Arial"/>
              </a:rPr>
              <a:t>Training population</a:t>
            </a:r>
          </a:p>
        </p:txBody>
      </p:sp>
      <p:sp xmlns:a="http://schemas.openxmlformats.org/drawingml/2006/main">
        <p:nvSpPr>
          <p:cNvPr id="8" name="Rounded Rectangle 7"/>
          <p:cNvSpPr/>
          <p:nvPr/>
        </p:nvSpPr>
        <p:spPr>
          <a:xfrm>
            <a:off x="3584448" y="2798064"/>
            <a:ext cx="2715768" cy="2295144"/>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3739896" y="3017520"/>
            <a:ext cx="2404872" cy="603504"/>
          </a:xfrm>
          <a:prstGeom prst="rect">
            <a:avLst/>
          </a:prstGeom>
          <a:noFill/>
        </p:spPr>
        <p:txBody>
          <a:bodyPr wrap="square" lIns="13716" rIns="13716" tIns="9144" bIns="9144" anchor="t">
            <a:spAutoFit/>
          </a:bodyPr>
          <a:lstStyle/>
          <a:p>
            <a:pPr>
              <a:lnSpc>
                <a:spcPct val="100000"/>
              </a:lnSpc>
              <a:spcBef>
                <a:spcPts val="0"/>
              </a:spcBef>
              <a:spcAft>
                <a:spcPts val="0"/>
              </a:spcAft>
            </a:pPr>
            <a:r>
              <a:rPr sz="3100" b="1">
                <a:solidFill>
                  <a:srgbClr val="7750DD"/>
                </a:solidFill>
                <a:latin typeface="Arial"/>
              </a:rPr>
              <a:t>500</a:t>
            </a:r>
          </a:p>
        </p:txBody>
      </p:sp>
      <p:sp xmlns:a="http://schemas.openxmlformats.org/drawingml/2006/main">
        <p:nvSpPr>
          <p:cNvPr id="10" name="TextBox 9"/>
          <p:cNvSpPr txBox="1"/>
          <p:nvPr/>
        </p:nvSpPr>
        <p:spPr>
          <a:xfrm>
            <a:off x="3739896" y="3776472"/>
            <a:ext cx="2404872" cy="384048"/>
          </a:xfrm>
          <a:prstGeom prst="rect">
            <a:avLst/>
          </a:prstGeom>
          <a:noFill/>
        </p:spPr>
        <p:txBody>
          <a:bodyPr wrap="square" lIns="13716" rIns="13716" tIns="9144" bIns="9144" anchor="t">
            <a:spAutoFit/>
          </a:bodyPr>
          <a:lstStyle/>
          <a:p>
            <a:pPr>
              <a:lnSpc>
                <a:spcPct val="100000"/>
              </a:lnSpc>
              <a:spcBef>
                <a:spcPts val="0"/>
              </a:spcBef>
              <a:spcAft>
                <a:spcPts val="0"/>
              </a:spcAft>
            </a:pPr>
            <a:r>
              <a:rPr sz="2000" b="1">
                <a:solidFill>
                  <a:srgbClr val="14233B"/>
                </a:solidFill>
                <a:latin typeface="Arial"/>
              </a:rPr>
              <a:t>Validation samples</a:t>
            </a:r>
          </a:p>
        </p:txBody>
      </p:sp>
      <p:sp xmlns:a="http://schemas.openxmlformats.org/drawingml/2006/main">
        <p:nvSpPr>
          <p:cNvPr id="11" name="TextBox 10"/>
          <p:cNvSpPr txBox="1"/>
          <p:nvPr/>
        </p:nvSpPr>
        <p:spPr>
          <a:xfrm>
            <a:off x="3739896" y="4297680"/>
            <a:ext cx="2404872" cy="704088"/>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Recorded split</a:t>
            </a:r>
          </a:p>
          <a:p>
            <a:pPr>
              <a:lnSpc>
                <a:spcPct val="100000"/>
              </a:lnSpc>
              <a:spcBef>
                <a:spcPts val="0"/>
              </a:spcBef>
              <a:spcAft>
                <a:spcPts val="0"/>
              </a:spcAft>
            </a:pPr>
            <a:r>
              <a:rPr sz="1800" b="0">
                <a:solidFill>
                  <a:srgbClr val="14233B"/>
                </a:solidFill>
                <a:latin typeface="Arial"/>
              </a:rPr>
              <a:t>Model evaluation</a:t>
            </a:r>
          </a:p>
        </p:txBody>
      </p:sp>
      <p:sp xmlns:a="http://schemas.openxmlformats.org/drawingml/2006/main">
        <p:nvSpPr>
          <p:cNvPr id="12" name="Rounded Rectangle 11"/>
          <p:cNvSpPr/>
          <p:nvPr/>
        </p:nvSpPr>
        <p:spPr>
          <a:xfrm>
            <a:off x="6501384" y="2798064"/>
            <a:ext cx="2715768" cy="2295144"/>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656832" y="3017520"/>
            <a:ext cx="2404872" cy="603504"/>
          </a:xfrm>
          <a:prstGeom prst="rect">
            <a:avLst/>
          </a:prstGeom>
          <a:noFill/>
        </p:spPr>
        <p:txBody>
          <a:bodyPr wrap="square" lIns="13716" rIns="13716" tIns="9144" bIns="9144" anchor="t">
            <a:spAutoFit/>
          </a:bodyPr>
          <a:lstStyle/>
          <a:p>
            <a:pPr>
              <a:lnSpc>
                <a:spcPct val="100000"/>
              </a:lnSpc>
              <a:spcBef>
                <a:spcPts val="0"/>
              </a:spcBef>
              <a:spcAft>
                <a:spcPts val="0"/>
              </a:spcAft>
            </a:pPr>
            <a:r>
              <a:rPr sz="3100" b="1">
                <a:solidFill>
                  <a:srgbClr val="00846B"/>
                </a:solidFill>
                <a:latin typeface="Arial"/>
              </a:rPr>
              <a:t>510</a:t>
            </a:r>
          </a:p>
        </p:txBody>
      </p:sp>
      <p:sp xmlns:a="http://schemas.openxmlformats.org/drawingml/2006/main">
        <p:nvSpPr>
          <p:cNvPr id="14" name="TextBox 13"/>
          <p:cNvSpPr txBox="1"/>
          <p:nvPr/>
        </p:nvSpPr>
        <p:spPr>
          <a:xfrm>
            <a:off x="6656832" y="3776472"/>
            <a:ext cx="2404872" cy="384048"/>
          </a:xfrm>
          <a:prstGeom prst="rect">
            <a:avLst/>
          </a:prstGeom>
          <a:noFill/>
        </p:spPr>
        <p:txBody>
          <a:bodyPr wrap="square" lIns="13716" rIns="13716" tIns="9144" bIns="9144" anchor="t">
            <a:spAutoFit/>
          </a:bodyPr>
          <a:lstStyle/>
          <a:p>
            <a:pPr>
              <a:lnSpc>
                <a:spcPct val="100000"/>
              </a:lnSpc>
              <a:spcBef>
                <a:spcPts val="0"/>
              </a:spcBef>
              <a:spcAft>
                <a:spcPts val="0"/>
              </a:spcAft>
            </a:pPr>
            <a:r>
              <a:rPr sz="2000" b="1">
                <a:solidFill>
                  <a:srgbClr val="14233B"/>
                </a:solidFill>
                <a:latin typeface="Arial"/>
              </a:rPr>
              <a:t>Local candidates</a:t>
            </a:r>
          </a:p>
        </p:txBody>
      </p:sp>
      <p:sp xmlns:a="http://schemas.openxmlformats.org/drawingml/2006/main">
        <p:nvSpPr>
          <p:cNvPr id="15" name="TextBox 14"/>
          <p:cNvSpPr txBox="1"/>
          <p:nvPr/>
        </p:nvSpPr>
        <p:spPr>
          <a:xfrm>
            <a:off x="6656832" y="4297680"/>
            <a:ext cx="2404872" cy="704088"/>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Provisional collection</a:t>
            </a:r>
          </a:p>
          <a:p>
            <a:pPr>
              <a:lnSpc>
                <a:spcPct val="100000"/>
              </a:lnSpc>
              <a:spcBef>
                <a:spcPts val="0"/>
              </a:spcBef>
              <a:spcAft>
                <a:spcPts val="0"/>
              </a:spcAft>
            </a:pPr>
            <a:r>
              <a:rPr sz="1800" b="0">
                <a:solidFill>
                  <a:srgbClr val="14233B"/>
                </a:solidFill>
                <a:latin typeface="Arial"/>
              </a:rPr>
              <a:t>Review pending</a:t>
            </a:r>
          </a:p>
        </p:txBody>
      </p:sp>
      <p:sp xmlns:a="http://schemas.openxmlformats.org/drawingml/2006/main">
        <p:nvSpPr>
          <p:cNvPr id="16" name="TextBox 15"/>
          <p:cNvSpPr txBox="1"/>
          <p:nvPr/>
        </p:nvSpPr>
        <p:spPr>
          <a:xfrm>
            <a:off x="667512" y="5367528"/>
            <a:ext cx="8567928" cy="685800"/>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App case study: one source image with 12 handwriting lines.</a:t>
            </a:r>
          </a:p>
          <a:p>
            <a:pPr>
              <a:lnSpc>
                <a:spcPct val="100000"/>
              </a:lnSpc>
              <a:spcBef>
                <a:spcPts val="0"/>
              </a:spcBef>
              <a:spcAft>
                <a:spcPts val="0"/>
              </a:spcAft>
            </a:pPr>
            <a:r>
              <a:rPr sz="1900" b="0">
                <a:solidFill>
                  <a:srgbClr val="14233B"/>
                </a:solidFill>
                <a:latin typeface="Arial"/>
              </a:rPr>
              <a:t>Historical validation values do not describe this single-image session.</a:t>
            </a:r>
          </a:p>
        </p:txBody>
      </p:sp>
    </p:spTree>
    <p:extLst>
      <p:ext uri="{BB962C8B-B14F-4D97-AF65-F5344CB8AC3E}">
        <p14:creationId xmlns:p14="http://schemas.microsoft.com/office/powerpoint/2010/main" val="366563199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3.2.2. Historical checkpoint measurements remain traceable</a:t>
            </a:r>
          </a:p>
        </p:txBody>
      </p:sp>
      <p:graphicFrame xmlns:a="http://schemas.openxmlformats.org/drawingml/2006/main">
        <p:nvGraphicFramePr>
          <p:cNvPr id="4" name="Table 3"/>
          <p:cNvGraphicFramePr>
            <a:graphicFrameLocks noGrp="1"/>
          </p:cNvGraphicFramePr>
          <p:nvPr/>
        </p:nvGraphicFramePr>
        <p:xfrm>
          <a:off x="667512" y="2596896"/>
          <a:ext cx="8567928" cy="3456432"/>
        </p:xfrm>
        <a:graphic>
          <a:graphicData uri="http://schemas.openxmlformats.org/drawingml/2006/table">
            <a:tbl>
              <a:tblPr firstRow="1" bandRow="1">
                <a:tableStyleId>{5C22544A-7EE6-4342-B048-85BDC9FD1C3A}</a:tableStyleId>
              </a:tblPr>
              <a:tblGrid>
                <a:gridCol w="3182112"/>
                <a:gridCol w="5385816"/>
              </a:tblGrid>
              <a:tr h="493776">
                <a:tc>
                  <a:txBody>
                    <a:bodyPr/>
                    <a:lstStyle/>
                    <a:p>
                      <a:pPr>
                        <a:lnSpc>
                          <a:spcPct val="105000"/>
                        </a:lnSpc>
                        <a:spcBef>
                          <a:spcPts val="0"/>
                        </a:spcBef>
                        <a:spcAft>
                          <a:spcPts val="0"/>
                        </a:spcAft>
                      </a:pPr>
                      <a:r>
                        <a:rPr sz="1850" b="1">
                          <a:solidFill>
                            <a:srgbClr val="FFFFFF"/>
                          </a:solidFill>
                          <a:latin typeface="Arial"/>
                        </a:rPr>
                        <a:t>Recorded parameter</a:t>
                      </a:r>
                    </a:p>
                  </a:txBody>
                  <a:tcPr anchor="ctr" marL="91440" marR="91440" marT="22860" marB="22860">
                    <a:solidFill>
                      <a:srgbClr val="173FAC"/>
                    </a:solidFill>
                  </a:tcPr>
                </a:tc>
                <a:tc>
                  <a:txBody>
                    <a:bodyPr/>
                    <a:lstStyle/>
                    <a:p>
                      <a:pPr>
                        <a:lnSpc>
                          <a:spcPct val="105000"/>
                        </a:lnSpc>
                        <a:spcBef>
                          <a:spcPts val="0"/>
                        </a:spcBef>
                        <a:spcAft>
                          <a:spcPts val="0"/>
                        </a:spcAft>
                      </a:pPr>
                      <a:r>
                        <a:rPr sz="1850" b="1">
                          <a:solidFill>
                            <a:srgbClr val="FFFFFF"/>
                          </a:solidFill>
                          <a:latin typeface="Arial"/>
                        </a:rPr>
                        <a:t>Value and scope</a:t>
                      </a:r>
                    </a:p>
                  </a:txBody>
                  <a:tcPr anchor="ctr" marL="91440" marR="91440" marT="22860" marB="22860">
                    <a:solidFill>
                      <a:srgbClr val="173FAC"/>
                    </a:solidFill>
                  </a:tcPr>
                </a:tc>
              </a:tr>
              <a:tr h="493776">
                <a:tc>
                  <a:txBody>
                    <a:bodyPr/>
                    <a:lstStyle/>
                    <a:p>
                      <a:pPr>
                        <a:lnSpc>
                          <a:spcPct val="105000"/>
                        </a:lnSpc>
                        <a:spcBef>
                          <a:spcPts val="0"/>
                        </a:spcBef>
                        <a:spcAft>
                          <a:spcPts val="0"/>
                        </a:spcAft>
                      </a:pPr>
                      <a:r>
                        <a:rPr sz="1850" b="0">
                          <a:solidFill>
                            <a:srgbClr val="14233B"/>
                          </a:solidFill>
                          <a:latin typeface="Arial"/>
                        </a:rPr>
                        <a:t>Official validation CER</a:t>
                      </a:r>
                    </a:p>
                  </a:txBody>
                  <a:tcPr anchor="ctr" marL="91440" marR="91440" marT="22860" marB="22860">
                    <a:solidFill>
                      <a:srgbClr val="F1F5FC"/>
                    </a:solidFill>
                  </a:tcPr>
                </a:tc>
                <a:tc>
                  <a:txBody>
                    <a:bodyPr/>
                    <a:lstStyle/>
                    <a:p>
                      <a:pPr>
                        <a:lnSpc>
                          <a:spcPct val="105000"/>
                        </a:lnSpc>
                        <a:spcBef>
                          <a:spcPts val="0"/>
                        </a:spcBef>
                        <a:spcAft>
                          <a:spcPts val="0"/>
                        </a:spcAft>
                      </a:pPr>
                      <a:r>
                        <a:rPr sz="1850" b="0">
                          <a:solidFill>
                            <a:srgbClr val="14233B"/>
                          </a:solidFill>
                          <a:latin typeface="Arial"/>
                        </a:rPr>
                        <a:t>11.3388% on 500 samples</a:t>
                      </a:r>
                    </a:p>
                  </a:txBody>
                  <a:tcPr anchor="ctr" marL="91440" marR="91440" marT="22860" marB="22860">
                    <a:solidFill>
                      <a:srgbClr val="F1F5FC"/>
                    </a:solidFill>
                  </a:tcPr>
                </a:tc>
              </a:tr>
              <a:tr h="493776">
                <a:tc>
                  <a:txBody>
                    <a:bodyPr/>
                    <a:lstStyle/>
                    <a:p>
                      <a:pPr>
                        <a:lnSpc>
                          <a:spcPct val="105000"/>
                        </a:lnSpc>
                        <a:spcBef>
                          <a:spcPts val="0"/>
                        </a:spcBef>
                        <a:spcAft>
                          <a:spcPts val="0"/>
                        </a:spcAft>
                      </a:pPr>
                      <a:r>
                        <a:rPr sz="1850" b="0">
                          <a:solidFill>
                            <a:srgbClr val="14233B"/>
                          </a:solidFill>
                          <a:latin typeface="Arial"/>
                        </a:rPr>
                        <a:t>Checkpoint</a:t>
                      </a:r>
                    </a:p>
                  </a:txBody>
                  <a:tcPr anchor="ctr" marL="91440" marR="91440" marT="22860" marB="22860">
                    <a:solidFill>
                      <a:srgbClr val="FFFFFF"/>
                    </a:solidFill>
                  </a:tcPr>
                </a:tc>
                <a:tc>
                  <a:txBody>
                    <a:bodyPr/>
                    <a:lstStyle/>
                    <a:p>
                      <a:pPr>
                        <a:lnSpc>
                          <a:spcPct val="105000"/>
                        </a:lnSpc>
                        <a:spcBef>
                          <a:spcPts val="0"/>
                        </a:spcBef>
                        <a:spcAft>
                          <a:spcPts val="0"/>
                        </a:spcAft>
                      </a:pPr>
                      <a:r>
                        <a:rPr sz="1850" b="0">
                          <a:solidFill>
                            <a:srgbClr val="14233B"/>
                          </a:solidFill>
                          <a:latin typeface="Arial"/>
                        </a:rPr>
                        <a:t>Step 16,900; loss 0.4518</a:t>
                      </a:r>
                    </a:p>
                  </a:txBody>
                  <a:tcPr anchor="ctr" marL="91440" marR="91440" marT="22860" marB="22860">
                    <a:solidFill>
                      <a:srgbClr val="FFFFFF"/>
                    </a:solidFill>
                  </a:tcPr>
                </a:tc>
              </a:tr>
              <a:tr h="493776">
                <a:tc>
                  <a:txBody>
                    <a:bodyPr/>
                    <a:lstStyle/>
                    <a:p>
                      <a:pPr>
                        <a:lnSpc>
                          <a:spcPct val="105000"/>
                        </a:lnSpc>
                        <a:spcBef>
                          <a:spcPts val="0"/>
                        </a:spcBef>
                        <a:spcAft>
                          <a:spcPts val="0"/>
                        </a:spcAft>
                      </a:pPr>
                      <a:r>
                        <a:rPr sz="1850" b="0">
                          <a:solidFill>
                            <a:srgbClr val="14233B"/>
                          </a:solidFill>
                          <a:latin typeface="Arial"/>
                        </a:rPr>
                        <a:t>Same-step reevaluation</a:t>
                      </a:r>
                    </a:p>
                  </a:txBody>
                  <a:tcPr anchor="ctr" marL="91440" marR="91440" marT="22860" marB="22860">
                    <a:solidFill>
                      <a:srgbClr val="F1F5FC"/>
                    </a:solidFill>
                  </a:tcPr>
                </a:tc>
                <a:tc>
                  <a:txBody>
                    <a:bodyPr/>
                    <a:lstStyle/>
                    <a:p>
                      <a:pPr>
                        <a:lnSpc>
                          <a:spcPct val="105000"/>
                        </a:lnSpc>
                        <a:spcBef>
                          <a:spcPts val="0"/>
                        </a:spcBef>
                        <a:spcAft>
                          <a:spcPts val="0"/>
                        </a:spcAft>
                      </a:pPr>
                      <a:r>
                        <a:rPr sz="1850" b="0">
                          <a:solidFill>
                            <a:srgbClr val="14233B"/>
                          </a:solidFill>
                          <a:latin typeface="Arial"/>
                        </a:rPr>
                        <a:t>Train subset 8.66182%; validation 11.19701%</a:t>
                      </a:r>
                    </a:p>
                  </a:txBody>
                  <a:tcPr anchor="ctr" marL="91440" marR="91440" marT="22860" marB="22860">
                    <a:solidFill>
                      <a:srgbClr val="F1F5FC"/>
                    </a:solidFill>
                  </a:tcPr>
                </a:tc>
              </a:tr>
              <a:tr h="493776">
                <a:tc>
                  <a:txBody>
                    <a:bodyPr/>
                    <a:lstStyle/>
                    <a:p>
                      <a:pPr>
                        <a:lnSpc>
                          <a:spcPct val="105000"/>
                        </a:lnSpc>
                        <a:spcBef>
                          <a:spcPts val="0"/>
                        </a:spcBef>
                        <a:spcAft>
                          <a:spcPts val="0"/>
                        </a:spcAft>
                      </a:pPr>
                      <a:r>
                        <a:rPr sz="1850" b="0">
                          <a:solidFill>
                            <a:srgbClr val="14233B"/>
                          </a:solidFill>
                          <a:latin typeface="Arial"/>
                        </a:rPr>
                        <a:t>CER gap</a:t>
                      </a:r>
                    </a:p>
                  </a:txBody>
                  <a:tcPr anchor="ctr" marL="91440" marR="91440" marT="22860" marB="22860">
                    <a:solidFill>
                      <a:srgbClr val="FFFFFF"/>
                    </a:solidFill>
                  </a:tcPr>
                </a:tc>
                <a:tc>
                  <a:txBody>
                    <a:bodyPr/>
                    <a:lstStyle/>
                    <a:p>
                      <a:pPr>
                        <a:lnSpc>
                          <a:spcPct val="105000"/>
                        </a:lnSpc>
                        <a:spcBef>
                          <a:spcPts val="0"/>
                        </a:spcBef>
                        <a:spcAft>
                          <a:spcPts val="0"/>
                        </a:spcAft>
                      </a:pPr>
                      <a:r>
                        <a:rPr sz="1850" b="0">
                          <a:solidFill>
                            <a:srgbClr val="14233B"/>
                          </a:solidFill>
                          <a:latin typeface="Arial"/>
                        </a:rPr>
                        <a:t>2.5352 percentage points</a:t>
                      </a:r>
                    </a:p>
                  </a:txBody>
                  <a:tcPr anchor="ctr" marL="91440" marR="91440" marT="22860" marB="22860">
                    <a:solidFill>
                      <a:srgbClr val="FFFFFF"/>
                    </a:solidFill>
                  </a:tcPr>
                </a:tc>
              </a:tr>
              <a:tr h="493776">
                <a:tc>
                  <a:txBody>
                    <a:bodyPr/>
                    <a:lstStyle/>
                    <a:p>
                      <a:pPr>
                        <a:lnSpc>
                          <a:spcPct val="105000"/>
                        </a:lnSpc>
                        <a:spcBef>
                          <a:spcPts val="0"/>
                        </a:spcBef>
                        <a:spcAft>
                          <a:spcPts val="0"/>
                        </a:spcAft>
                      </a:pPr>
                      <a:r>
                        <a:rPr sz="1850" b="0">
                          <a:solidFill>
                            <a:srgbClr val="14233B"/>
                          </a:solidFill>
                          <a:latin typeface="Arial"/>
                        </a:rPr>
                        <a:t>Model and vocabulary</a:t>
                      </a:r>
                    </a:p>
                  </a:txBody>
                  <a:tcPr anchor="ctr" marL="91440" marR="91440" marT="22860" marB="22860">
                    <a:solidFill>
                      <a:srgbClr val="F1F5FC"/>
                    </a:solidFill>
                  </a:tcPr>
                </a:tc>
                <a:tc>
                  <a:txBody>
                    <a:bodyPr/>
                    <a:lstStyle/>
                    <a:p>
                      <a:pPr>
                        <a:lnSpc>
                          <a:spcPct val="105000"/>
                        </a:lnSpc>
                        <a:spcBef>
                          <a:spcPts val="0"/>
                        </a:spcBef>
                        <a:spcAft>
                          <a:spcPts val="0"/>
                        </a:spcAft>
                      </a:pPr>
                      <a:r>
                        <a:rPr sz="1850" b="0">
                          <a:solidFill>
                            <a:srgbClr val="14233B"/>
                          </a:solidFill>
                          <a:latin typeface="Arial"/>
                        </a:rPr>
                        <a:t>5,962,560 parameters; 320 classes</a:t>
                      </a:r>
                    </a:p>
                  </a:txBody>
                  <a:tcPr anchor="ctr" marL="91440" marR="91440" marT="22860" marB="22860">
                    <a:solidFill>
                      <a:srgbClr val="F1F5FC"/>
                    </a:solidFill>
                  </a:tcPr>
                </a:tc>
              </a:tr>
              <a:tr h="493776">
                <a:tc>
                  <a:txBody>
                    <a:bodyPr/>
                    <a:lstStyle/>
                    <a:p>
                      <a:pPr>
                        <a:lnSpc>
                          <a:spcPct val="105000"/>
                        </a:lnSpc>
                        <a:spcBef>
                          <a:spcPts val="0"/>
                        </a:spcBef>
                        <a:spcAft>
                          <a:spcPts val="0"/>
                        </a:spcAft>
                      </a:pPr>
                      <a:r>
                        <a:rPr sz="1850" b="0">
                          <a:solidFill>
                            <a:srgbClr val="14233B"/>
                          </a:solidFill>
                          <a:latin typeface="Arial"/>
                        </a:rPr>
                        <a:t>Input and decoding</a:t>
                      </a:r>
                    </a:p>
                  </a:txBody>
                  <a:tcPr anchor="ctr" marL="91440" marR="91440" marT="22860" marB="22860">
                    <a:solidFill>
                      <a:srgbClr val="FFFFFF"/>
                    </a:solidFill>
                  </a:tcPr>
                </a:tc>
                <a:tc>
                  <a:txBody>
                    <a:bodyPr/>
                    <a:lstStyle/>
                    <a:p>
                      <a:pPr>
                        <a:lnSpc>
                          <a:spcPct val="105000"/>
                        </a:lnSpc>
                        <a:spcBef>
                          <a:spcPts val="0"/>
                        </a:spcBef>
                        <a:spcAft>
                          <a:spcPts val="0"/>
                        </a:spcAft>
                      </a:pPr>
                      <a:r>
                        <a:rPr sz="1850" b="0">
                          <a:solidFill>
                            <a:srgbClr val="14233B"/>
                          </a:solidFill>
                          <a:latin typeface="Arial"/>
                        </a:rPr>
                        <a:t>RGB 64 × 1024; greedy CTC</a:t>
                      </a:r>
                    </a:p>
                  </a:txBody>
                  <a:tcPr anchor="ctr" marL="91440" marR="91440" marT="22860" marB="22860">
                    <a:solidFill>
                      <a:srgbClr val="FFFFFF"/>
                    </a:solidFill>
                  </a:tcPr>
                </a:tc>
              </a:tr>
            </a:tbl>
          </a:graphicData>
        </a:graphic>
      </p:graphicFrame>
      <p:sp xmlns:a="http://schemas.openxmlformats.org/drawingml/2006/main">
        <p:nvSpPr>
          <p:cNvPr id="5" name="TextBox 4"/>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Source: model_manifest.json. Historical model measurements, separate from the app case study.</a:t>
            </a:r>
          </a:p>
        </p:txBody>
      </p:sp>
    </p:spTree>
    <p:extLst>
      <p:ext uri="{BB962C8B-B14F-4D97-AF65-F5344CB8AC3E}">
        <p14:creationId xmlns:p14="http://schemas.microsoft.com/office/powerpoint/2010/main" val="30326151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3.3.1. The report uses the saved app recognition session</a:t>
            </a:r>
          </a:p>
        </p:txBody>
      </p:sp>
      <p:pic xmlns:a="http://schemas.openxmlformats.org/drawingml/2006/main" xmlns:r="http://schemas.openxmlformats.org/officeDocument/2006/relationships">
        <p:nvPicPr>
          <p:cNvPr id="4" name="Picture 3" descr="actual_summary_paired_crop.png"/>
          <p:cNvPicPr>
            <a:picLocks noChangeAspect="1"/>
          </p:cNvPicPr>
          <p:nvPr/>
        </p:nvPicPr>
        <p:blipFill>
          <a:blip r:embed="rId3"/>
          <a:stretch>
            <a:fillRect/>
          </a:stretch>
        </p:blipFill>
        <p:spPr>
          <a:xfrm>
            <a:off x="1039238" y="2578608"/>
            <a:ext cx="3746251" cy="3493008"/>
          </a:xfrm>
          <a:prstGeom prst="rect">
            <a:avLst/>
          </a:prstGeom>
        </p:spPr>
      </p:pic>
      <p:sp xmlns:a="http://schemas.openxmlformats.org/drawingml/2006/main">
        <p:nvSpPr>
          <p:cNvPr id="5" name="TextBox 4"/>
          <p:cNvSpPr txBox="1"/>
          <p:nvPr/>
        </p:nvSpPr>
        <p:spPr>
          <a:xfrm>
            <a:off x="5458968" y="2615184"/>
            <a:ext cx="3758184" cy="804672"/>
          </a:xfrm>
          <a:prstGeom prst="rect">
            <a:avLst/>
          </a:prstGeom>
          <a:noFill/>
        </p:spPr>
        <p:txBody>
          <a:bodyPr wrap="square" lIns="13716" rIns="13716" tIns="9144" bIns="9144" anchor="t">
            <a:spAutoFit/>
          </a:bodyPr>
          <a:lstStyle/>
          <a:p>
            <a:pPr>
              <a:lnSpc>
                <a:spcPct val="100000"/>
              </a:lnSpc>
              <a:spcBef>
                <a:spcPts val="0"/>
              </a:spcBef>
              <a:spcAft>
                <a:spcPts val="0"/>
              </a:spcAft>
            </a:pPr>
            <a:r>
              <a:rPr sz="2300" b="1">
                <a:solidFill>
                  <a:srgbClr val="2454EE"/>
                </a:solidFill>
                <a:latin typeface="Arial"/>
              </a:rPr>
              <a:t>1 image / 1 app trial</a:t>
            </a:r>
          </a:p>
          <a:p>
            <a:pPr>
              <a:lnSpc>
                <a:spcPct val="100000"/>
              </a:lnSpc>
              <a:spcBef>
                <a:spcPts val="0"/>
              </a:spcBef>
              <a:spcAft>
                <a:spcPts val="0"/>
              </a:spcAft>
            </a:pPr>
            <a:r>
              <a:rPr sz="2300" b="1">
                <a:solidFill>
                  <a:srgbClr val="2454EE"/>
                </a:solidFill>
                <a:latin typeface="Arial"/>
              </a:rPr>
              <a:t>12 reference lines</a:t>
            </a:r>
          </a:p>
        </p:txBody>
      </p:sp>
      <p:sp xmlns:a="http://schemas.openxmlformats.org/drawingml/2006/main">
        <p:nvSpPr>
          <p:cNvPr id="6" name="TextBox 5"/>
          <p:cNvSpPr txBox="1"/>
          <p:nvPr/>
        </p:nvSpPr>
        <p:spPr>
          <a:xfrm>
            <a:off x="5458968" y="3584448"/>
            <a:ext cx="3758184" cy="1069848"/>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Raw OCR: 6/12 (50.00%)</a:t>
            </a:r>
          </a:p>
          <a:p>
            <a:pPr>
              <a:lnSpc>
                <a:spcPct val="100000"/>
              </a:lnSpc>
              <a:spcBef>
                <a:spcPts val="0"/>
              </a:spcBef>
              <a:spcAft>
                <a:spcPts val="0"/>
              </a:spcAft>
            </a:pPr>
            <a:r>
              <a:rPr sz="2000" b="0">
                <a:solidFill>
                  <a:srgbClr val="14233B"/>
                </a:solidFill>
                <a:latin typeface="Arial"/>
              </a:rPr>
              <a:t>After AI: 7/12 (58.33%)</a:t>
            </a:r>
          </a:p>
          <a:p>
            <a:pPr>
              <a:lnSpc>
                <a:spcPct val="100000"/>
              </a:lnSpc>
              <a:spcBef>
                <a:spcPts val="0"/>
              </a:spcBef>
              <a:spcAft>
                <a:spcPts val="0"/>
              </a:spcAft>
            </a:pPr>
            <a:r>
              <a:rPr sz="2000" b="0">
                <a:solidFill>
                  <a:srgbClr val="14233B"/>
                </a:solidFill>
                <a:latin typeface="Arial"/>
              </a:rPr>
              <a:t>Gain: +8.33 pp</a:t>
            </a:r>
          </a:p>
        </p:txBody>
      </p:sp>
      <p:sp xmlns:a="http://schemas.openxmlformats.org/drawingml/2006/main">
        <p:nvSpPr>
          <p:cNvPr id="7" name="TextBox 6"/>
          <p:cNvSpPr txBox="1"/>
          <p:nvPr/>
        </p:nvSpPr>
        <p:spPr>
          <a:xfrm>
            <a:off x="5458968" y="4910328"/>
            <a:ext cx="3758184" cy="1115568"/>
          </a:xfrm>
          <a:prstGeom prst="rect">
            <a:avLst/>
          </a:prstGeom>
          <a:noFill/>
        </p:spPr>
        <p:txBody>
          <a:bodyPr wrap="square" lIns="13716" rIns="13716" tIns="9144" bIns="9144" anchor="t">
            <a:spAutoFit/>
          </a:bodyPr>
          <a:lstStyle/>
          <a:p>
            <a:pPr>
              <a:lnSpc>
                <a:spcPct val="100000"/>
              </a:lnSpc>
              <a:spcBef>
                <a:spcPts val="0"/>
              </a:spcBef>
              <a:spcAft>
                <a:spcPts val="0"/>
              </a:spcAft>
            </a:pPr>
            <a:r>
              <a:rPr sz="1900" b="1">
                <a:solidFill>
                  <a:srgbClr val="00846B"/>
                </a:solidFill>
                <a:latin typeface="Arial"/>
              </a:rPr>
              <a:t>12 actual Groq responses</a:t>
            </a:r>
          </a:p>
          <a:p>
            <a:pPr>
              <a:lnSpc>
                <a:spcPct val="100000"/>
              </a:lnSpc>
              <a:spcBef>
                <a:spcPts val="0"/>
              </a:spcBef>
              <a:spcAft>
                <a:spcPts val="0"/>
              </a:spcAft>
            </a:pPr>
            <a:r>
              <a:rPr sz="1900" b="1">
                <a:solidFill>
                  <a:srgbClr val="00846B"/>
                </a:solidFill>
                <a:latin typeface="Arial"/>
              </a:rPr>
              <a:t>Gemini unavailable</a:t>
            </a:r>
          </a:p>
        </p:txBody>
      </p:sp>
      <p:sp xmlns:a="http://schemas.openxmlformats.org/drawingml/2006/main">
        <p:nvSpPr>
          <p:cNvPr id="8" name="TextBox 7"/>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Actual app web capture from the saved GUI session. One development image, not a general benchmark.</a:t>
            </a:r>
          </a:p>
        </p:txBody>
      </p:sp>
    </p:spTree>
    <p:extLst>
      <p:ext uri="{BB962C8B-B14F-4D97-AF65-F5344CB8AC3E}">
        <p14:creationId xmlns:p14="http://schemas.microsoft.com/office/powerpoint/2010/main" val="429483181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3.3.2. Review decisions preserve the original recognition</a:t>
            </a:r>
          </a:p>
        </p:txBody>
      </p:sp>
      <p:sp xmlns:a="http://schemas.openxmlformats.org/drawingml/2006/main">
        <p:nvSpPr>
          <p:cNvPr id="4" name="Rounded Rectangle 3"/>
          <p:cNvSpPr/>
          <p:nvPr/>
        </p:nvSpPr>
        <p:spPr>
          <a:xfrm>
            <a:off x="667512" y="2688336"/>
            <a:ext cx="2715768" cy="1719072"/>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82549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1  Recognition</a:t>
            </a:r>
          </a:p>
        </p:txBody>
      </p:sp>
      <p:sp xmlns:a="http://schemas.openxmlformats.org/drawingml/2006/main">
        <p:nvSpPr>
          <p:cNvPr id="6" name="TextBox 5"/>
          <p:cNvSpPr txBox="1"/>
          <p:nvPr/>
        </p:nvSpPr>
        <p:spPr>
          <a:xfrm>
            <a:off x="822960" y="3191256"/>
            <a:ext cx="2404872" cy="1124712"/>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Raw CRNN text</a:t>
            </a:r>
          </a:p>
          <a:p>
            <a:pPr>
              <a:lnSpc>
                <a:spcPct val="100000"/>
              </a:lnSpc>
              <a:spcBef>
                <a:spcPts val="0"/>
              </a:spcBef>
              <a:spcAft>
                <a:spcPts val="0"/>
              </a:spcAft>
            </a:pPr>
            <a:r>
              <a:rPr sz="1800" b="0">
                <a:solidFill>
                  <a:srgbClr val="14233B"/>
                </a:solidFill>
                <a:latin typeface="Arial"/>
              </a:rPr>
              <a:t>Actual provider advice</a:t>
            </a:r>
          </a:p>
        </p:txBody>
      </p:sp>
      <p:sp xmlns:a="http://schemas.openxmlformats.org/drawingml/2006/main">
        <p:nvSpPr>
          <p:cNvPr id="7" name="Rounded Rectangle 6"/>
          <p:cNvSpPr/>
          <p:nvPr/>
        </p:nvSpPr>
        <p:spPr>
          <a:xfrm>
            <a:off x="3584448" y="2688336"/>
            <a:ext cx="2715768" cy="1719072"/>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3739896" y="282549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2  User review</a:t>
            </a:r>
          </a:p>
        </p:txBody>
      </p:sp>
      <p:sp xmlns:a="http://schemas.openxmlformats.org/drawingml/2006/main">
        <p:nvSpPr>
          <p:cNvPr id="9" name="TextBox 8"/>
          <p:cNvSpPr txBox="1"/>
          <p:nvPr/>
        </p:nvSpPr>
        <p:spPr>
          <a:xfrm>
            <a:off x="3739896" y="3191256"/>
            <a:ext cx="2404872" cy="1124712"/>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Keep OCR or advice</a:t>
            </a:r>
          </a:p>
          <a:p>
            <a:pPr>
              <a:lnSpc>
                <a:spcPct val="100000"/>
              </a:lnSpc>
              <a:spcBef>
                <a:spcPts val="0"/>
              </a:spcBef>
              <a:spcAft>
                <a:spcPts val="0"/>
              </a:spcAft>
            </a:pPr>
            <a:r>
              <a:rPr sz="1800" b="0">
                <a:solidFill>
                  <a:srgbClr val="14233B"/>
                </a:solidFill>
                <a:latin typeface="Arial"/>
              </a:rPr>
              <a:t>Manual edits saved separately</a:t>
            </a:r>
          </a:p>
        </p:txBody>
      </p:sp>
      <p:sp xmlns:a="http://schemas.openxmlformats.org/drawingml/2006/main">
        <p:nvSpPr>
          <p:cNvPr id="10" name="Rounded Rectangle 9"/>
          <p:cNvSpPr/>
          <p:nvPr/>
        </p:nvSpPr>
        <p:spPr>
          <a:xfrm>
            <a:off x="6501384" y="2688336"/>
            <a:ext cx="2715768" cy="1719072"/>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656832" y="2825496"/>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3  Saved history</a:t>
            </a:r>
          </a:p>
        </p:txBody>
      </p:sp>
      <p:sp xmlns:a="http://schemas.openxmlformats.org/drawingml/2006/main">
        <p:nvSpPr>
          <p:cNvPr id="12" name="TextBox 11"/>
          <p:cNvSpPr txBox="1"/>
          <p:nvPr/>
        </p:nvSpPr>
        <p:spPr>
          <a:xfrm>
            <a:off x="6656832" y="3191256"/>
            <a:ext cx="2404872" cy="1124712"/>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Image and all lines</a:t>
            </a:r>
          </a:p>
          <a:p>
            <a:pPr>
              <a:lnSpc>
                <a:spcPct val="100000"/>
              </a:lnSpc>
              <a:spcBef>
                <a:spcPts val="0"/>
              </a:spcBef>
              <a:spcAft>
                <a:spcPts val="0"/>
              </a:spcAft>
            </a:pPr>
            <a:r>
              <a:rPr sz="1800" b="0">
                <a:solidFill>
                  <a:srgbClr val="14233B"/>
                </a:solidFill>
                <a:latin typeface="Arial"/>
              </a:rPr>
              <a:t>Sources and references</a:t>
            </a:r>
          </a:p>
        </p:txBody>
      </p:sp>
      <p:sp xmlns:a="http://schemas.openxmlformats.org/drawingml/2006/main">
        <p:nvSpPr>
          <p:cNvPr id="13" name="TextBox 12"/>
          <p:cNvSpPr txBox="1"/>
          <p:nvPr/>
        </p:nvSpPr>
        <p:spPr>
          <a:xfrm>
            <a:off x="667512" y="4754880"/>
            <a:ext cx="8567928" cy="521207"/>
          </a:xfrm>
          <a:prstGeom prst="rect">
            <a:avLst/>
          </a:prstGeom>
          <a:noFill/>
        </p:spPr>
        <p:txBody>
          <a:bodyPr wrap="square" lIns="13716" rIns="13716" tIns="9144" bIns="9144" anchor="t">
            <a:spAutoFit/>
          </a:bodyPr>
          <a:lstStyle/>
          <a:p>
            <a:pPr>
              <a:lnSpc>
                <a:spcPct val="100000"/>
              </a:lnSpc>
              <a:spcBef>
                <a:spcPts val="0"/>
              </a:spcBef>
              <a:spcAft>
                <a:spcPts val="0"/>
              </a:spcAft>
            </a:pPr>
            <a:r>
              <a:rPr sz="2100" b="0">
                <a:solidFill>
                  <a:srgbClr val="14233B"/>
                </a:solidFill>
                <a:latin typeface="Arial"/>
              </a:rPr>
              <a:t>Model changes require a separate authorized evaluation.</a:t>
            </a:r>
          </a:p>
        </p:txBody>
      </p:sp>
      <p:sp xmlns:a="http://schemas.openxmlformats.org/drawingml/2006/main">
        <p:nvSpPr>
          <p:cNvPr id="14" name="TextBox 13"/>
          <p:cNvSpPr txBox="1"/>
          <p:nvPr/>
        </p:nvSpPr>
        <p:spPr>
          <a:xfrm>
            <a:off x="667512" y="5367528"/>
            <a:ext cx="8567928" cy="676656"/>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Future cycle: review labels, freeze the test set, evaluate a versioned model.</a:t>
            </a:r>
          </a:p>
          <a:p>
            <a:pPr>
              <a:lnSpc>
                <a:spcPct val="100000"/>
              </a:lnSpc>
              <a:spcBef>
                <a:spcPts val="0"/>
              </a:spcBef>
              <a:spcAft>
                <a:spcPts val="0"/>
              </a:spcAft>
            </a:pPr>
            <a:r>
              <a:rPr sz="1900" b="0">
                <a:solidFill>
                  <a:srgbClr val="14233B"/>
                </a:solidFill>
                <a:latin typeface="Arial"/>
              </a:rPr>
              <a:t>A user edit does not retrain the model immediately.</a:t>
            </a:r>
          </a:p>
        </p:txBody>
      </p:sp>
    </p:spTree>
    <p:extLst>
      <p:ext uri="{BB962C8B-B14F-4D97-AF65-F5344CB8AC3E}">
        <p14:creationId xmlns:p14="http://schemas.microsoft.com/office/powerpoint/2010/main" val="14204663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3.3.3. OCR and AI accuracy use the same reference lines</a:t>
            </a:r>
          </a:p>
        </p:txBody>
      </p:sp>
      <p:graphicFrame xmlns:a="http://schemas.openxmlformats.org/drawingml/2006/main">
        <p:nvGraphicFramePr>
          <p:cNvPr id="4" name="Table 3"/>
          <p:cNvGraphicFramePr>
            <a:graphicFrameLocks noGrp="1"/>
          </p:cNvGraphicFramePr>
          <p:nvPr/>
        </p:nvGraphicFramePr>
        <p:xfrm>
          <a:off x="667512" y="2624328"/>
          <a:ext cx="8567928" cy="2642616"/>
        </p:xfrm>
        <a:graphic>
          <a:graphicData uri="http://schemas.openxmlformats.org/drawingml/2006/table">
            <a:tbl>
              <a:tblPr firstRow="1" bandRow="1">
                <a:tableStyleId>{5C22544A-7EE6-4342-B048-85BDC9FD1C3A}</a:tableStyleId>
              </a:tblPr>
              <a:tblGrid>
                <a:gridCol w="3410712"/>
                <a:gridCol w="2578608"/>
                <a:gridCol w="2578608"/>
              </a:tblGrid>
              <a:tr h="440436">
                <a:tc>
                  <a:txBody>
                    <a:bodyPr/>
                    <a:lstStyle/>
                    <a:p>
                      <a:pPr>
                        <a:lnSpc>
                          <a:spcPct val="105000"/>
                        </a:lnSpc>
                        <a:spcBef>
                          <a:spcPts val="0"/>
                        </a:spcBef>
                        <a:spcAft>
                          <a:spcPts val="0"/>
                        </a:spcAft>
                      </a:pPr>
                      <a:r>
                        <a:rPr sz="2000" b="1">
                          <a:solidFill>
                            <a:srgbClr val="FFFFFF"/>
                          </a:solidFill>
                          <a:latin typeface="Arial"/>
                        </a:rPr>
                        <a:t>Measurement</a:t>
                      </a:r>
                    </a:p>
                  </a:txBody>
                  <a:tcPr anchor="ctr" marL="91440" marR="91440" marT="22860" marB="22860">
                    <a:solidFill>
                      <a:srgbClr val="173FAC"/>
                    </a:solidFill>
                  </a:tcPr>
                </a:tc>
                <a:tc>
                  <a:txBody>
                    <a:bodyPr/>
                    <a:lstStyle/>
                    <a:p>
                      <a:pPr>
                        <a:lnSpc>
                          <a:spcPct val="105000"/>
                        </a:lnSpc>
                        <a:spcBef>
                          <a:spcPts val="0"/>
                        </a:spcBef>
                        <a:spcAft>
                          <a:spcPts val="0"/>
                        </a:spcAft>
                      </a:pPr>
                      <a:r>
                        <a:rPr sz="2000" b="1">
                          <a:solidFill>
                            <a:srgbClr val="FFFFFF"/>
                          </a:solidFill>
                          <a:latin typeface="Arial"/>
                        </a:rPr>
                        <a:t>Our OCR</a:t>
                      </a:r>
                    </a:p>
                  </a:txBody>
                  <a:tcPr anchor="ctr" marL="91440" marR="91440" marT="22860" marB="22860">
                    <a:solidFill>
                      <a:srgbClr val="173FAC"/>
                    </a:solidFill>
                  </a:tcPr>
                </a:tc>
                <a:tc>
                  <a:txBody>
                    <a:bodyPr/>
                    <a:lstStyle/>
                    <a:p>
                      <a:pPr>
                        <a:lnSpc>
                          <a:spcPct val="105000"/>
                        </a:lnSpc>
                        <a:spcBef>
                          <a:spcPts val="0"/>
                        </a:spcBef>
                        <a:spcAft>
                          <a:spcPts val="0"/>
                        </a:spcAft>
                      </a:pPr>
                      <a:r>
                        <a:rPr sz="2000" b="1">
                          <a:solidFill>
                            <a:srgbClr val="FFFFFF"/>
                          </a:solidFill>
                          <a:latin typeface="Arial"/>
                        </a:rPr>
                        <a:t>After actual AI</a:t>
                      </a:r>
                    </a:p>
                  </a:txBody>
                  <a:tcPr anchor="ctr" marL="91440" marR="91440" marT="22860" marB="22860">
                    <a:solidFill>
                      <a:srgbClr val="173FAC"/>
                    </a:solidFill>
                  </a:tcPr>
                </a:tc>
              </a:tr>
              <a:tr h="440436">
                <a:tc>
                  <a:txBody>
                    <a:bodyPr/>
                    <a:lstStyle/>
                    <a:p>
                      <a:pPr>
                        <a:lnSpc>
                          <a:spcPct val="105000"/>
                        </a:lnSpc>
                        <a:spcBef>
                          <a:spcPts val="0"/>
                        </a:spcBef>
                        <a:spcAft>
                          <a:spcPts val="0"/>
                        </a:spcAft>
                      </a:pPr>
                      <a:r>
                        <a:rPr sz="2000" b="0">
                          <a:solidFill>
                            <a:srgbClr val="14233B"/>
                          </a:solidFill>
                          <a:latin typeface="Arial"/>
                        </a:rPr>
                        <a:t>Reference lines</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12</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12</a:t>
                      </a:r>
                    </a:p>
                  </a:txBody>
                  <a:tcPr anchor="ctr" marL="91440" marR="91440" marT="22860" marB="22860">
                    <a:solidFill>
                      <a:srgbClr val="F1F5FC"/>
                    </a:solidFill>
                  </a:tcPr>
                </a:tc>
              </a:tr>
              <a:tr h="440436">
                <a:tc>
                  <a:txBody>
                    <a:bodyPr/>
                    <a:lstStyle/>
                    <a:p>
                      <a:pPr>
                        <a:lnSpc>
                          <a:spcPct val="105000"/>
                        </a:lnSpc>
                        <a:spcBef>
                          <a:spcPts val="0"/>
                        </a:spcBef>
                        <a:spcAft>
                          <a:spcPts val="0"/>
                        </a:spcAft>
                      </a:pPr>
                      <a:r>
                        <a:rPr sz="2000" b="0">
                          <a:solidFill>
                            <a:srgbClr val="14233B"/>
                          </a:solidFill>
                          <a:latin typeface="Arial"/>
                        </a:rPr>
                        <a:t>Exact-match accuracy</a:t>
                      </a:r>
                    </a:p>
                  </a:txBody>
                  <a:tcPr anchor="ctr" marL="91440" marR="91440" marT="22860" marB="22860">
                    <a:solidFill>
                      <a:srgbClr val="FFFFFF"/>
                    </a:solidFill>
                  </a:tcPr>
                </a:tc>
                <a:tc>
                  <a:txBody>
                    <a:bodyPr/>
                    <a:lstStyle/>
                    <a:p>
                      <a:pPr>
                        <a:lnSpc>
                          <a:spcPct val="105000"/>
                        </a:lnSpc>
                        <a:spcBef>
                          <a:spcPts val="0"/>
                        </a:spcBef>
                        <a:spcAft>
                          <a:spcPts val="0"/>
                        </a:spcAft>
                      </a:pPr>
                      <a:r>
                        <a:rPr sz="2000" b="0">
                          <a:solidFill>
                            <a:srgbClr val="14233B"/>
                          </a:solidFill>
                          <a:latin typeface="Arial"/>
                        </a:rPr>
                        <a:t>6/12 (50.00%)</a:t>
                      </a:r>
                    </a:p>
                  </a:txBody>
                  <a:tcPr anchor="ctr" marL="91440" marR="91440" marT="22860" marB="22860">
                    <a:solidFill>
                      <a:srgbClr val="FFFFFF"/>
                    </a:solidFill>
                  </a:tcPr>
                </a:tc>
                <a:tc>
                  <a:txBody>
                    <a:bodyPr/>
                    <a:lstStyle/>
                    <a:p>
                      <a:pPr>
                        <a:lnSpc>
                          <a:spcPct val="105000"/>
                        </a:lnSpc>
                        <a:spcBef>
                          <a:spcPts val="0"/>
                        </a:spcBef>
                        <a:spcAft>
                          <a:spcPts val="0"/>
                        </a:spcAft>
                      </a:pPr>
                      <a:r>
                        <a:rPr sz="2000" b="0">
                          <a:solidFill>
                            <a:srgbClr val="14233B"/>
                          </a:solidFill>
                          <a:latin typeface="Arial"/>
                        </a:rPr>
                        <a:t>7/12 (58.33%)</a:t>
                      </a:r>
                    </a:p>
                  </a:txBody>
                  <a:tcPr anchor="ctr" marL="91440" marR="91440" marT="22860" marB="22860">
                    <a:solidFill>
                      <a:srgbClr val="FFFFFF"/>
                    </a:solidFill>
                  </a:tcPr>
                </a:tc>
              </a:tr>
              <a:tr h="440436">
                <a:tc>
                  <a:txBody>
                    <a:bodyPr/>
                    <a:lstStyle/>
                    <a:p>
                      <a:pPr>
                        <a:lnSpc>
                          <a:spcPct val="105000"/>
                        </a:lnSpc>
                        <a:spcBef>
                          <a:spcPts val="0"/>
                        </a:spcBef>
                        <a:spcAft>
                          <a:spcPts val="0"/>
                        </a:spcAft>
                      </a:pPr>
                      <a:r>
                        <a:rPr sz="2000" b="0">
                          <a:solidFill>
                            <a:srgbClr val="14233B"/>
                          </a:solidFill>
                          <a:latin typeface="Arial"/>
                        </a:rPr>
                        <a:t>CER</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8/194 (4.12%)</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5/194 (2.58%)</a:t>
                      </a:r>
                    </a:p>
                  </a:txBody>
                  <a:tcPr anchor="ctr" marL="91440" marR="91440" marT="22860" marB="22860">
                    <a:solidFill>
                      <a:srgbClr val="F1F5FC"/>
                    </a:solidFill>
                  </a:tcPr>
                </a:tc>
              </a:tr>
              <a:tr h="440436">
                <a:tc>
                  <a:txBody>
                    <a:bodyPr/>
                    <a:lstStyle/>
                    <a:p>
                      <a:pPr>
                        <a:lnSpc>
                          <a:spcPct val="105000"/>
                        </a:lnSpc>
                        <a:spcBef>
                          <a:spcPts val="0"/>
                        </a:spcBef>
                        <a:spcAft>
                          <a:spcPts val="0"/>
                        </a:spcAft>
                      </a:pPr>
                      <a:r>
                        <a:rPr sz="2000" b="0">
                          <a:solidFill>
                            <a:srgbClr val="14233B"/>
                          </a:solidFill>
                          <a:latin typeface="Arial"/>
                        </a:rPr>
                        <a:t>WER</a:t>
                      </a:r>
                    </a:p>
                  </a:txBody>
                  <a:tcPr anchor="ctr" marL="91440" marR="91440" marT="22860" marB="22860">
                    <a:solidFill>
                      <a:srgbClr val="FFFFFF"/>
                    </a:solidFill>
                  </a:tcPr>
                </a:tc>
                <a:tc>
                  <a:txBody>
                    <a:bodyPr/>
                    <a:lstStyle/>
                    <a:p>
                      <a:pPr>
                        <a:lnSpc>
                          <a:spcPct val="105000"/>
                        </a:lnSpc>
                        <a:spcBef>
                          <a:spcPts val="0"/>
                        </a:spcBef>
                        <a:spcAft>
                          <a:spcPts val="0"/>
                        </a:spcAft>
                      </a:pPr>
                      <a:r>
                        <a:rPr sz="2000" b="0">
                          <a:solidFill>
                            <a:srgbClr val="14233B"/>
                          </a:solidFill>
                          <a:latin typeface="Arial"/>
                        </a:rPr>
                        <a:t>9/48 (18.75%)</a:t>
                      </a:r>
                    </a:p>
                  </a:txBody>
                  <a:tcPr anchor="ctr" marL="91440" marR="91440" marT="22860" marB="22860">
                    <a:solidFill>
                      <a:srgbClr val="FFFFFF"/>
                    </a:solidFill>
                  </a:tcPr>
                </a:tc>
                <a:tc>
                  <a:txBody>
                    <a:bodyPr/>
                    <a:lstStyle/>
                    <a:p>
                      <a:pPr>
                        <a:lnSpc>
                          <a:spcPct val="105000"/>
                        </a:lnSpc>
                        <a:spcBef>
                          <a:spcPts val="0"/>
                        </a:spcBef>
                        <a:spcAft>
                          <a:spcPts val="0"/>
                        </a:spcAft>
                      </a:pPr>
                      <a:r>
                        <a:rPr sz="2000" b="0">
                          <a:solidFill>
                            <a:srgbClr val="14233B"/>
                          </a:solidFill>
                          <a:latin typeface="Arial"/>
                        </a:rPr>
                        <a:t>5/48 (10.42%)</a:t>
                      </a:r>
                    </a:p>
                  </a:txBody>
                  <a:tcPr anchor="ctr" marL="91440" marR="91440" marT="22860" marB="22860">
                    <a:solidFill>
                      <a:srgbClr val="FFFFFF"/>
                    </a:solidFill>
                  </a:tcPr>
                </a:tc>
              </a:tr>
              <a:tr h="440436">
                <a:tc>
                  <a:txBody>
                    <a:bodyPr/>
                    <a:lstStyle/>
                    <a:p>
                      <a:pPr>
                        <a:lnSpc>
                          <a:spcPct val="105000"/>
                        </a:lnSpc>
                        <a:spcBef>
                          <a:spcPts val="0"/>
                        </a:spcBef>
                        <a:spcAft>
                          <a:spcPts val="0"/>
                        </a:spcAft>
                      </a:pPr>
                      <a:r>
                        <a:rPr sz="2000" b="0">
                          <a:solidFill>
                            <a:srgbClr val="14233B"/>
                          </a:solidFill>
                          <a:latin typeface="Arial"/>
                        </a:rPr>
                        <a:t>Line-accuracy gain</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Baseline</a:t>
                      </a:r>
                    </a:p>
                  </a:txBody>
                  <a:tcPr anchor="ctr" marL="91440" marR="91440" marT="22860" marB="22860">
                    <a:solidFill>
                      <a:srgbClr val="F1F5FC"/>
                    </a:solidFill>
                  </a:tcPr>
                </a:tc>
                <a:tc>
                  <a:txBody>
                    <a:bodyPr/>
                    <a:lstStyle/>
                    <a:p>
                      <a:pPr>
                        <a:lnSpc>
                          <a:spcPct val="105000"/>
                        </a:lnSpc>
                        <a:spcBef>
                          <a:spcPts val="0"/>
                        </a:spcBef>
                        <a:spcAft>
                          <a:spcPts val="0"/>
                        </a:spcAft>
                      </a:pPr>
                      <a:r>
                        <a:rPr sz="2000" b="0">
                          <a:solidFill>
                            <a:srgbClr val="14233B"/>
                          </a:solidFill>
                          <a:latin typeface="Arial"/>
                        </a:rPr>
                        <a:t>+8.33 pp</a:t>
                      </a:r>
                    </a:p>
                  </a:txBody>
                  <a:tcPr anchor="ctr" marL="91440" marR="91440" marT="22860" marB="22860">
                    <a:solidFill>
                      <a:srgbClr val="F1F5FC"/>
                    </a:solidFill>
                  </a:tcPr>
                </a:tc>
              </a:tr>
            </a:tbl>
          </a:graphicData>
        </a:graphic>
      </p:graphicFrame>
      <p:sp xmlns:a="http://schemas.openxmlformats.org/drawingml/2006/main">
        <p:nvSpPr>
          <p:cNvPr id="5" name="TextBox 4"/>
          <p:cNvSpPr txBox="1"/>
          <p:nvPr/>
        </p:nvSpPr>
        <p:spPr>
          <a:xfrm>
            <a:off x="667512" y="5504688"/>
            <a:ext cx="8567928" cy="566928"/>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AI fixed 4 wrong lines and made 3 correct lines wrong.</a:t>
            </a:r>
          </a:p>
          <a:p>
            <a:pPr>
              <a:lnSpc>
                <a:spcPct val="100000"/>
              </a:lnSpc>
              <a:spcBef>
                <a:spcPts val="0"/>
              </a:spcBef>
              <a:spcAft>
                <a:spcPts val="0"/>
              </a:spcAft>
            </a:pPr>
            <a:r>
              <a:rPr sz="1900" b="0">
                <a:solidFill>
                  <a:srgbClr val="14233B"/>
                </a:solidFill>
                <a:latin typeface="Arial"/>
              </a:rPr>
              <a:t>The AI column uses actual candidates, with no manual edits.</a:t>
            </a:r>
          </a:p>
        </p:txBody>
      </p:sp>
      <p:sp xmlns:a="http://schemas.openxmlformats.org/drawingml/2006/main">
        <p:nvSpPr>
          <p:cNvPr id="6" name="TextBox 5"/>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One development image. Image-transcribed references. Independent human validation pending.</a:t>
            </a:r>
          </a:p>
        </p:txBody>
      </p:sp>
    </p:spTree>
    <p:extLst>
      <p:ext uri="{BB962C8B-B14F-4D97-AF65-F5344CB8AC3E}">
        <p14:creationId xmlns:p14="http://schemas.microsoft.com/office/powerpoint/2010/main" val="319788666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3.3.4. History opens the complete saved recognition</a:t>
            </a:r>
          </a:p>
        </p:txBody>
      </p:sp>
      <p:pic xmlns:a="http://schemas.openxmlformats.org/drawingml/2006/main" xmlns:r="http://schemas.openxmlformats.org/officeDocument/2006/relationships">
        <p:nvPicPr>
          <p:cNvPr id="4" name="Picture 3" descr="actual_history_selection_crop.png"/>
          <p:cNvPicPr>
            <a:picLocks noChangeAspect="1"/>
          </p:cNvPicPr>
          <p:nvPr/>
        </p:nvPicPr>
        <p:blipFill>
          <a:blip r:embed="rId3"/>
          <a:stretch>
            <a:fillRect/>
          </a:stretch>
        </p:blipFill>
        <p:spPr>
          <a:xfrm>
            <a:off x="667512" y="2631356"/>
            <a:ext cx="5047487" cy="3360079"/>
          </a:xfrm>
          <a:prstGeom prst="rect">
            <a:avLst/>
          </a:prstGeom>
        </p:spPr>
      </p:pic>
      <p:sp xmlns:a="http://schemas.openxmlformats.org/drawingml/2006/main">
        <p:nvSpPr>
          <p:cNvPr id="5" name="TextBox 4"/>
          <p:cNvSpPr txBox="1"/>
          <p:nvPr/>
        </p:nvSpPr>
        <p:spPr>
          <a:xfrm>
            <a:off x="6089904" y="2633472"/>
            <a:ext cx="3145536" cy="1344168"/>
          </a:xfrm>
          <a:prstGeom prst="rect">
            <a:avLst/>
          </a:prstGeom>
          <a:noFill/>
        </p:spPr>
        <p:txBody>
          <a:bodyPr wrap="square" lIns="13716" rIns="13716" tIns="9144" bIns="9144" anchor="t">
            <a:spAutoFit/>
          </a:bodyPr>
          <a:lstStyle/>
          <a:p>
            <a:pPr>
              <a:lnSpc>
                <a:spcPct val="100000"/>
              </a:lnSpc>
              <a:spcBef>
                <a:spcPts val="0"/>
              </a:spcBef>
              <a:spcAft>
                <a:spcPts val="0"/>
              </a:spcAft>
            </a:pPr>
            <a:r>
              <a:rPr sz="2000" b="1">
                <a:solidFill>
                  <a:srgbClr val="2454EE"/>
                </a:solidFill>
                <a:latin typeface="Arial"/>
              </a:rPr>
              <a:t>Separate history page</a:t>
            </a:r>
          </a:p>
          <a:p>
            <a:pPr>
              <a:lnSpc>
                <a:spcPct val="100000"/>
              </a:lnSpc>
              <a:spcBef>
                <a:spcPts val="0"/>
              </a:spcBef>
              <a:spcAft>
                <a:spcPts val="0"/>
              </a:spcAft>
            </a:pPr>
            <a:r>
              <a:rPr sz="2000" b="1">
                <a:solidFill>
                  <a:srgbClr val="2454EE"/>
                </a:solidFill>
                <a:latin typeface="Arial"/>
              </a:rPr>
              <a:t>Select and delete attempts</a:t>
            </a:r>
          </a:p>
          <a:p>
            <a:pPr>
              <a:lnSpc>
                <a:spcPct val="100000"/>
              </a:lnSpc>
              <a:spcBef>
                <a:spcPts val="0"/>
              </a:spcBef>
              <a:spcAft>
                <a:spcPts val="0"/>
              </a:spcAft>
            </a:pPr>
            <a:r>
              <a:rPr sz="2000" b="1">
                <a:solidFill>
                  <a:srgbClr val="2454EE"/>
                </a:solidFill>
                <a:latin typeface="Arial"/>
              </a:rPr>
              <a:t>Confirm deletion of all</a:t>
            </a:r>
          </a:p>
        </p:txBody>
      </p:sp>
      <p:sp xmlns:a="http://schemas.openxmlformats.org/drawingml/2006/main">
        <p:nvSpPr>
          <p:cNvPr id="6" name="TextBox 5"/>
          <p:cNvSpPr txBox="1"/>
          <p:nvPr/>
        </p:nvSpPr>
        <p:spPr>
          <a:xfrm>
            <a:off x="6089904" y="4151376"/>
            <a:ext cx="3145536" cy="1682496"/>
          </a:xfrm>
          <a:prstGeom prst="rect">
            <a:avLst/>
          </a:prstGeom>
          <a:noFill/>
        </p:spPr>
        <p:txBody>
          <a:bodyPr wrap="square" lIns="13716" rIns="13716" tIns="9144" bIns="9144" anchor="t">
            <a:spAutoFit/>
          </a:bodyPr>
          <a:lstStyle/>
          <a:p>
            <a:pPr>
              <a:lnSpc>
                <a:spcPct val="100000"/>
              </a:lnSpc>
              <a:spcBef>
                <a:spcPts val="0"/>
              </a:spcBef>
              <a:spcAft>
                <a:spcPts val="0"/>
              </a:spcAft>
            </a:pPr>
            <a:r>
              <a:rPr sz="1900" b="0">
                <a:solidFill>
                  <a:srgbClr val="14233B"/>
                </a:solidFill>
                <a:latin typeface="Arial"/>
              </a:rPr>
              <a:t>Every attempt keeps its image and all saved lines.</a:t>
            </a:r>
          </a:p>
          <a:p>
            <a:pPr>
              <a:lnSpc>
                <a:spcPct val="100000"/>
              </a:lnSpc>
              <a:spcBef>
                <a:spcPts val="0"/>
              </a:spcBef>
              <a:spcAft>
                <a:spcPts val="0"/>
              </a:spcAft>
            </a:pPr>
            <a:r>
              <a:rPr sz="1900" b="0">
                <a:solidFill>
                  <a:srgbClr val="14233B"/>
                </a:solidFill>
                <a:latin typeface="Arial"/>
              </a:rPr>
              <a:t>Raw OCR, actual AI advice and the selected source stay visible.</a:t>
            </a:r>
          </a:p>
        </p:txBody>
      </p:sp>
      <p:sp xmlns:a="http://schemas.openxmlformats.org/drawingml/2006/main">
        <p:nvSpPr>
          <p:cNvPr id="7" name="TextBox 6"/>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Actual saved app session with image, raw OCR and Groq advice. Selection and deletion controls are visible.</a:t>
            </a:r>
          </a:p>
        </p:txBody>
      </p:sp>
    </p:spTree>
    <p:extLst>
      <p:ext uri="{BB962C8B-B14F-4D97-AF65-F5344CB8AC3E}">
        <p14:creationId xmlns:p14="http://schemas.microsoft.com/office/powerpoint/2010/main" val="34751727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3.3.5. OCR confidence is separate from measured accuracy</a:t>
            </a:r>
          </a:p>
        </p:txBody>
      </p:sp>
      <p:pic xmlns:a="http://schemas.openxmlformats.org/drawingml/2006/main" xmlns:r="http://schemas.openxmlformats.org/officeDocument/2006/relationships">
        <p:nvPicPr>
          <p:cNvPr id="4" name="Picture 3" descr="actual_confidence_line4_crop.png"/>
          <p:cNvPicPr>
            <a:picLocks noChangeAspect="1"/>
          </p:cNvPicPr>
          <p:nvPr/>
        </p:nvPicPr>
        <p:blipFill>
          <a:blip r:embed="rId3"/>
          <a:stretch>
            <a:fillRect/>
          </a:stretch>
        </p:blipFill>
        <p:spPr>
          <a:xfrm>
            <a:off x="667512" y="2759259"/>
            <a:ext cx="4645152" cy="3149993"/>
          </a:xfrm>
          <a:prstGeom prst="rect">
            <a:avLst/>
          </a:prstGeom>
        </p:spPr>
      </p:pic>
      <p:sp xmlns:a="http://schemas.openxmlformats.org/drawingml/2006/main">
        <p:nvSpPr>
          <p:cNvPr id="5" name="TextBox 4"/>
          <p:cNvSpPr txBox="1"/>
          <p:nvPr/>
        </p:nvSpPr>
        <p:spPr>
          <a:xfrm>
            <a:off x="5605272" y="2651760"/>
            <a:ext cx="3630168" cy="886968"/>
          </a:xfrm>
          <a:prstGeom prst="rect">
            <a:avLst/>
          </a:prstGeom>
          <a:noFill/>
        </p:spPr>
        <p:txBody>
          <a:bodyPr wrap="square" lIns="13716" rIns="13716" tIns="9144" bIns="9144" anchor="t">
            <a:spAutoFit/>
          </a:bodyPr>
          <a:lstStyle/>
          <a:p>
            <a:pPr>
              <a:lnSpc>
                <a:spcPct val="100000"/>
              </a:lnSpc>
              <a:spcBef>
                <a:spcPts val="0"/>
              </a:spcBef>
              <a:spcAft>
                <a:spcPts val="0"/>
              </a:spcAft>
            </a:pPr>
            <a:r>
              <a:rPr sz="2500" b="1">
                <a:solidFill>
                  <a:srgbClr val="2454EE"/>
                </a:solidFill>
                <a:latin typeface="Arial"/>
              </a:rPr>
              <a:t>97.55% OCR score</a:t>
            </a:r>
          </a:p>
          <a:p>
            <a:pPr>
              <a:lnSpc>
                <a:spcPct val="100000"/>
              </a:lnSpc>
              <a:spcBef>
                <a:spcPts val="0"/>
              </a:spcBef>
              <a:spcAft>
                <a:spcPts val="0"/>
              </a:spcAft>
            </a:pPr>
            <a:r>
              <a:rPr sz="2500" b="1">
                <a:solidFill>
                  <a:srgbClr val="2454EE"/>
                </a:solidFill>
                <a:latin typeface="Arial"/>
              </a:rPr>
              <a:t>One raw OCR error</a:t>
            </a:r>
          </a:p>
        </p:txBody>
      </p:sp>
      <p:sp xmlns:a="http://schemas.openxmlformats.org/drawingml/2006/main">
        <p:nvSpPr>
          <p:cNvPr id="6" name="TextBox 5"/>
          <p:cNvSpPr txBox="1"/>
          <p:nvPr/>
        </p:nvSpPr>
        <p:spPr>
          <a:xfrm>
            <a:off x="5605272" y="3767328"/>
            <a:ext cx="3630168" cy="1216152"/>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Raw: Rung ring bướm lượn.</a:t>
            </a:r>
          </a:p>
          <a:p>
            <a:pPr>
              <a:lnSpc>
                <a:spcPct val="100000"/>
              </a:lnSpc>
              <a:spcBef>
                <a:spcPts val="0"/>
              </a:spcBef>
              <a:spcAft>
                <a:spcPts val="0"/>
              </a:spcAft>
            </a:pPr>
            <a:r>
              <a:rPr sz="1800" b="0">
                <a:solidFill>
                  <a:srgbClr val="14233B"/>
                </a:solidFill>
                <a:latin typeface="Arial"/>
              </a:rPr>
              <a:t>Groq: Rung rinh bướm lượn.</a:t>
            </a:r>
          </a:p>
        </p:txBody>
      </p:sp>
      <p:sp xmlns:a="http://schemas.openxmlformats.org/drawingml/2006/main">
        <p:nvSpPr>
          <p:cNvPr id="7" name="TextBox 6"/>
          <p:cNvSpPr txBox="1"/>
          <p:nvPr/>
        </p:nvSpPr>
        <p:spPr>
          <a:xfrm>
            <a:off x="5605272" y="5074920"/>
            <a:ext cx="3630168" cy="950976"/>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OCR: character softmax</a:t>
            </a:r>
          </a:p>
          <a:p>
            <a:pPr>
              <a:lnSpc>
                <a:spcPct val="100000"/>
              </a:lnSpc>
              <a:spcBef>
                <a:spcPts val="0"/>
              </a:spcBef>
              <a:spcAft>
                <a:spcPts val="0"/>
              </a:spcAft>
            </a:pPr>
            <a:r>
              <a:rPr sz="1800" b="0">
                <a:solidFill>
                  <a:srgbClr val="14233B"/>
                </a:solidFill>
                <a:latin typeface="Arial"/>
              </a:rPr>
              <a:t>AI: self-reported score</a:t>
            </a:r>
          </a:p>
          <a:p>
            <a:pPr>
              <a:lnSpc>
                <a:spcPct val="100000"/>
              </a:lnSpc>
              <a:spcBef>
                <a:spcPts val="0"/>
              </a:spcBef>
              <a:spcAft>
                <a:spcPts val="0"/>
              </a:spcAft>
            </a:pPr>
            <a:r>
              <a:rPr sz="1800" b="0">
                <a:solidFill>
                  <a:srgbClr val="14233B"/>
                </a:solidFill>
                <a:latin typeface="Arial"/>
              </a:rPr>
              <a:t>Both uncalibrated</a:t>
            </a:r>
          </a:p>
        </p:txBody>
      </p:sp>
      <p:sp xmlns:a="http://schemas.openxmlformats.org/drawingml/2006/main">
        <p:nvSpPr>
          <p:cNvPr id="8" name="TextBox 7"/>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12 raw scores: mean 94.1808%, range 83.31–97.55%. Exact line accuracy is 50.00%.</a:t>
            </a:r>
          </a:p>
        </p:txBody>
      </p:sp>
    </p:spTree>
    <p:extLst>
      <p:ext uri="{BB962C8B-B14F-4D97-AF65-F5344CB8AC3E}">
        <p14:creationId xmlns:p14="http://schemas.microsoft.com/office/powerpoint/2010/main" val="38936285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3. Evidence &amp; Results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3.4. Recorded measurements include their denominators</a:t>
            </a:r>
          </a:p>
        </p:txBody>
      </p:sp>
      <p:graphicFrame xmlns:a="http://schemas.openxmlformats.org/drawingml/2006/main">
        <p:nvGraphicFramePr>
          <p:cNvPr id="4" name="Table 3"/>
          <p:cNvGraphicFramePr>
            <a:graphicFrameLocks noGrp="1"/>
          </p:cNvGraphicFramePr>
          <p:nvPr/>
        </p:nvGraphicFramePr>
        <p:xfrm>
          <a:off x="667512" y="2615184"/>
          <a:ext cx="8567928" cy="3438144"/>
        </p:xfrm>
        <a:graphic>
          <a:graphicData uri="http://schemas.openxmlformats.org/drawingml/2006/table">
            <a:tbl>
              <a:tblPr firstRow="1" bandRow="1">
                <a:tableStyleId>{5C22544A-7EE6-4342-B048-85BDC9FD1C3A}</a:tableStyleId>
              </a:tblPr>
              <a:tblGrid>
                <a:gridCol w="3310128"/>
                <a:gridCol w="5257800"/>
              </a:tblGrid>
              <a:tr h="429768">
                <a:tc>
                  <a:txBody>
                    <a:bodyPr/>
                    <a:lstStyle/>
                    <a:p>
                      <a:pPr>
                        <a:lnSpc>
                          <a:spcPct val="105000"/>
                        </a:lnSpc>
                        <a:spcBef>
                          <a:spcPts val="0"/>
                        </a:spcBef>
                        <a:spcAft>
                          <a:spcPts val="0"/>
                        </a:spcAft>
                      </a:pPr>
                      <a:r>
                        <a:rPr sz="1900" b="1">
                          <a:solidFill>
                            <a:srgbClr val="FFFFFF"/>
                          </a:solidFill>
                          <a:latin typeface="Arial"/>
                        </a:rPr>
                        <a:t>Measurement</a:t>
                      </a:r>
                    </a:p>
                  </a:txBody>
                  <a:tcPr anchor="ctr" marL="91440" marR="91440" marT="22860" marB="22860">
                    <a:solidFill>
                      <a:srgbClr val="173FAC"/>
                    </a:solidFill>
                  </a:tcPr>
                </a:tc>
                <a:tc>
                  <a:txBody>
                    <a:bodyPr/>
                    <a:lstStyle/>
                    <a:p>
                      <a:pPr>
                        <a:lnSpc>
                          <a:spcPct val="105000"/>
                        </a:lnSpc>
                        <a:spcBef>
                          <a:spcPts val="0"/>
                        </a:spcBef>
                        <a:spcAft>
                          <a:spcPts val="0"/>
                        </a:spcAft>
                      </a:pPr>
                      <a:r>
                        <a:rPr sz="1900" b="1">
                          <a:solidFill>
                            <a:srgbClr val="FFFFFF"/>
                          </a:solidFill>
                          <a:latin typeface="Arial"/>
                        </a:rPr>
                        <a:t>Recorded value</a:t>
                      </a:r>
                    </a:p>
                  </a:txBody>
                  <a:tcPr anchor="ctr" marL="91440" marR="91440" marT="22860" marB="22860">
                    <a:solidFill>
                      <a:srgbClr val="173FAC"/>
                    </a:solidFill>
                  </a:tcPr>
                </a:tc>
              </a:tr>
              <a:tr h="429768">
                <a:tc>
                  <a:txBody>
                    <a:bodyPr/>
                    <a:lstStyle/>
                    <a:p>
                      <a:pPr>
                        <a:lnSpc>
                          <a:spcPct val="105000"/>
                        </a:lnSpc>
                        <a:spcBef>
                          <a:spcPts val="0"/>
                        </a:spcBef>
                        <a:spcAft>
                          <a:spcPts val="0"/>
                        </a:spcAft>
                      </a:pPr>
                      <a:r>
                        <a:rPr sz="1900" b="0">
                          <a:solidFill>
                            <a:srgbClr val="14233B"/>
                          </a:solidFill>
                          <a:latin typeface="Arial"/>
                        </a:rPr>
                        <a:t>Image / GUI trial</a:t>
                      </a:r>
                    </a:p>
                  </a:txBody>
                  <a:tcPr anchor="ctr" marL="91440" marR="91440" marT="22860" marB="22860">
                    <a:solidFill>
                      <a:srgbClr val="F1F5FC"/>
                    </a:solidFill>
                  </a:tcPr>
                </a:tc>
                <a:tc>
                  <a:txBody>
                    <a:bodyPr/>
                    <a:lstStyle/>
                    <a:p>
                      <a:pPr>
                        <a:lnSpc>
                          <a:spcPct val="105000"/>
                        </a:lnSpc>
                        <a:spcBef>
                          <a:spcPts val="0"/>
                        </a:spcBef>
                        <a:spcAft>
                          <a:spcPts val="0"/>
                        </a:spcAft>
                      </a:pPr>
                      <a:r>
                        <a:rPr sz="1900" b="0">
                          <a:solidFill>
                            <a:srgbClr val="14233B"/>
                          </a:solidFill>
                          <a:latin typeface="Arial"/>
                        </a:rPr>
                        <a:t>1 / 1</a:t>
                      </a:r>
                    </a:p>
                  </a:txBody>
                  <a:tcPr anchor="ctr" marL="91440" marR="91440" marT="22860" marB="22860">
                    <a:solidFill>
                      <a:srgbClr val="F1F5FC"/>
                    </a:solidFill>
                  </a:tcPr>
                </a:tc>
              </a:tr>
              <a:tr h="429768">
                <a:tc>
                  <a:txBody>
                    <a:bodyPr/>
                    <a:lstStyle/>
                    <a:p>
                      <a:pPr>
                        <a:lnSpc>
                          <a:spcPct val="105000"/>
                        </a:lnSpc>
                        <a:spcBef>
                          <a:spcPts val="0"/>
                        </a:spcBef>
                        <a:spcAft>
                          <a:spcPts val="0"/>
                        </a:spcAft>
                      </a:pPr>
                      <a:r>
                        <a:rPr sz="1900" b="0">
                          <a:solidFill>
                            <a:srgbClr val="14233B"/>
                          </a:solidFill>
                          <a:latin typeface="Arial"/>
                        </a:rPr>
                        <a:t>Stored / reference lines</a:t>
                      </a:r>
                    </a:p>
                  </a:txBody>
                  <a:tcPr anchor="ctr" marL="91440" marR="91440" marT="22860" marB="22860">
                    <a:solidFill>
                      <a:srgbClr val="FFFFFF"/>
                    </a:solidFill>
                  </a:tcPr>
                </a:tc>
                <a:tc>
                  <a:txBody>
                    <a:bodyPr/>
                    <a:lstStyle/>
                    <a:p>
                      <a:pPr>
                        <a:lnSpc>
                          <a:spcPct val="105000"/>
                        </a:lnSpc>
                        <a:spcBef>
                          <a:spcPts val="0"/>
                        </a:spcBef>
                        <a:spcAft>
                          <a:spcPts val="0"/>
                        </a:spcAft>
                      </a:pPr>
                      <a:r>
                        <a:rPr sz="1900" b="0">
                          <a:solidFill>
                            <a:srgbClr val="14233B"/>
                          </a:solidFill>
                          <a:latin typeface="Arial"/>
                        </a:rPr>
                        <a:t>12 / 12</a:t>
                      </a:r>
                    </a:p>
                  </a:txBody>
                  <a:tcPr anchor="ctr" marL="91440" marR="91440" marT="22860" marB="22860">
                    <a:solidFill>
                      <a:srgbClr val="FFFFFF"/>
                    </a:solidFill>
                  </a:tcPr>
                </a:tc>
              </a:tr>
              <a:tr h="429768">
                <a:tc>
                  <a:txBody>
                    <a:bodyPr/>
                    <a:lstStyle/>
                    <a:p>
                      <a:pPr>
                        <a:lnSpc>
                          <a:spcPct val="105000"/>
                        </a:lnSpc>
                        <a:spcBef>
                          <a:spcPts val="0"/>
                        </a:spcBef>
                        <a:spcAft>
                          <a:spcPts val="0"/>
                        </a:spcAft>
                      </a:pPr>
                      <a:r>
                        <a:rPr sz="1900" b="0">
                          <a:solidFill>
                            <a:srgbClr val="14233B"/>
                          </a:solidFill>
                          <a:latin typeface="Arial"/>
                        </a:rPr>
                        <a:t>Paired line accuracy</a:t>
                      </a:r>
                    </a:p>
                  </a:txBody>
                  <a:tcPr anchor="ctr" marL="91440" marR="91440" marT="22860" marB="22860">
                    <a:solidFill>
                      <a:srgbClr val="F1F5FC"/>
                    </a:solidFill>
                  </a:tcPr>
                </a:tc>
                <a:tc>
                  <a:txBody>
                    <a:bodyPr/>
                    <a:lstStyle/>
                    <a:p>
                      <a:pPr>
                        <a:lnSpc>
                          <a:spcPct val="105000"/>
                        </a:lnSpc>
                        <a:spcBef>
                          <a:spcPts val="0"/>
                        </a:spcBef>
                        <a:spcAft>
                          <a:spcPts val="0"/>
                        </a:spcAft>
                      </a:pPr>
                      <a:r>
                        <a:rPr sz="1900" b="0">
                          <a:solidFill>
                            <a:srgbClr val="14233B"/>
                          </a:solidFill>
                          <a:latin typeface="Arial"/>
                        </a:rPr>
                        <a:t>OCR 50.00%; Groq 58.33%</a:t>
                      </a:r>
                    </a:p>
                  </a:txBody>
                  <a:tcPr anchor="ctr" marL="91440" marR="91440" marT="22860" marB="22860">
                    <a:solidFill>
                      <a:srgbClr val="F1F5FC"/>
                    </a:solidFill>
                  </a:tcPr>
                </a:tc>
              </a:tr>
              <a:tr h="429768">
                <a:tc>
                  <a:txBody>
                    <a:bodyPr/>
                    <a:lstStyle/>
                    <a:p>
                      <a:pPr>
                        <a:lnSpc>
                          <a:spcPct val="105000"/>
                        </a:lnSpc>
                        <a:spcBef>
                          <a:spcPts val="0"/>
                        </a:spcBef>
                        <a:spcAft>
                          <a:spcPts val="0"/>
                        </a:spcAft>
                      </a:pPr>
                      <a:r>
                        <a:rPr sz="1900" b="0">
                          <a:solidFill>
                            <a:srgbClr val="14233B"/>
                          </a:solidFill>
                          <a:latin typeface="Arial"/>
                        </a:rPr>
                        <a:t>Raw CER / WER</a:t>
                      </a:r>
                    </a:p>
                  </a:txBody>
                  <a:tcPr anchor="ctr" marL="91440" marR="91440" marT="22860" marB="22860">
                    <a:solidFill>
                      <a:srgbClr val="FFFFFF"/>
                    </a:solidFill>
                  </a:tcPr>
                </a:tc>
                <a:tc>
                  <a:txBody>
                    <a:bodyPr/>
                    <a:lstStyle/>
                    <a:p>
                      <a:pPr>
                        <a:lnSpc>
                          <a:spcPct val="105000"/>
                        </a:lnSpc>
                        <a:spcBef>
                          <a:spcPts val="0"/>
                        </a:spcBef>
                        <a:spcAft>
                          <a:spcPts val="0"/>
                        </a:spcAft>
                      </a:pPr>
                      <a:r>
                        <a:rPr sz="1900" b="0">
                          <a:solidFill>
                            <a:srgbClr val="14233B"/>
                          </a:solidFill>
                          <a:latin typeface="Arial"/>
                        </a:rPr>
                        <a:t>8/194 = 4.12%; 9/48 = 18.75%</a:t>
                      </a:r>
                    </a:p>
                  </a:txBody>
                  <a:tcPr anchor="ctr" marL="91440" marR="91440" marT="22860" marB="22860">
                    <a:solidFill>
                      <a:srgbClr val="FFFFFF"/>
                    </a:solidFill>
                  </a:tcPr>
                </a:tc>
              </a:tr>
              <a:tr h="429768">
                <a:tc>
                  <a:txBody>
                    <a:bodyPr/>
                    <a:lstStyle/>
                    <a:p>
                      <a:pPr>
                        <a:lnSpc>
                          <a:spcPct val="105000"/>
                        </a:lnSpc>
                        <a:spcBef>
                          <a:spcPts val="0"/>
                        </a:spcBef>
                        <a:spcAft>
                          <a:spcPts val="0"/>
                        </a:spcAft>
                      </a:pPr>
                      <a:r>
                        <a:rPr sz="1900" b="0">
                          <a:solidFill>
                            <a:srgbClr val="14233B"/>
                          </a:solidFill>
                          <a:latin typeface="Arial"/>
                        </a:rPr>
                        <a:t>Groq CER / WER</a:t>
                      </a:r>
                    </a:p>
                  </a:txBody>
                  <a:tcPr anchor="ctr" marL="91440" marR="91440" marT="22860" marB="22860">
                    <a:solidFill>
                      <a:srgbClr val="F1F5FC"/>
                    </a:solidFill>
                  </a:tcPr>
                </a:tc>
                <a:tc>
                  <a:txBody>
                    <a:bodyPr/>
                    <a:lstStyle/>
                    <a:p>
                      <a:pPr>
                        <a:lnSpc>
                          <a:spcPct val="105000"/>
                        </a:lnSpc>
                        <a:spcBef>
                          <a:spcPts val="0"/>
                        </a:spcBef>
                        <a:spcAft>
                          <a:spcPts val="0"/>
                        </a:spcAft>
                      </a:pPr>
                      <a:r>
                        <a:rPr sz="1900" b="0">
                          <a:solidFill>
                            <a:srgbClr val="14233B"/>
                          </a:solidFill>
                          <a:latin typeface="Arial"/>
                        </a:rPr>
                        <a:t>5/194 = 2.58%; 5/48 = 10.42%</a:t>
                      </a:r>
                    </a:p>
                  </a:txBody>
                  <a:tcPr anchor="ctr" marL="91440" marR="91440" marT="22860" marB="22860">
                    <a:solidFill>
                      <a:srgbClr val="F1F5FC"/>
                    </a:solidFill>
                  </a:tcPr>
                </a:tc>
              </a:tr>
              <a:tr h="429768">
                <a:tc>
                  <a:txBody>
                    <a:bodyPr/>
                    <a:lstStyle/>
                    <a:p>
                      <a:pPr>
                        <a:lnSpc>
                          <a:spcPct val="105000"/>
                        </a:lnSpc>
                        <a:spcBef>
                          <a:spcPts val="0"/>
                        </a:spcBef>
                        <a:spcAft>
                          <a:spcPts val="0"/>
                        </a:spcAft>
                      </a:pPr>
                      <a:r>
                        <a:rPr sz="1900" b="0">
                          <a:solidFill>
                            <a:srgbClr val="14233B"/>
                          </a:solidFill>
                          <a:latin typeface="Arial"/>
                        </a:rPr>
                        <a:t>OCR score mean / range</a:t>
                      </a:r>
                    </a:p>
                  </a:txBody>
                  <a:tcPr anchor="ctr" marL="91440" marR="91440" marT="22860" marB="22860">
                    <a:solidFill>
                      <a:srgbClr val="FFFFFF"/>
                    </a:solidFill>
                  </a:tcPr>
                </a:tc>
                <a:tc>
                  <a:txBody>
                    <a:bodyPr/>
                    <a:lstStyle/>
                    <a:p>
                      <a:pPr>
                        <a:lnSpc>
                          <a:spcPct val="105000"/>
                        </a:lnSpc>
                        <a:spcBef>
                          <a:spcPts val="0"/>
                        </a:spcBef>
                        <a:spcAft>
                          <a:spcPts val="0"/>
                        </a:spcAft>
                      </a:pPr>
                      <a:r>
                        <a:rPr sz="1900" b="0">
                          <a:solidFill>
                            <a:srgbClr val="14233B"/>
                          </a:solidFill>
                          <a:latin typeface="Arial"/>
                        </a:rPr>
                        <a:t>94.1808%; 83.31–97.55%</a:t>
                      </a:r>
                    </a:p>
                  </a:txBody>
                  <a:tcPr anchor="ctr" marL="91440" marR="91440" marT="22860" marB="22860">
                    <a:solidFill>
                      <a:srgbClr val="FFFFFF"/>
                    </a:solidFill>
                  </a:tcPr>
                </a:tc>
              </a:tr>
              <a:tr h="429768">
                <a:tc>
                  <a:txBody>
                    <a:bodyPr/>
                    <a:lstStyle/>
                    <a:p>
                      <a:pPr>
                        <a:lnSpc>
                          <a:spcPct val="105000"/>
                        </a:lnSpc>
                        <a:spcBef>
                          <a:spcPts val="0"/>
                        </a:spcBef>
                        <a:spcAft>
                          <a:spcPts val="0"/>
                        </a:spcAft>
                      </a:pPr>
                      <a:r>
                        <a:rPr sz="1900" b="0">
                          <a:solidFill>
                            <a:srgbClr val="14233B"/>
                          </a:solidFill>
                          <a:latin typeface="Arial"/>
                        </a:rPr>
                        <a:t>Real provider responses</a:t>
                      </a:r>
                    </a:p>
                  </a:txBody>
                  <a:tcPr anchor="ctr" marL="91440" marR="91440" marT="22860" marB="22860">
                    <a:solidFill>
                      <a:srgbClr val="F1F5FC"/>
                    </a:solidFill>
                  </a:tcPr>
                </a:tc>
                <a:tc>
                  <a:txBody>
                    <a:bodyPr/>
                    <a:lstStyle/>
                    <a:p>
                      <a:pPr>
                        <a:lnSpc>
                          <a:spcPct val="105000"/>
                        </a:lnSpc>
                        <a:spcBef>
                          <a:spcPts val="0"/>
                        </a:spcBef>
                        <a:spcAft>
                          <a:spcPts val="0"/>
                        </a:spcAft>
                      </a:pPr>
                      <a:r>
                        <a:rPr sz="1900" b="0">
                          <a:solidFill>
                            <a:srgbClr val="14233B"/>
                          </a:solidFill>
                          <a:latin typeface="Arial"/>
                        </a:rPr>
                        <a:t>Groq 12 SUCCESS; Gemini unavailable</a:t>
                      </a:r>
                    </a:p>
                  </a:txBody>
                  <a:tcPr anchor="ctr" marL="91440" marR="91440" marT="22860" marB="22860">
                    <a:solidFill>
                      <a:srgbClr val="F1F5FC"/>
                    </a:solidFill>
                  </a:tcPr>
                </a:tc>
              </a:tr>
            </a:tbl>
          </a:graphicData>
        </a:graphic>
      </p:graphicFrame>
      <p:sp xmlns:a="http://schemas.openxmlformats.org/drawingml/2006/main">
        <p:nvSpPr>
          <p:cNvPr id="5" name="TextBox 4"/>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Trial 400b509c-bded-44c0-add3-f3f74ee102c4. API outputs, image hashes and scoring rules supplied.</a:t>
            </a:r>
          </a:p>
        </p:txBody>
      </p:sp>
    </p:spTree>
    <p:extLst>
      <p:ext uri="{BB962C8B-B14F-4D97-AF65-F5344CB8AC3E}">
        <p14:creationId xmlns:p14="http://schemas.microsoft.com/office/powerpoint/2010/main" val="229508201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4. Readiness &amp; Next Steps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4.1. Delivered implementation and practical value</a:t>
            </a:r>
          </a:p>
        </p:txBody>
      </p:sp>
      <p:sp xmlns:a="http://schemas.openxmlformats.org/drawingml/2006/main">
        <p:nvSpPr>
          <p:cNvPr id="4" name="Rounded Rectangle 3"/>
          <p:cNvSpPr/>
          <p:nvPr/>
        </p:nvSpPr>
        <p:spPr>
          <a:xfrm>
            <a:off x="667512" y="2679192"/>
            <a:ext cx="2715768" cy="1746504"/>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81635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Integrated workflow</a:t>
            </a:r>
          </a:p>
        </p:txBody>
      </p:sp>
      <p:sp xmlns:a="http://schemas.openxmlformats.org/drawingml/2006/main">
        <p:nvSpPr>
          <p:cNvPr id="6" name="TextBox 5"/>
          <p:cNvSpPr txBox="1"/>
          <p:nvPr/>
        </p:nvSpPr>
        <p:spPr>
          <a:xfrm>
            <a:off x="822960" y="3182112"/>
            <a:ext cx="2404872" cy="1152143"/>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App, backend and OCR</a:t>
            </a:r>
          </a:p>
          <a:p>
            <a:pPr>
              <a:lnSpc>
                <a:spcPct val="100000"/>
              </a:lnSpc>
              <a:spcBef>
                <a:spcPts val="0"/>
              </a:spcBef>
              <a:spcAft>
                <a:spcPts val="0"/>
              </a:spcAft>
            </a:pPr>
            <a:r>
              <a:rPr sz="1800" b="0">
                <a:solidFill>
                  <a:srgbClr val="14233B"/>
                </a:solidFill>
                <a:latin typeface="Arial"/>
              </a:rPr>
              <a:t>Source image to saved history</a:t>
            </a:r>
          </a:p>
        </p:txBody>
      </p:sp>
      <p:sp xmlns:a="http://schemas.openxmlformats.org/drawingml/2006/main">
        <p:nvSpPr>
          <p:cNvPr id="7" name="Rounded Rectangle 6"/>
          <p:cNvSpPr/>
          <p:nvPr/>
        </p:nvSpPr>
        <p:spPr>
          <a:xfrm>
            <a:off x="3584448" y="2679192"/>
            <a:ext cx="2715768" cy="1746504"/>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3739896" y="281635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User review</a:t>
            </a:r>
          </a:p>
        </p:txBody>
      </p:sp>
      <p:sp xmlns:a="http://schemas.openxmlformats.org/drawingml/2006/main">
        <p:nvSpPr>
          <p:cNvPr id="9" name="TextBox 8"/>
          <p:cNvSpPr txBox="1"/>
          <p:nvPr/>
        </p:nvSpPr>
        <p:spPr>
          <a:xfrm>
            <a:off x="3739896" y="3182112"/>
            <a:ext cx="2404872" cy="1152143"/>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Editable line boxes</a:t>
            </a:r>
          </a:p>
          <a:p>
            <a:pPr>
              <a:lnSpc>
                <a:spcPct val="100000"/>
              </a:lnSpc>
              <a:spcBef>
                <a:spcPts val="0"/>
              </a:spcBef>
              <a:spcAft>
                <a:spcPts val="0"/>
              </a:spcAft>
            </a:pPr>
            <a:r>
              <a:rPr sz="1800" b="0">
                <a:solidFill>
                  <a:srgbClr val="14233B"/>
                </a:solidFill>
                <a:latin typeface="Arial"/>
              </a:rPr>
              <a:t>Visible source of selected text</a:t>
            </a:r>
          </a:p>
        </p:txBody>
      </p:sp>
      <p:sp xmlns:a="http://schemas.openxmlformats.org/drawingml/2006/main">
        <p:nvSpPr>
          <p:cNvPr id="10" name="Rounded Rectangle 9"/>
          <p:cNvSpPr/>
          <p:nvPr/>
        </p:nvSpPr>
        <p:spPr>
          <a:xfrm>
            <a:off x="6501384" y="2679192"/>
            <a:ext cx="2715768" cy="1746504"/>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656832" y="2816352"/>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Recorded evidence</a:t>
            </a:r>
          </a:p>
        </p:txBody>
      </p:sp>
      <p:sp xmlns:a="http://schemas.openxmlformats.org/drawingml/2006/main">
        <p:nvSpPr>
          <p:cNvPr id="12" name="TextBox 11"/>
          <p:cNvSpPr txBox="1"/>
          <p:nvPr/>
        </p:nvSpPr>
        <p:spPr>
          <a:xfrm>
            <a:off x="6656832" y="3182112"/>
            <a:ext cx="2404872" cy="1152143"/>
          </a:xfrm>
          <a:prstGeom prst="rect">
            <a:avLst/>
          </a:prstGeom>
          <a:noFill/>
        </p:spPr>
        <p:txBody>
          <a:bodyPr wrap="square" lIns="13716" rIns="13716" tIns="9144" bIns="9144" anchor="t">
            <a:spAutoFit/>
          </a:bodyPr>
          <a:lstStyle/>
          <a:p>
            <a:pPr>
              <a:lnSpc>
                <a:spcPct val="100000"/>
              </a:lnSpc>
              <a:spcBef>
                <a:spcPts val="0"/>
              </a:spcBef>
              <a:spcAft>
                <a:spcPts val="0"/>
              </a:spcAft>
            </a:pPr>
            <a:r>
              <a:rPr sz="1800" b="0">
                <a:solidFill>
                  <a:srgbClr val="14233B"/>
                </a:solidFill>
                <a:latin typeface="Arial"/>
              </a:rPr>
              <a:t>Images, outputs and references</a:t>
            </a:r>
          </a:p>
          <a:p>
            <a:pPr>
              <a:lnSpc>
                <a:spcPct val="100000"/>
              </a:lnSpc>
              <a:spcBef>
                <a:spcPts val="0"/>
              </a:spcBef>
              <a:spcAft>
                <a:spcPts val="0"/>
              </a:spcAft>
            </a:pPr>
            <a:r>
              <a:rPr sz="1800" b="0">
                <a:solidFill>
                  <a:srgbClr val="14233B"/>
                </a:solidFill>
                <a:latin typeface="Arial"/>
              </a:rPr>
              <a:t>Metrics with clear scope</a:t>
            </a:r>
          </a:p>
        </p:txBody>
      </p:sp>
      <p:sp xmlns:a="http://schemas.openxmlformats.org/drawingml/2006/main">
        <p:nvSpPr>
          <p:cNvPr id="13" name="TextBox 12"/>
          <p:cNvSpPr txBox="1"/>
          <p:nvPr/>
        </p:nvSpPr>
        <p:spPr>
          <a:xfrm>
            <a:off x="667512" y="4782312"/>
            <a:ext cx="8567928" cy="484632"/>
          </a:xfrm>
          <a:prstGeom prst="rect">
            <a:avLst/>
          </a:prstGeom>
          <a:noFill/>
        </p:spPr>
        <p:txBody>
          <a:bodyPr wrap="square" lIns="13716" rIns="13716" tIns="9144" bIns="9144" anchor="t">
            <a:spAutoFit/>
          </a:bodyPr>
          <a:lstStyle/>
          <a:p>
            <a:pPr>
              <a:lnSpc>
                <a:spcPct val="100000"/>
              </a:lnSpc>
              <a:spcBef>
                <a:spcPts val="0"/>
              </a:spcBef>
              <a:spcAft>
                <a:spcPts val="0"/>
              </a:spcAft>
            </a:pPr>
            <a:r>
              <a:rPr sz="2100" b="0">
                <a:solidFill>
                  <a:srgbClr val="14233B"/>
                </a:solidFill>
                <a:latin typeface="Arial"/>
              </a:rPr>
              <a:t>For users: digitize notebook pages and inspect the transcription.</a:t>
            </a:r>
          </a:p>
        </p:txBody>
      </p:sp>
      <p:sp xmlns:a="http://schemas.openxmlformats.org/drawingml/2006/main">
        <p:nvSpPr>
          <p:cNvPr id="14" name="TextBox 13"/>
          <p:cNvSpPr txBox="1"/>
          <p:nvPr/>
        </p:nvSpPr>
        <p:spPr>
          <a:xfrm>
            <a:off x="667512" y="5376672"/>
            <a:ext cx="8567928" cy="658368"/>
          </a:xfrm>
          <a:prstGeom prst="rect">
            <a:avLst/>
          </a:prstGeom>
          <a:noFill/>
        </p:spPr>
        <p:txBody>
          <a:bodyPr wrap="square" lIns="13716" rIns="13716" tIns="9144" bIns="9144" anchor="t">
            <a:spAutoFit/>
          </a:bodyPr>
          <a:lstStyle/>
          <a:p>
            <a:pPr>
              <a:lnSpc>
                <a:spcPct val="100000"/>
              </a:lnSpc>
              <a:spcBef>
                <a:spcPts val="0"/>
              </a:spcBef>
              <a:spcAft>
                <a:spcPts val="0"/>
              </a:spcAft>
            </a:pPr>
            <a:r>
              <a:rPr sz="2000" b="0">
                <a:solidFill>
                  <a:srgbClr val="14233B"/>
                </a:solidFill>
                <a:latin typeface="Arial"/>
              </a:rPr>
              <a:t>For Big Data: preserve records, trace sources and calculate reproducible metrics.</a:t>
            </a:r>
          </a:p>
        </p:txBody>
      </p:sp>
      <p:sp xmlns:a="http://schemas.openxmlformats.org/drawingml/2006/main">
        <p:nvSpPr>
          <p:cNvPr id="15" name="TextBox 14"/>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The project has not measured improvements in learning outcomes.</a:t>
            </a:r>
          </a:p>
        </p:txBody>
      </p:sp>
    </p:spTree>
    <p:extLst>
      <p:ext uri="{BB962C8B-B14F-4D97-AF65-F5344CB8AC3E}">
        <p14:creationId xmlns:p14="http://schemas.microsoft.com/office/powerpoint/2010/main" val="273413746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TextBox 1"/>
          <p:cNvSpPr txBox="1"/>
          <p:nvPr/>
        </p:nvSpPr>
        <p:spPr>
          <a:xfrm>
            <a:off x="448056" y="1170432"/>
            <a:ext cx="8887968" cy="466344"/>
          </a:xfrm>
          <a:prstGeom prst="rect">
            <a:avLst/>
          </a:prstGeom>
          <a:noFill/>
        </p:spPr>
        <p:txBody>
          <a:bodyPr wrap="square" lIns="13716" rIns="13716" tIns="9144" bIns="9144" anchor="t">
            <a:spAutoFit/>
          </a:bodyPr>
          <a:lstStyle/>
          <a:p>
            <a:pPr>
              <a:lnSpc>
                <a:spcPct val="100000"/>
              </a:lnSpc>
              <a:spcBef>
                <a:spcPts val="0"/>
              </a:spcBef>
              <a:spcAft>
                <a:spcPts val="0"/>
              </a:spcAft>
            </a:pPr>
            <a:r>
              <a:rPr sz="2700" b="0">
                <a:solidFill>
                  <a:srgbClr val="14233B"/>
                </a:solidFill>
                <a:latin typeface="Arial"/>
              </a:rPr>
              <a:t>4. Readiness &amp; Next Steps</a:t>
            </a:r>
          </a:p>
        </p:txBody>
      </p:sp>
      <p:sp xmlns:a="http://schemas.openxmlformats.org/drawingml/2006/main">
        <p:nvSpPr>
          <p:cNvPr id="3" name="TextBox 2"/>
          <p:cNvSpPr txBox="1"/>
          <p:nvPr/>
        </p:nvSpPr>
        <p:spPr>
          <a:xfrm>
            <a:off x="521207" y="1810512"/>
            <a:ext cx="8796528" cy="438912"/>
          </a:xfrm>
          <a:prstGeom prst="rect">
            <a:avLst/>
          </a:prstGeom>
          <a:noFill/>
        </p:spPr>
        <p:txBody>
          <a:bodyPr wrap="square" lIns="13716" rIns="13716" tIns="9144" bIns="9144" anchor="t">
            <a:spAutoFit/>
          </a:bodyPr>
          <a:lstStyle/>
          <a:p>
            <a:pPr>
              <a:lnSpc>
                <a:spcPct val="100000"/>
              </a:lnSpc>
              <a:spcBef>
                <a:spcPts val="0"/>
              </a:spcBef>
              <a:spcAft>
                <a:spcPts val="0"/>
              </a:spcAft>
            </a:pPr>
            <a:r>
              <a:rPr sz="2200" b="0">
                <a:solidFill>
                  <a:srgbClr val="2454EE"/>
                </a:solidFill>
                <a:latin typeface="Arial"/>
              </a:rPr>
              <a:t>4.2. The next evaluation expands beyond one handwriting image</a:t>
            </a:r>
          </a:p>
        </p:txBody>
      </p:sp>
      <p:sp xmlns:a="http://schemas.openxmlformats.org/drawingml/2006/main">
        <p:nvSpPr>
          <p:cNvPr id="4" name="Rounded Rectangle 3"/>
          <p:cNvSpPr/>
          <p:nvPr/>
        </p:nvSpPr>
        <p:spPr>
          <a:xfrm>
            <a:off x="667512" y="2660904"/>
            <a:ext cx="2715768" cy="1517904"/>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822960" y="2798064"/>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01  Real app evidence</a:t>
            </a:r>
          </a:p>
        </p:txBody>
      </p:sp>
      <p:sp xmlns:a="http://schemas.openxmlformats.org/drawingml/2006/main">
        <p:nvSpPr>
          <p:cNvPr id="6" name="TextBox 5"/>
          <p:cNvSpPr txBox="1"/>
          <p:nvPr/>
        </p:nvSpPr>
        <p:spPr>
          <a:xfrm>
            <a:off x="822960" y="3163824"/>
            <a:ext cx="2404872" cy="923543"/>
          </a:xfrm>
          <a:prstGeom prst="rect">
            <a:avLst/>
          </a:prstGeom>
          <a:noFill/>
        </p:spPr>
        <p:txBody>
          <a:bodyPr wrap="square" lIns="13716" rIns="13716" tIns="9144" bIns="9144" anchor="t">
            <a:spAutoFit/>
          </a:bodyPr>
          <a:lstStyle/>
          <a:p>
            <a:pPr>
              <a:lnSpc>
                <a:spcPct val="100000"/>
              </a:lnSpc>
              <a:spcBef>
                <a:spcPts val="0"/>
              </a:spcBef>
              <a:spcAft>
                <a:spcPts val="0"/>
              </a:spcAft>
            </a:pPr>
            <a:r>
              <a:rPr sz="1750" b="0">
                <a:solidFill>
                  <a:srgbClr val="14233B"/>
                </a:solidFill>
                <a:latin typeface="Arial"/>
              </a:rPr>
              <a:t>Provider responses</a:t>
            </a:r>
          </a:p>
          <a:p>
            <a:pPr>
              <a:lnSpc>
                <a:spcPct val="100000"/>
              </a:lnSpc>
              <a:spcBef>
                <a:spcPts val="0"/>
              </a:spcBef>
              <a:spcAft>
                <a:spcPts val="0"/>
              </a:spcAft>
            </a:pPr>
            <a:r>
              <a:rPr sz="1750" b="0">
                <a:solidFill>
                  <a:srgbClr val="14233B"/>
                </a:solidFill>
                <a:latin typeface="Arial"/>
              </a:rPr>
              <a:t>Saved session provenance</a:t>
            </a:r>
          </a:p>
        </p:txBody>
      </p:sp>
      <p:sp xmlns:a="http://schemas.openxmlformats.org/drawingml/2006/main">
        <p:nvSpPr>
          <p:cNvPr id="7" name="Rounded Rectangle 6"/>
          <p:cNvSpPr/>
          <p:nvPr/>
        </p:nvSpPr>
        <p:spPr>
          <a:xfrm>
            <a:off x="3584448" y="2660904"/>
            <a:ext cx="2715768" cy="1517904"/>
          </a:xfrm>
          <a:prstGeom prst="roundRect">
            <a:avLst>
              <a:gd name="adj" fmla="val 8000"/>
            </a:avLst>
          </a:prstGeom>
          <a:solidFill>
            <a:srgbClr val="F5F7FD"/>
          </a:solidFill>
          <a:ln w="11430">
            <a:solidFill>
              <a:srgbClr val="7750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3739896" y="2798064"/>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7750DD"/>
                </a:solidFill>
                <a:latin typeface="Arial"/>
              </a:rPr>
              <a:t>02  Independent set</a:t>
            </a:r>
          </a:p>
        </p:txBody>
      </p:sp>
      <p:sp xmlns:a="http://schemas.openxmlformats.org/drawingml/2006/main">
        <p:nvSpPr>
          <p:cNvPr id="9" name="TextBox 8"/>
          <p:cNvSpPr txBox="1"/>
          <p:nvPr/>
        </p:nvSpPr>
        <p:spPr>
          <a:xfrm>
            <a:off x="3739896" y="3163824"/>
            <a:ext cx="2404872" cy="923543"/>
          </a:xfrm>
          <a:prstGeom prst="rect">
            <a:avLst/>
          </a:prstGeom>
          <a:noFill/>
        </p:spPr>
        <p:txBody>
          <a:bodyPr wrap="square" lIns="13716" rIns="13716" tIns="9144" bIns="9144" anchor="t">
            <a:spAutoFit/>
          </a:bodyPr>
          <a:lstStyle/>
          <a:p>
            <a:pPr>
              <a:lnSpc>
                <a:spcPct val="100000"/>
              </a:lnSpc>
              <a:spcBef>
                <a:spcPts val="0"/>
              </a:spcBef>
              <a:spcAft>
                <a:spcPts val="0"/>
              </a:spcAft>
            </a:pPr>
            <a:r>
              <a:rPr sz="1750" b="0">
                <a:solidFill>
                  <a:srgbClr val="14233B"/>
                </a:solidFill>
                <a:latin typeface="Arial"/>
              </a:rPr>
              <a:t>New writers</a:t>
            </a:r>
          </a:p>
          <a:p>
            <a:pPr>
              <a:lnSpc>
                <a:spcPct val="100000"/>
              </a:lnSpc>
              <a:spcBef>
                <a:spcPts val="0"/>
              </a:spcBef>
              <a:spcAft>
                <a:spcPts val="0"/>
              </a:spcAft>
            </a:pPr>
            <a:r>
              <a:rPr sz="1750" b="0">
                <a:solidFill>
                  <a:srgbClr val="14233B"/>
                </a:solidFill>
                <a:latin typeface="Arial"/>
              </a:rPr>
              <a:t>Reviewed references</a:t>
            </a:r>
          </a:p>
        </p:txBody>
      </p:sp>
      <p:sp xmlns:a="http://schemas.openxmlformats.org/drawingml/2006/main">
        <p:nvSpPr>
          <p:cNvPr id="10" name="Rounded Rectangle 9"/>
          <p:cNvSpPr/>
          <p:nvPr/>
        </p:nvSpPr>
        <p:spPr>
          <a:xfrm>
            <a:off x="6501384" y="2660904"/>
            <a:ext cx="2715768" cy="1517904"/>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656832" y="2798064"/>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03 Paired scoring</a:t>
            </a:r>
          </a:p>
        </p:txBody>
      </p:sp>
      <p:sp xmlns:a="http://schemas.openxmlformats.org/drawingml/2006/main">
        <p:nvSpPr>
          <p:cNvPr id="12" name="TextBox 11"/>
          <p:cNvSpPr txBox="1"/>
          <p:nvPr/>
        </p:nvSpPr>
        <p:spPr>
          <a:xfrm>
            <a:off x="6656832" y="3163824"/>
            <a:ext cx="2404872" cy="923543"/>
          </a:xfrm>
          <a:prstGeom prst="rect">
            <a:avLst/>
          </a:prstGeom>
          <a:noFill/>
        </p:spPr>
        <p:txBody>
          <a:bodyPr wrap="square" lIns="13716" rIns="13716" tIns="9144" bIns="9144" anchor="t">
            <a:spAutoFit/>
          </a:bodyPr>
          <a:lstStyle/>
          <a:p>
            <a:pPr>
              <a:lnSpc>
                <a:spcPct val="100000"/>
              </a:lnSpc>
              <a:spcBef>
                <a:spcPts val="0"/>
              </a:spcBef>
              <a:spcAft>
                <a:spcPts val="0"/>
              </a:spcAft>
            </a:pPr>
            <a:r>
              <a:rPr sz="1750" b="0">
                <a:solidFill>
                  <a:srgbClr val="14233B"/>
                </a:solidFill>
                <a:latin typeface="Arial"/>
              </a:rPr>
              <a:t>Same OCR and AI references</a:t>
            </a:r>
          </a:p>
          <a:p>
            <a:pPr>
              <a:lnSpc>
                <a:spcPct val="100000"/>
              </a:lnSpc>
              <a:spcBef>
                <a:spcPts val="0"/>
              </a:spcBef>
              <a:spcAft>
                <a:spcPts val="0"/>
              </a:spcAft>
            </a:pPr>
            <a:r>
              <a:rPr sz="1750" b="0">
                <a:solidFill>
                  <a:srgbClr val="14233B"/>
                </a:solidFill>
                <a:latin typeface="Arial"/>
              </a:rPr>
              <a:t>Separate manual edits</a:t>
            </a:r>
          </a:p>
        </p:txBody>
      </p:sp>
      <p:sp xmlns:a="http://schemas.openxmlformats.org/drawingml/2006/main">
        <p:nvSpPr>
          <p:cNvPr id="13" name="Rounded Rectangle 12"/>
          <p:cNvSpPr/>
          <p:nvPr/>
        </p:nvSpPr>
        <p:spPr>
          <a:xfrm>
            <a:off x="2093976" y="4443984"/>
            <a:ext cx="2715768" cy="1517904"/>
          </a:xfrm>
          <a:prstGeom prst="roundRect">
            <a:avLst>
              <a:gd name="adj" fmla="val 8000"/>
            </a:avLst>
          </a:prstGeom>
          <a:solidFill>
            <a:srgbClr val="F5F7FD"/>
          </a:solidFill>
          <a:ln w="11430">
            <a:solidFill>
              <a:srgbClr val="245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2249424" y="4581144"/>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2454EE"/>
                </a:solidFill>
                <a:latin typeface="Arial"/>
              </a:rPr>
              <a:t>04 Confidence</a:t>
            </a:r>
          </a:p>
        </p:txBody>
      </p:sp>
      <p:sp xmlns:a="http://schemas.openxmlformats.org/drawingml/2006/main">
        <p:nvSpPr>
          <p:cNvPr id="15" name="TextBox 14"/>
          <p:cNvSpPr txBox="1"/>
          <p:nvPr/>
        </p:nvSpPr>
        <p:spPr>
          <a:xfrm>
            <a:off x="2249424" y="4946904"/>
            <a:ext cx="2404872" cy="923543"/>
          </a:xfrm>
          <a:prstGeom prst="rect">
            <a:avLst/>
          </a:prstGeom>
          <a:noFill/>
        </p:spPr>
        <p:txBody>
          <a:bodyPr wrap="square" lIns="13716" rIns="13716" tIns="9144" bIns="9144" anchor="t">
            <a:spAutoFit/>
          </a:bodyPr>
          <a:lstStyle/>
          <a:p>
            <a:pPr>
              <a:lnSpc>
                <a:spcPct val="100000"/>
              </a:lnSpc>
              <a:spcBef>
                <a:spcPts val="0"/>
              </a:spcBef>
              <a:spcAft>
                <a:spcPts val="0"/>
              </a:spcAft>
            </a:pPr>
            <a:r>
              <a:rPr sz="1750" b="0">
                <a:solidFill>
                  <a:srgbClr val="14233B"/>
                </a:solidFill>
                <a:latin typeface="Arial"/>
              </a:rPr>
              <a:t>Calibrated scores</a:t>
            </a:r>
          </a:p>
          <a:p>
            <a:pPr>
              <a:lnSpc>
                <a:spcPct val="100000"/>
              </a:lnSpc>
              <a:spcBef>
                <a:spcPts val="0"/>
              </a:spcBef>
              <a:spcAft>
                <a:spcPts val="0"/>
              </a:spcAft>
            </a:pPr>
            <a:r>
              <a:rPr sz="1750" b="0">
                <a:solidFill>
                  <a:srgbClr val="14233B"/>
                </a:solidFill>
                <a:latin typeface="Arial"/>
              </a:rPr>
              <a:t>Larger test sample</a:t>
            </a:r>
          </a:p>
        </p:txBody>
      </p:sp>
      <p:sp xmlns:a="http://schemas.openxmlformats.org/drawingml/2006/main">
        <p:nvSpPr>
          <p:cNvPr id="16" name="Rounded Rectangle 15"/>
          <p:cNvSpPr/>
          <p:nvPr/>
        </p:nvSpPr>
        <p:spPr>
          <a:xfrm>
            <a:off x="5193792" y="4443984"/>
            <a:ext cx="2715768" cy="1517904"/>
          </a:xfrm>
          <a:prstGeom prst="roundRect">
            <a:avLst>
              <a:gd name="adj" fmla="val 8000"/>
            </a:avLst>
          </a:prstGeom>
          <a:solidFill>
            <a:srgbClr val="F5F7FD"/>
          </a:solidFill>
          <a:ln w="11430">
            <a:solidFill>
              <a:srgbClr val="008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5349240" y="4581144"/>
            <a:ext cx="2404872" cy="329184"/>
          </a:xfrm>
          <a:prstGeom prst="rect">
            <a:avLst/>
          </a:prstGeom>
          <a:noFill/>
        </p:spPr>
        <p:txBody>
          <a:bodyPr wrap="square" lIns="13716" rIns="13716" tIns="9144" bIns="9144" anchor="t">
            <a:spAutoFit/>
          </a:bodyPr>
          <a:lstStyle/>
          <a:p>
            <a:pPr>
              <a:lnSpc>
                <a:spcPct val="100000"/>
              </a:lnSpc>
              <a:spcBef>
                <a:spcPts val="0"/>
              </a:spcBef>
              <a:spcAft>
                <a:spcPts val="0"/>
              </a:spcAft>
            </a:pPr>
            <a:r>
              <a:rPr sz="1700" b="1">
                <a:solidFill>
                  <a:srgbClr val="00846B"/>
                </a:solidFill>
                <a:latin typeface="Arial"/>
              </a:rPr>
              <a:t>05 Pilot readiness</a:t>
            </a:r>
          </a:p>
        </p:txBody>
      </p:sp>
      <p:sp xmlns:a="http://schemas.openxmlformats.org/drawingml/2006/main">
        <p:nvSpPr>
          <p:cNvPr id="18" name="TextBox 17"/>
          <p:cNvSpPr txBox="1"/>
          <p:nvPr/>
        </p:nvSpPr>
        <p:spPr>
          <a:xfrm>
            <a:off x="5349240" y="4946904"/>
            <a:ext cx="2404872" cy="923543"/>
          </a:xfrm>
          <a:prstGeom prst="rect">
            <a:avLst/>
          </a:prstGeom>
          <a:noFill/>
        </p:spPr>
        <p:txBody>
          <a:bodyPr wrap="square" lIns="13716" rIns="13716" tIns="9144" bIns="9144" anchor="t">
            <a:spAutoFit/>
          </a:bodyPr>
          <a:lstStyle/>
          <a:p>
            <a:pPr>
              <a:lnSpc>
                <a:spcPct val="100000"/>
              </a:lnSpc>
              <a:spcBef>
                <a:spcPts val="0"/>
              </a:spcBef>
              <a:spcAft>
                <a:spcPts val="0"/>
              </a:spcAft>
            </a:pPr>
            <a:r>
              <a:rPr sz="1750" b="0">
                <a:solidFill>
                  <a:srgbClr val="14233B"/>
                </a:solidFill>
                <a:latin typeface="Arial"/>
              </a:rPr>
              <a:t>Privacy and access control</a:t>
            </a:r>
          </a:p>
          <a:p>
            <a:pPr>
              <a:lnSpc>
                <a:spcPct val="100000"/>
              </a:lnSpc>
              <a:spcBef>
                <a:spcPts val="0"/>
              </a:spcBef>
              <a:spcAft>
                <a:spcPts val="0"/>
              </a:spcAft>
            </a:pPr>
            <a:r>
              <a:rPr sz="1750" b="0">
                <a:solidFill>
                  <a:srgbClr val="14233B"/>
                </a:solidFill>
                <a:latin typeface="Arial"/>
              </a:rPr>
              <a:t>Deployment checks</a:t>
            </a:r>
          </a:p>
        </p:txBody>
      </p:sp>
      <p:sp xmlns:a="http://schemas.openxmlformats.org/drawingml/2006/main">
        <p:nvSpPr>
          <p:cNvPr id="19" name="TextBox 18"/>
          <p:cNvSpPr txBox="1"/>
          <p:nvPr/>
        </p:nvSpPr>
        <p:spPr>
          <a:xfrm>
            <a:off x="658368" y="6181344"/>
            <a:ext cx="8613648" cy="283464"/>
          </a:xfrm>
          <a:prstGeom prst="rect">
            <a:avLst/>
          </a:prstGeom>
          <a:noFill/>
        </p:spPr>
        <p:txBody>
          <a:bodyPr wrap="square" lIns="13716" rIns="13716" tIns="9144" bIns="9144" anchor="t">
            <a:spAutoFit/>
          </a:bodyPr>
          <a:lstStyle/>
          <a:p>
            <a:pPr>
              <a:lnSpc>
                <a:spcPct val="100000"/>
              </a:lnSpc>
              <a:spcBef>
                <a:spcPts val="0"/>
              </a:spcBef>
              <a:spcAft>
                <a:spcPts val="0"/>
              </a:spcAft>
            </a:pPr>
            <a:r>
              <a:rPr sz="1250" b="0">
                <a:solidFill>
                  <a:srgbClr val="596579"/>
                </a:solidFill>
                <a:latin typeface="Arial"/>
              </a:rPr>
              <a:t>A single-image case study cannot establish general performance or calibrated probabilities.</a:t>
            </a:r>
          </a:p>
        </p:txBody>
      </p:sp>
    </p:spTree>
    <p:extLst>
      <p:ext uri="{BB962C8B-B14F-4D97-AF65-F5344CB8AC3E}">
        <p14:creationId xmlns:p14="http://schemas.microsoft.com/office/powerpoint/2010/main" val="204005690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7276284-84C9-4E81-9B1E-BF26B8749B5E}"/>
              </a:ext>
            </a:extLst>
          </p:cNvPr>
          <p:cNvSpPr>
            <a:spLocks xmlns:a="http://schemas.openxmlformats.org/drawingml/2006/main" noGrp="1"/>
          </p:cNvSpPr>
          <p:nvPr/>
        </p:nvSpPr>
        <p:spPr>
          <a:xfrm xmlns:a="http://schemas.openxmlformats.org/drawingml/2006/main">
            <a:off x="6334125" y="5143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350" b="1">
                <a:solidFill>
                  <a:srgbClr val="FFFFFF"/>
                </a:solidFill>
                <a:latin typeface="Samsung Sharp Sans"/>
                <a:ea typeface="Samsung Sharp Sans"/>
                <a:cs typeface="Samsung Sharp Sans"/>
              </a:defRPr>
            </a:pPr>
            <a:r>
              <a:rPr sz="1350" b="1">
                <a:solidFill>
                  <a:srgbClr val="FFFFFF"/>
                </a:solidFill>
                <a:latin typeface="Samsung Sharp Sans"/>
                <a:ea typeface="Samsung Sharp Sans"/>
                <a:cs typeface="Samsung Sharp Sans"/>
              </a:rPr>
              <a:t>HandAI · Capstone Defense</a:t>
            </a:r>
          </a:p>
        </p:txBody>
      </p:sp>
      <p:sp>
        <p:nvSpPr>
          <p:cNvPr id="2" name="">
            <a:extLst xmlns:a="http://schemas.openxmlformats.org/drawingml/2006/main">
              <a:ext uri="{FF2B5EF4-FFF2-40B4-BE49-F238E27FC236}">
                <a16:creationId xmlns:a16="http://schemas.microsoft.com/office/drawing/2014/main" id="{7FA65D2D-9AC0-4029-BE08-706110778C29}"/>
              </a:ext>
            </a:extLst>
          </p:cNvPr>
          <p:cNvSpPr>
            <a:spLocks xmlns:a="http://schemas.openxmlformats.org/drawingml/2006/main" noGrp="1"/>
          </p:cNvSpPr>
          <p:nvPr/>
        </p:nvSpPr>
        <p:spPr>
          <a:xfrm xmlns:a="http://schemas.openxmlformats.org/drawingml/2006/main">
            <a:off x="6334125" y="838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125">
                <a:solidFill>
                  <a:srgbClr val="FFFFFF"/>
                </a:solidFill>
                <a:latin typeface="SamsungOne 400"/>
                <a:ea typeface="SamsungOne 400"/>
                <a:cs typeface="SamsungOne 400"/>
              </a:defRPr>
            </a:pPr>
            <a:r>
              <a:rPr sz="1125">
                <a:solidFill>
                  <a:srgbClr val="FFFFFF"/>
                </a:solidFill>
                <a:latin typeface="SamsungOne 400"/>
                <a:ea typeface="SamsungOne 400"/>
                <a:cs typeface="SamsungOne 400"/>
              </a:rPr>
              <a:t>Questions &amp; Discussion</a:t>
            </a:r>
          </a:p>
        </p:txBody>
      </p:sp>
    </p:spTree>
    <p:extLst>
      <p:ext uri="{BB962C8B-B14F-4D97-AF65-F5344CB8AC3E}">
        <p14:creationId xmlns:p14="http://schemas.microsoft.com/office/powerpoint/2010/main" val="507295895"/>
      </p:ext>
    </p:extLst>
  </p:cSld>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2026-10-01T04:54:00.3260000Z</dcterms:created>
  <dcterms:modified xsi:type="dcterms:W3CDTF">2026-10-01T04:54:00.3260000Z</dcterms:modified>
  <dc:subject>Big Data Course capstone; 30-day plan; 20-slide defense</dc:subject>
</coreProperties>
</file>